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31"/>
  </p:notesMasterIdLst>
  <p:handoutMasterIdLst>
    <p:handoutMasterId r:id="rId32"/>
  </p:handoutMasterIdLst>
  <p:sldIdLst>
    <p:sldId id="266" r:id="rId3"/>
    <p:sldId id="308" r:id="rId4"/>
    <p:sldId id="259" r:id="rId5"/>
    <p:sldId id="305" r:id="rId6"/>
    <p:sldId id="325" r:id="rId7"/>
    <p:sldId id="326" r:id="rId8"/>
    <p:sldId id="327" r:id="rId9"/>
    <p:sldId id="307" r:id="rId10"/>
    <p:sldId id="262" r:id="rId11"/>
    <p:sldId id="306" r:id="rId12"/>
    <p:sldId id="298" r:id="rId13"/>
    <p:sldId id="319" r:id="rId14"/>
    <p:sldId id="299" r:id="rId15"/>
    <p:sldId id="316" r:id="rId16"/>
    <p:sldId id="302" r:id="rId17"/>
    <p:sldId id="320" r:id="rId18"/>
    <p:sldId id="304" r:id="rId19"/>
    <p:sldId id="269" r:id="rId20"/>
    <p:sldId id="277" r:id="rId21"/>
    <p:sldId id="321" r:id="rId22"/>
    <p:sldId id="323" r:id="rId23"/>
    <p:sldId id="324" r:id="rId24"/>
    <p:sldId id="271" r:id="rId25"/>
    <p:sldId id="322" r:id="rId26"/>
    <p:sldId id="286" r:id="rId27"/>
    <p:sldId id="279" r:id="rId28"/>
    <p:sldId id="270" r:id="rId29"/>
    <p:sldId id="328" r:id="rId3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HITH 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133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BA927C-BDFF-B9BD-CEA6-81841675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8A23EDE-CE3B-2C2E-E4E8-7CA7CB962E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7B9B9F5-DD3D-4DFB-9C39-75E92BE3DE1A}" type="datetimeFigureOut">
              <a:rPr lang="en-IN" smtClean="0"/>
              <a:t>29-09-2025</a:t>
            </a:fld>
            <a:endParaRPr lang="en-IN"/>
          </a:p>
        </p:txBody>
      </p:sp>
      <p:sp>
        <p:nvSpPr>
          <p:cNvPr id="4" name="Footer Placeholder 3">
            <a:extLst>
              <a:ext uri="{FF2B5EF4-FFF2-40B4-BE49-F238E27FC236}">
                <a16:creationId xmlns:a16="http://schemas.microsoft.com/office/drawing/2014/main" id="{48C37E6D-8AA3-78D9-A928-A2A7BDBD18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DC43893-92DA-196D-9F38-5AA509917E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A9D96A-A6F6-4A7A-BDC9-4B71E96DAAA4}" type="slidenum">
              <a:rPr lang="en-IN" smtClean="0"/>
              <a:t>‹#›</a:t>
            </a:fld>
            <a:endParaRPr lang="en-IN"/>
          </a:p>
        </p:txBody>
      </p:sp>
    </p:spTree>
    <p:extLst>
      <p:ext uri="{BB962C8B-B14F-4D97-AF65-F5344CB8AC3E}">
        <p14:creationId xmlns:p14="http://schemas.microsoft.com/office/powerpoint/2010/main" val="3517087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83799F-A401-B333-1070-5F9E25CEC5A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A3BC2F2B-9EF3-10AC-AE85-2E1CB983067D}"/>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60910EAA-5B83-4621-AD32-149DC4D0C038}" type="datetimeFigureOut">
              <a:rPr lang="en-IN"/>
              <a:pPr>
                <a:defRPr/>
              </a:pPr>
              <a:t>29-09-2025</a:t>
            </a:fld>
            <a:endParaRPr lang="en-IN"/>
          </a:p>
        </p:txBody>
      </p:sp>
      <p:sp>
        <p:nvSpPr>
          <p:cNvPr id="4" name="Slide Image Placeholder 3">
            <a:extLst>
              <a:ext uri="{FF2B5EF4-FFF2-40B4-BE49-F238E27FC236}">
                <a16:creationId xmlns:a16="http://schemas.microsoft.com/office/drawing/2014/main" id="{5551F96C-82A4-1158-312A-BA69611F84F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E858FBB2-022E-B71A-2860-26D4207CD74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7CE761C3-2B3A-A7D5-9ACE-00FAFE9B5F4A}"/>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40706DE5-16C0-DF26-CF72-201C5251BB4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43DB527-DD14-4A7D-94AB-95EBCF6B24A2}"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A09BB80E-1DE1-FB7B-2FE5-86580397E9A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CFA2750B-300D-4930-55ED-69FA6C8A580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13316" name="Slide Number Placeholder 3">
            <a:extLst>
              <a:ext uri="{FF2B5EF4-FFF2-40B4-BE49-F238E27FC236}">
                <a16:creationId xmlns:a16="http://schemas.microsoft.com/office/drawing/2014/main" id="{25C6A18A-8387-2040-FBE4-9C897D75A36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DD71D063-62B4-4A81-8923-042648753A65}" type="slidenum">
              <a:rPr lang="en-IN" altLang="en-US" smtClean="0"/>
              <a:pPr/>
              <a:t>8</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CF99CBF0-5E8C-51F2-CD95-04A51F75367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27999334-ACD6-71EA-D4BB-B5C3BB36851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27652" name="Slide Number Placeholder 3">
            <a:extLst>
              <a:ext uri="{FF2B5EF4-FFF2-40B4-BE49-F238E27FC236}">
                <a16:creationId xmlns:a16="http://schemas.microsoft.com/office/drawing/2014/main" id="{63EC9975-8937-B4A1-8295-BE34605AA0B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4F2467D0-355F-4088-8214-EAF11D02DD99}" type="slidenum">
              <a:rPr lang="en-IN" altLang="en-US" smtClean="0"/>
              <a:pPr/>
              <a:t>17</a:t>
            </a:fld>
            <a:endParaRPr lang="en-I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DD41D2A2-FB34-F9B8-B815-773BE11B45F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0385069F-28A5-60E5-7ED3-A6EDC3880AB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92215D38-ED85-3D5E-D8FB-D55E37DAF0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19</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DCF60E-8F5E-44E4-2205-EA8D1FDB12F8}"/>
              </a:ext>
            </a:extLst>
          </p:cNvPr>
          <p:cNvSpPr>
            <a:spLocks noGrp="1"/>
          </p:cNvSpPr>
          <p:nvPr>
            <p:ph type="dt" sz="half" idx="10"/>
          </p:nvPr>
        </p:nvSpPr>
        <p:spPr/>
        <p:txBody>
          <a:bodyPr/>
          <a:lstStyle>
            <a:lvl1pPr>
              <a:defRPr/>
            </a:lvl1pPr>
          </a:lstStyle>
          <a:p>
            <a:pPr>
              <a:defRPr/>
            </a:pPr>
            <a:fld id="{7E9B6DED-6EB9-44CF-892A-1AEF74D9E04D}" type="datetime1">
              <a:rPr lang="en-IN" smtClean="0"/>
              <a:t>29-09-2025</a:t>
            </a:fld>
            <a:endParaRPr lang="en-IN"/>
          </a:p>
        </p:txBody>
      </p:sp>
      <p:sp>
        <p:nvSpPr>
          <p:cNvPr id="5" name="Footer Placeholder 4">
            <a:extLst>
              <a:ext uri="{FF2B5EF4-FFF2-40B4-BE49-F238E27FC236}">
                <a16:creationId xmlns:a16="http://schemas.microsoft.com/office/drawing/2014/main" id="{22A3D03A-8E56-3140-4F8C-ACC2142DA33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9FE78EA5-ED4C-0A29-9B26-0F2F8913F39F}"/>
              </a:ext>
            </a:extLst>
          </p:cNvPr>
          <p:cNvSpPr>
            <a:spLocks noGrp="1"/>
          </p:cNvSpPr>
          <p:nvPr>
            <p:ph type="sldNum" sz="quarter" idx="12"/>
          </p:nvPr>
        </p:nvSpPr>
        <p:spPr/>
        <p:txBody>
          <a:bodyPr/>
          <a:lstStyle>
            <a:lvl1pPr>
              <a:defRPr/>
            </a:lvl1pPr>
          </a:lstStyle>
          <a:p>
            <a:pPr>
              <a:defRPr/>
            </a:pPr>
            <a:fld id="{DAAFF3B2-35D6-4F7B-9121-E1ECD31A57ED}" type="slidenum">
              <a:rPr lang="en-IN" altLang="en-US"/>
              <a:pPr>
                <a:defRPr/>
              </a:pPr>
              <a:t>‹#›</a:t>
            </a:fld>
            <a:endParaRPr lang="en-IN" altLang="en-US"/>
          </a:p>
        </p:txBody>
      </p:sp>
    </p:spTree>
    <p:extLst>
      <p:ext uri="{BB962C8B-B14F-4D97-AF65-F5344CB8AC3E}">
        <p14:creationId xmlns:p14="http://schemas.microsoft.com/office/powerpoint/2010/main" val="3519451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904C6-0CF5-0ED0-680F-77CEA647AF30}"/>
              </a:ext>
            </a:extLst>
          </p:cNvPr>
          <p:cNvSpPr>
            <a:spLocks noGrp="1"/>
          </p:cNvSpPr>
          <p:nvPr>
            <p:ph type="dt" sz="half" idx="10"/>
          </p:nvPr>
        </p:nvSpPr>
        <p:spPr/>
        <p:txBody>
          <a:bodyPr/>
          <a:lstStyle>
            <a:lvl1pPr>
              <a:defRPr/>
            </a:lvl1pPr>
          </a:lstStyle>
          <a:p>
            <a:pPr>
              <a:defRPr/>
            </a:pPr>
            <a:fld id="{498A9BB0-C73C-4D35-B8EA-A4230A8880F6}" type="datetime1">
              <a:rPr lang="en-IN" smtClean="0"/>
              <a:t>29-09-2025</a:t>
            </a:fld>
            <a:endParaRPr lang="en-IN"/>
          </a:p>
        </p:txBody>
      </p:sp>
      <p:sp>
        <p:nvSpPr>
          <p:cNvPr id="5" name="Footer Placeholder 4">
            <a:extLst>
              <a:ext uri="{FF2B5EF4-FFF2-40B4-BE49-F238E27FC236}">
                <a16:creationId xmlns:a16="http://schemas.microsoft.com/office/drawing/2014/main" id="{F8DF0BEB-534F-7B86-095B-6F4FA6B36B5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7AC30398-6E7A-FC15-2C5C-16840F6B483C}"/>
              </a:ext>
            </a:extLst>
          </p:cNvPr>
          <p:cNvSpPr>
            <a:spLocks noGrp="1"/>
          </p:cNvSpPr>
          <p:nvPr>
            <p:ph type="sldNum" sz="quarter" idx="12"/>
          </p:nvPr>
        </p:nvSpPr>
        <p:spPr/>
        <p:txBody>
          <a:bodyPr/>
          <a:lstStyle>
            <a:lvl1pPr>
              <a:defRPr/>
            </a:lvl1pPr>
          </a:lstStyle>
          <a:p>
            <a:pPr>
              <a:defRPr/>
            </a:pPr>
            <a:fld id="{15E9D1B8-7EF6-4D9C-8694-90B5BDA32D3D}" type="slidenum">
              <a:rPr lang="en-IN" altLang="en-US"/>
              <a:pPr>
                <a:defRPr/>
              </a:pPr>
              <a:t>‹#›</a:t>
            </a:fld>
            <a:endParaRPr lang="en-IN" altLang="en-US"/>
          </a:p>
        </p:txBody>
      </p:sp>
    </p:spTree>
    <p:extLst>
      <p:ext uri="{BB962C8B-B14F-4D97-AF65-F5344CB8AC3E}">
        <p14:creationId xmlns:p14="http://schemas.microsoft.com/office/powerpoint/2010/main" val="3963775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976D95-8BE1-BA12-3BCC-D974BFD22A9B}"/>
              </a:ext>
            </a:extLst>
          </p:cNvPr>
          <p:cNvSpPr>
            <a:spLocks noGrp="1"/>
          </p:cNvSpPr>
          <p:nvPr>
            <p:ph type="dt" sz="half" idx="10"/>
          </p:nvPr>
        </p:nvSpPr>
        <p:spPr/>
        <p:txBody>
          <a:bodyPr/>
          <a:lstStyle>
            <a:lvl1pPr>
              <a:defRPr/>
            </a:lvl1pPr>
          </a:lstStyle>
          <a:p>
            <a:pPr>
              <a:defRPr/>
            </a:pPr>
            <a:fld id="{FD660EF4-B9F7-482D-B86F-8B24B7197704}" type="datetime1">
              <a:rPr lang="en-IN" smtClean="0"/>
              <a:t>29-09-2025</a:t>
            </a:fld>
            <a:endParaRPr lang="en-IN"/>
          </a:p>
        </p:txBody>
      </p:sp>
      <p:sp>
        <p:nvSpPr>
          <p:cNvPr id="5" name="Footer Placeholder 4">
            <a:extLst>
              <a:ext uri="{FF2B5EF4-FFF2-40B4-BE49-F238E27FC236}">
                <a16:creationId xmlns:a16="http://schemas.microsoft.com/office/drawing/2014/main" id="{7C07D40C-FE18-0F0C-B29E-713A193CA83B}"/>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3B34E0D-2A92-A844-594A-8C9E0F7A7A0B}"/>
              </a:ext>
            </a:extLst>
          </p:cNvPr>
          <p:cNvSpPr>
            <a:spLocks noGrp="1"/>
          </p:cNvSpPr>
          <p:nvPr>
            <p:ph type="sldNum" sz="quarter" idx="12"/>
          </p:nvPr>
        </p:nvSpPr>
        <p:spPr/>
        <p:txBody>
          <a:bodyPr/>
          <a:lstStyle>
            <a:lvl1pPr>
              <a:defRPr/>
            </a:lvl1pPr>
          </a:lstStyle>
          <a:p>
            <a:pPr>
              <a:defRPr/>
            </a:pPr>
            <a:fld id="{8CC67B40-727F-4A1D-BC65-C058702BCA51}" type="slidenum">
              <a:rPr lang="en-IN" altLang="en-US"/>
              <a:pPr>
                <a:defRPr/>
              </a:pPr>
              <a:t>‹#›</a:t>
            </a:fld>
            <a:endParaRPr lang="en-IN" altLang="en-US"/>
          </a:p>
        </p:txBody>
      </p:sp>
    </p:spTree>
    <p:extLst>
      <p:ext uri="{BB962C8B-B14F-4D97-AF65-F5344CB8AC3E}">
        <p14:creationId xmlns:p14="http://schemas.microsoft.com/office/powerpoint/2010/main" val="1147968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31DE5E9B-F85C-D74E-44E0-8BF2B70FE93F}"/>
              </a:ext>
            </a:extLst>
          </p:cNvPr>
          <p:cNvSpPr>
            <a:spLocks noGrp="1"/>
          </p:cNvSpPr>
          <p:nvPr>
            <p:ph type="dt" sz="half" idx="10"/>
          </p:nvPr>
        </p:nvSpPr>
        <p:spPr/>
        <p:txBody>
          <a:bodyPr/>
          <a:lstStyle>
            <a:lvl1pPr>
              <a:defRPr/>
            </a:lvl1pPr>
          </a:lstStyle>
          <a:p>
            <a:pPr>
              <a:defRPr/>
            </a:pPr>
            <a:fld id="{9801DBD8-69B6-4C3B-9193-08FE9344ADBD}" type="datetime1">
              <a:rPr lang="en-IN" smtClean="0"/>
              <a:t>29-09-2025</a:t>
            </a:fld>
            <a:endParaRPr lang="en-IN"/>
          </a:p>
        </p:txBody>
      </p:sp>
      <p:sp>
        <p:nvSpPr>
          <p:cNvPr id="6" name="Footer Placeholder 4">
            <a:extLst>
              <a:ext uri="{FF2B5EF4-FFF2-40B4-BE49-F238E27FC236}">
                <a16:creationId xmlns:a16="http://schemas.microsoft.com/office/drawing/2014/main" id="{B8D91421-A2E9-C8D8-8696-D738A3EDB450}"/>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101C35A8-93AE-3214-A246-B50942C938C9}"/>
              </a:ext>
            </a:extLst>
          </p:cNvPr>
          <p:cNvSpPr>
            <a:spLocks noGrp="1"/>
          </p:cNvSpPr>
          <p:nvPr>
            <p:ph type="sldNum" sz="quarter" idx="12"/>
          </p:nvPr>
        </p:nvSpPr>
        <p:spPr/>
        <p:txBody>
          <a:bodyPr/>
          <a:lstStyle>
            <a:lvl1pPr>
              <a:defRPr/>
            </a:lvl1pPr>
          </a:lstStyle>
          <a:p>
            <a:pPr>
              <a:defRPr/>
            </a:pPr>
            <a:fld id="{1B496277-7E32-4CEE-8608-87B7D0BA1F82}" type="slidenum">
              <a:rPr lang="en-IN" altLang="en-US"/>
              <a:pPr>
                <a:defRPr/>
              </a:pPr>
              <a:t>‹#›</a:t>
            </a:fld>
            <a:endParaRPr lang="en-IN" altLang="en-US"/>
          </a:p>
        </p:txBody>
      </p:sp>
    </p:spTree>
    <p:extLst>
      <p:ext uri="{BB962C8B-B14F-4D97-AF65-F5344CB8AC3E}">
        <p14:creationId xmlns:p14="http://schemas.microsoft.com/office/powerpoint/2010/main" val="4241435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FA63A0CE-54C2-69F4-924F-1C8487ACB811}"/>
              </a:ext>
            </a:extLst>
          </p:cNvPr>
          <p:cNvSpPr>
            <a:spLocks noGrp="1"/>
          </p:cNvSpPr>
          <p:nvPr>
            <p:ph type="dt" sz="half" idx="10"/>
          </p:nvPr>
        </p:nvSpPr>
        <p:spPr/>
        <p:txBody>
          <a:bodyPr/>
          <a:lstStyle>
            <a:lvl1pPr>
              <a:defRPr/>
            </a:lvl1pPr>
          </a:lstStyle>
          <a:p>
            <a:pPr>
              <a:defRPr/>
            </a:pPr>
            <a:fld id="{4E322914-C49C-43B3-81BF-03A22F932AD4}" type="datetime1">
              <a:rPr lang="en-IN" smtClean="0"/>
              <a:t>29-09-2025</a:t>
            </a:fld>
            <a:endParaRPr lang="en-IN"/>
          </a:p>
        </p:txBody>
      </p:sp>
      <p:sp>
        <p:nvSpPr>
          <p:cNvPr id="8" name="Footer Placeholder 4">
            <a:extLst>
              <a:ext uri="{FF2B5EF4-FFF2-40B4-BE49-F238E27FC236}">
                <a16:creationId xmlns:a16="http://schemas.microsoft.com/office/drawing/2014/main" id="{3BA322DF-F7DE-2314-B76A-D892B9841C92}"/>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9963F7B7-936F-8D66-F23A-D03731261018}"/>
              </a:ext>
            </a:extLst>
          </p:cNvPr>
          <p:cNvSpPr>
            <a:spLocks noGrp="1"/>
          </p:cNvSpPr>
          <p:nvPr>
            <p:ph type="sldNum" sz="quarter" idx="12"/>
          </p:nvPr>
        </p:nvSpPr>
        <p:spPr/>
        <p:txBody>
          <a:bodyPr/>
          <a:lstStyle>
            <a:lvl1pPr>
              <a:defRPr/>
            </a:lvl1pPr>
          </a:lstStyle>
          <a:p>
            <a:pPr>
              <a:defRPr/>
            </a:pPr>
            <a:fld id="{C31932FB-3588-47A1-857B-918475371748}" type="slidenum">
              <a:rPr lang="en-IN" altLang="en-US"/>
              <a:pPr>
                <a:defRPr/>
              </a:pPr>
              <a:t>‹#›</a:t>
            </a:fld>
            <a:endParaRPr lang="en-IN" altLang="en-US"/>
          </a:p>
        </p:txBody>
      </p:sp>
    </p:spTree>
    <p:extLst>
      <p:ext uri="{BB962C8B-B14F-4D97-AF65-F5344CB8AC3E}">
        <p14:creationId xmlns:p14="http://schemas.microsoft.com/office/powerpoint/2010/main" val="2310050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C0F2A36F-A772-0804-ADF2-B4400E00C43C}"/>
              </a:ext>
            </a:extLst>
          </p:cNvPr>
          <p:cNvSpPr>
            <a:spLocks noGrp="1"/>
          </p:cNvSpPr>
          <p:nvPr>
            <p:ph type="dt" sz="half" idx="10"/>
          </p:nvPr>
        </p:nvSpPr>
        <p:spPr/>
        <p:txBody>
          <a:bodyPr/>
          <a:lstStyle>
            <a:lvl1pPr>
              <a:defRPr/>
            </a:lvl1pPr>
          </a:lstStyle>
          <a:p>
            <a:pPr>
              <a:defRPr/>
            </a:pPr>
            <a:fld id="{734F9E3F-D43D-4D36-83BB-BE962A92E0FF}" type="datetime1">
              <a:rPr lang="en-IN" smtClean="0"/>
              <a:t>29-09-2025</a:t>
            </a:fld>
            <a:endParaRPr lang="en-IN"/>
          </a:p>
        </p:txBody>
      </p:sp>
      <p:sp>
        <p:nvSpPr>
          <p:cNvPr id="4" name="Footer Placeholder 4">
            <a:extLst>
              <a:ext uri="{FF2B5EF4-FFF2-40B4-BE49-F238E27FC236}">
                <a16:creationId xmlns:a16="http://schemas.microsoft.com/office/drawing/2014/main" id="{4BF52A03-0976-6B4A-3605-B0520823869E}"/>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09D9C039-14DC-F62E-DED8-FEE4E7CD02C3}"/>
              </a:ext>
            </a:extLst>
          </p:cNvPr>
          <p:cNvSpPr>
            <a:spLocks noGrp="1"/>
          </p:cNvSpPr>
          <p:nvPr>
            <p:ph type="sldNum" sz="quarter" idx="12"/>
          </p:nvPr>
        </p:nvSpPr>
        <p:spPr/>
        <p:txBody>
          <a:bodyPr/>
          <a:lstStyle>
            <a:lvl1pPr>
              <a:defRPr/>
            </a:lvl1pPr>
          </a:lstStyle>
          <a:p>
            <a:pPr>
              <a:defRPr/>
            </a:pPr>
            <a:fld id="{43CFB6DF-C63A-4F28-A1E7-6150A0635683}" type="slidenum">
              <a:rPr lang="en-IN" altLang="en-US"/>
              <a:pPr>
                <a:defRPr/>
              </a:pPr>
              <a:t>‹#›</a:t>
            </a:fld>
            <a:endParaRPr lang="en-IN" altLang="en-US"/>
          </a:p>
        </p:txBody>
      </p:sp>
    </p:spTree>
    <p:extLst>
      <p:ext uri="{BB962C8B-B14F-4D97-AF65-F5344CB8AC3E}">
        <p14:creationId xmlns:p14="http://schemas.microsoft.com/office/powerpoint/2010/main" val="166184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A859E17-FEB0-54D0-9591-0A25B70A0DF2}"/>
              </a:ext>
            </a:extLst>
          </p:cNvPr>
          <p:cNvSpPr>
            <a:spLocks noGrp="1"/>
          </p:cNvSpPr>
          <p:nvPr>
            <p:ph type="dt" sz="half" idx="10"/>
          </p:nvPr>
        </p:nvSpPr>
        <p:spPr/>
        <p:txBody>
          <a:bodyPr/>
          <a:lstStyle>
            <a:lvl1pPr>
              <a:defRPr/>
            </a:lvl1pPr>
          </a:lstStyle>
          <a:p>
            <a:pPr>
              <a:defRPr/>
            </a:pPr>
            <a:fld id="{02813334-F681-439C-B464-F438B1B95308}" type="datetime1">
              <a:rPr lang="en-IN" smtClean="0"/>
              <a:t>29-09-2025</a:t>
            </a:fld>
            <a:endParaRPr lang="en-IN"/>
          </a:p>
        </p:txBody>
      </p:sp>
      <p:sp>
        <p:nvSpPr>
          <p:cNvPr id="3" name="Footer Placeholder 4">
            <a:extLst>
              <a:ext uri="{FF2B5EF4-FFF2-40B4-BE49-F238E27FC236}">
                <a16:creationId xmlns:a16="http://schemas.microsoft.com/office/drawing/2014/main" id="{89D1B0DF-9188-671B-472D-EA7721C32AA8}"/>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13D87C27-EB2F-42EA-A4AA-0E067CCC81DE}"/>
              </a:ext>
            </a:extLst>
          </p:cNvPr>
          <p:cNvSpPr>
            <a:spLocks noGrp="1"/>
          </p:cNvSpPr>
          <p:nvPr>
            <p:ph type="sldNum" sz="quarter" idx="12"/>
          </p:nvPr>
        </p:nvSpPr>
        <p:spPr/>
        <p:txBody>
          <a:bodyPr/>
          <a:lstStyle>
            <a:lvl1pPr>
              <a:defRPr/>
            </a:lvl1pPr>
          </a:lstStyle>
          <a:p>
            <a:pPr>
              <a:defRPr/>
            </a:pPr>
            <a:fld id="{DA6E1395-AD7D-488B-9504-1125D19F720B}" type="slidenum">
              <a:rPr lang="en-IN" altLang="en-US"/>
              <a:pPr>
                <a:defRPr/>
              </a:pPr>
              <a:t>‹#›</a:t>
            </a:fld>
            <a:endParaRPr lang="en-IN" altLang="en-US"/>
          </a:p>
        </p:txBody>
      </p:sp>
    </p:spTree>
    <p:extLst>
      <p:ext uri="{BB962C8B-B14F-4D97-AF65-F5344CB8AC3E}">
        <p14:creationId xmlns:p14="http://schemas.microsoft.com/office/powerpoint/2010/main" val="3766264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26B0039-6F59-9D46-00F7-8F6BCA2710A2}"/>
              </a:ext>
            </a:extLst>
          </p:cNvPr>
          <p:cNvSpPr>
            <a:spLocks noGrp="1"/>
          </p:cNvSpPr>
          <p:nvPr>
            <p:ph type="dt" sz="half" idx="10"/>
          </p:nvPr>
        </p:nvSpPr>
        <p:spPr/>
        <p:txBody>
          <a:bodyPr/>
          <a:lstStyle>
            <a:lvl1pPr>
              <a:defRPr/>
            </a:lvl1pPr>
          </a:lstStyle>
          <a:p>
            <a:pPr>
              <a:defRPr/>
            </a:pPr>
            <a:fld id="{D77D3E86-C2BD-4CFD-98C6-841EEF4D108D}" type="datetime1">
              <a:rPr lang="en-IN" smtClean="0"/>
              <a:t>29-09-2025</a:t>
            </a:fld>
            <a:endParaRPr lang="en-IN"/>
          </a:p>
        </p:txBody>
      </p:sp>
      <p:sp>
        <p:nvSpPr>
          <p:cNvPr id="6" name="Footer Placeholder 4">
            <a:extLst>
              <a:ext uri="{FF2B5EF4-FFF2-40B4-BE49-F238E27FC236}">
                <a16:creationId xmlns:a16="http://schemas.microsoft.com/office/drawing/2014/main" id="{1C8EB80E-F0F4-3494-448F-7AC1A7BBDCD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B9C2CAA-E545-9427-32C9-88F8C92F1E71}"/>
              </a:ext>
            </a:extLst>
          </p:cNvPr>
          <p:cNvSpPr>
            <a:spLocks noGrp="1"/>
          </p:cNvSpPr>
          <p:nvPr>
            <p:ph type="sldNum" sz="quarter" idx="12"/>
          </p:nvPr>
        </p:nvSpPr>
        <p:spPr/>
        <p:txBody>
          <a:bodyPr/>
          <a:lstStyle>
            <a:lvl1pPr>
              <a:defRPr/>
            </a:lvl1pPr>
          </a:lstStyle>
          <a:p>
            <a:pPr>
              <a:defRPr/>
            </a:pPr>
            <a:fld id="{BF2DDE6A-ADEE-40C8-AEF8-0BCCD3082155}" type="slidenum">
              <a:rPr lang="en-IN" altLang="en-US"/>
              <a:pPr>
                <a:defRPr/>
              </a:pPr>
              <a:t>‹#›</a:t>
            </a:fld>
            <a:endParaRPr lang="en-IN" altLang="en-US"/>
          </a:p>
        </p:txBody>
      </p:sp>
    </p:spTree>
    <p:extLst>
      <p:ext uri="{BB962C8B-B14F-4D97-AF65-F5344CB8AC3E}">
        <p14:creationId xmlns:p14="http://schemas.microsoft.com/office/powerpoint/2010/main" val="402390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5B44B13-04D9-62BF-DD73-C33E3749FBB4}"/>
              </a:ext>
            </a:extLst>
          </p:cNvPr>
          <p:cNvSpPr>
            <a:spLocks noGrp="1"/>
          </p:cNvSpPr>
          <p:nvPr>
            <p:ph type="dt" sz="half" idx="10"/>
          </p:nvPr>
        </p:nvSpPr>
        <p:spPr/>
        <p:txBody>
          <a:bodyPr/>
          <a:lstStyle>
            <a:lvl1pPr>
              <a:defRPr/>
            </a:lvl1pPr>
          </a:lstStyle>
          <a:p>
            <a:pPr>
              <a:defRPr/>
            </a:pPr>
            <a:fld id="{C7B20D12-8FA9-4F5D-9567-1A16B10FCB6D}" type="datetime1">
              <a:rPr lang="en-IN" smtClean="0"/>
              <a:t>29-09-2025</a:t>
            </a:fld>
            <a:endParaRPr lang="en-IN"/>
          </a:p>
        </p:txBody>
      </p:sp>
      <p:sp>
        <p:nvSpPr>
          <p:cNvPr id="6" name="Footer Placeholder 4">
            <a:extLst>
              <a:ext uri="{FF2B5EF4-FFF2-40B4-BE49-F238E27FC236}">
                <a16:creationId xmlns:a16="http://schemas.microsoft.com/office/drawing/2014/main" id="{E33EDD1C-1BAE-F6EF-1B6A-D7C1398E0584}"/>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1442FDA9-2C42-3BAE-89AB-8487CD352A8F}"/>
              </a:ext>
            </a:extLst>
          </p:cNvPr>
          <p:cNvSpPr>
            <a:spLocks noGrp="1"/>
          </p:cNvSpPr>
          <p:nvPr>
            <p:ph type="sldNum" sz="quarter" idx="12"/>
          </p:nvPr>
        </p:nvSpPr>
        <p:spPr/>
        <p:txBody>
          <a:bodyPr/>
          <a:lstStyle>
            <a:lvl1pPr>
              <a:defRPr/>
            </a:lvl1pPr>
          </a:lstStyle>
          <a:p>
            <a:pPr>
              <a:defRPr/>
            </a:pPr>
            <a:fld id="{3BACB95E-9EC8-4DD2-8F9E-184D48D45D2B}" type="slidenum">
              <a:rPr lang="en-IN" altLang="en-US"/>
              <a:pPr>
                <a:defRPr/>
              </a:pPr>
              <a:t>‹#›</a:t>
            </a:fld>
            <a:endParaRPr lang="en-IN" altLang="en-US"/>
          </a:p>
        </p:txBody>
      </p:sp>
    </p:spTree>
    <p:extLst>
      <p:ext uri="{BB962C8B-B14F-4D97-AF65-F5344CB8AC3E}">
        <p14:creationId xmlns:p14="http://schemas.microsoft.com/office/powerpoint/2010/main" val="2462193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14F1B3-85C4-A572-C2E1-74E1CDA603AF}"/>
              </a:ext>
            </a:extLst>
          </p:cNvPr>
          <p:cNvSpPr>
            <a:spLocks noGrp="1"/>
          </p:cNvSpPr>
          <p:nvPr>
            <p:ph type="dt" sz="half" idx="10"/>
          </p:nvPr>
        </p:nvSpPr>
        <p:spPr/>
        <p:txBody>
          <a:bodyPr/>
          <a:lstStyle>
            <a:lvl1pPr>
              <a:defRPr/>
            </a:lvl1pPr>
          </a:lstStyle>
          <a:p>
            <a:pPr>
              <a:defRPr/>
            </a:pPr>
            <a:fld id="{1D6A2C5D-961A-405E-B0C7-619FD2E8FA2C}" type="datetime1">
              <a:rPr lang="en-IN" smtClean="0"/>
              <a:t>29-09-2025</a:t>
            </a:fld>
            <a:endParaRPr lang="en-IN"/>
          </a:p>
        </p:txBody>
      </p:sp>
      <p:sp>
        <p:nvSpPr>
          <p:cNvPr id="5" name="Footer Placeholder 4">
            <a:extLst>
              <a:ext uri="{FF2B5EF4-FFF2-40B4-BE49-F238E27FC236}">
                <a16:creationId xmlns:a16="http://schemas.microsoft.com/office/drawing/2014/main" id="{FDD0D7A9-9E1C-C5E5-A508-2E5FC32EA27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6B2D699-6AB3-9E7F-9E76-162C6B9304D9}"/>
              </a:ext>
            </a:extLst>
          </p:cNvPr>
          <p:cNvSpPr>
            <a:spLocks noGrp="1"/>
          </p:cNvSpPr>
          <p:nvPr>
            <p:ph type="sldNum" sz="quarter" idx="12"/>
          </p:nvPr>
        </p:nvSpPr>
        <p:spPr/>
        <p:txBody>
          <a:bodyPr/>
          <a:lstStyle>
            <a:lvl1pPr>
              <a:defRPr/>
            </a:lvl1pPr>
          </a:lstStyle>
          <a:p>
            <a:pPr>
              <a:defRPr/>
            </a:pPr>
            <a:fld id="{9B6F6312-97EA-4ABA-95EC-535DA22E4972}" type="slidenum">
              <a:rPr lang="en-IN" altLang="en-US"/>
              <a:pPr>
                <a:defRPr/>
              </a:pPr>
              <a:t>‹#›</a:t>
            </a:fld>
            <a:endParaRPr lang="en-IN" altLang="en-US"/>
          </a:p>
        </p:txBody>
      </p:sp>
    </p:spTree>
    <p:extLst>
      <p:ext uri="{BB962C8B-B14F-4D97-AF65-F5344CB8AC3E}">
        <p14:creationId xmlns:p14="http://schemas.microsoft.com/office/powerpoint/2010/main" val="3205881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B0969C-D83B-06A3-C32F-1F91445772BF}"/>
              </a:ext>
            </a:extLst>
          </p:cNvPr>
          <p:cNvSpPr>
            <a:spLocks noGrp="1"/>
          </p:cNvSpPr>
          <p:nvPr>
            <p:ph type="dt" sz="half" idx="10"/>
          </p:nvPr>
        </p:nvSpPr>
        <p:spPr/>
        <p:txBody>
          <a:bodyPr/>
          <a:lstStyle>
            <a:lvl1pPr>
              <a:defRPr/>
            </a:lvl1pPr>
          </a:lstStyle>
          <a:p>
            <a:pPr>
              <a:defRPr/>
            </a:pPr>
            <a:fld id="{806CE8E2-6CE7-423F-B21E-188B0E5F638A}" type="datetime1">
              <a:rPr lang="en-IN" smtClean="0"/>
              <a:t>29-09-2025</a:t>
            </a:fld>
            <a:endParaRPr lang="en-IN"/>
          </a:p>
        </p:txBody>
      </p:sp>
      <p:sp>
        <p:nvSpPr>
          <p:cNvPr id="5" name="Footer Placeholder 4">
            <a:extLst>
              <a:ext uri="{FF2B5EF4-FFF2-40B4-BE49-F238E27FC236}">
                <a16:creationId xmlns:a16="http://schemas.microsoft.com/office/drawing/2014/main" id="{16A86CE3-E7A1-BB84-D480-22DA0EECE696}"/>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B9243C7E-0DCB-F607-9465-8AFC13E285BC}"/>
              </a:ext>
            </a:extLst>
          </p:cNvPr>
          <p:cNvSpPr>
            <a:spLocks noGrp="1"/>
          </p:cNvSpPr>
          <p:nvPr>
            <p:ph type="sldNum" sz="quarter" idx="12"/>
          </p:nvPr>
        </p:nvSpPr>
        <p:spPr/>
        <p:txBody>
          <a:bodyPr/>
          <a:lstStyle>
            <a:lvl1pPr>
              <a:defRPr/>
            </a:lvl1pPr>
          </a:lstStyle>
          <a:p>
            <a:pPr>
              <a:defRPr/>
            </a:pPr>
            <a:fld id="{6E4F555E-ED92-4460-AC42-C782FDAEBE1B}" type="slidenum">
              <a:rPr lang="en-IN" altLang="en-US"/>
              <a:pPr>
                <a:defRPr/>
              </a:pPr>
              <a:t>‹#›</a:t>
            </a:fld>
            <a:endParaRPr lang="en-IN" altLang="en-US"/>
          </a:p>
        </p:txBody>
      </p:sp>
    </p:spTree>
    <p:extLst>
      <p:ext uri="{BB962C8B-B14F-4D97-AF65-F5344CB8AC3E}">
        <p14:creationId xmlns:p14="http://schemas.microsoft.com/office/powerpoint/2010/main" val="900285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5A08DD0-18F9-C1C4-703C-85C8A686A54A}"/>
              </a:ext>
            </a:extLst>
          </p:cNvPr>
          <p:cNvSpPr>
            <a:spLocks noGrp="1"/>
          </p:cNvSpPr>
          <p:nvPr>
            <p:ph type="dt" sz="half" idx="10"/>
          </p:nvPr>
        </p:nvSpPr>
        <p:spPr/>
        <p:txBody>
          <a:bodyPr/>
          <a:lstStyle>
            <a:lvl1pPr>
              <a:defRPr/>
            </a:lvl1pPr>
          </a:lstStyle>
          <a:p>
            <a:pPr>
              <a:defRPr/>
            </a:pPr>
            <a:fld id="{F5624D74-EE6B-4FF9-A799-8F890457A95F}" type="datetime1">
              <a:rPr lang="en-IN" smtClean="0"/>
              <a:t>29-09-2025</a:t>
            </a:fld>
            <a:endParaRPr lang="en-US"/>
          </a:p>
        </p:txBody>
      </p:sp>
      <p:sp>
        <p:nvSpPr>
          <p:cNvPr id="5" name="Footer Placeholder 4">
            <a:extLst>
              <a:ext uri="{FF2B5EF4-FFF2-40B4-BE49-F238E27FC236}">
                <a16:creationId xmlns:a16="http://schemas.microsoft.com/office/drawing/2014/main" id="{A8B59E0B-5569-7A2A-8B5D-D2C3563B80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BB8F994-5D5C-9576-BA89-9AD1F13B1FD5}"/>
              </a:ext>
            </a:extLst>
          </p:cNvPr>
          <p:cNvSpPr>
            <a:spLocks noGrp="1"/>
          </p:cNvSpPr>
          <p:nvPr>
            <p:ph type="sldNum" sz="quarter" idx="12"/>
          </p:nvPr>
        </p:nvSpPr>
        <p:spPr/>
        <p:txBody>
          <a:bodyPr/>
          <a:lstStyle>
            <a:lvl1pPr>
              <a:defRPr/>
            </a:lvl1pPr>
          </a:lstStyle>
          <a:p>
            <a:pPr>
              <a:defRPr/>
            </a:pPr>
            <a:fld id="{34448360-F2C9-484B-BFDB-1590BB5961F4}" type="slidenum">
              <a:rPr lang="en-US" altLang="en-US"/>
              <a:pPr>
                <a:defRPr/>
              </a:pPr>
              <a:t>‹#›</a:t>
            </a:fld>
            <a:endParaRPr lang="en-US" altLang="en-US"/>
          </a:p>
        </p:txBody>
      </p:sp>
    </p:spTree>
    <p:extLst>
      <p:ext uri="{BB962C8B-B14F-4D97-AF65-F5344CB8AC3E}">
        <p14:creationId xmlns:p14="http://schemas.microsoft.com/office/powerpoint/2010/main" val="348627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6F6BBE-3A35-22BB-56B8-1F63D2B3B68A}"/>
              </a:ext>
            </a:extLst>
          </p:cNvPr>
          <p:cNvSpPr>
            <a:spLocks noGrp="1"/>
          </p:cNvSpPr>
          <p:nvPr>
            <p:ph type="dt" sz="half" idx="10"/>
          </p:nvPr>
        </p:nvSpPr>
        <p:spPr/>
        <p:txBody>
          <a:bodyPr/>
          <a:lstStyle>
            <a:lvl1pPr>
              <a:defRPr/>
            </a:lvl1pPr>
          </a:lstStyle>
          <a:p>
            <a:pPr>
              <a:defRPr/>
            </a:pPr>
            <a:fld id="{50CE3DA1-1E2F-4A25-AA44-346356EADAD0}" type="datetime1">
              <a:rPr lang="en-IN" smtClean="0"/>
              <a:t>29-09-2025</a:t>
            </a:fld>
            <a:endParaRPr lang="en-US"/>
          </a:p>
        </p:txBody>
      </p:sp>
      <p:sp>
        <p:nvSpPr>
          <p:cNvPr id="5" name="Footer Placeholder 4">
            <a:extLst>
              <a:ext uri="{FF2B5EF4-FFF2-40B4-BE49-F238E27FC236}">
                <a16:creationId xmlns:a16="http://schemas.microsoft.com/office/drawing/2014/main" id="{9C7D5FCD-F33E-1A32-7536-3214E8A479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300A50A-7FD0-DB6C-90EB-B0618BC69B06}"/>
              </a:ext>
            </a:extLst>
          </p:cNvPr>
          <p:cNvSpPr>
            <a:spLocks noGrp="1"/>
          </p:cNvSpPr>
          <p:nvPr>
            <p:ph type="sldNum" sz="quarter" idx="12"/>
          </p:nvPr>
        </p:nvSpPr>
        <p:spPr/>
        <p:txBody>
          <a:bodyPr/>
          <a:lstStyle>
            <a:lvl1pPr>
              <a:defRPr/>
            </a:lvl1pPr>
          </a:lstStyle>
          <a:p>
            <a:pPr>
              <a:defRPr/>
            </a:pPr>
            <a:fld id="{E113549D-5E3D-443F-83C5-99A51A0DB440}" type="slidenum">
              <a:rPr lang="en-US" altLang="en-US"/>
              <a:pPr>
                <a:defRPr/>
              </a:pPr>
              <a:t>‹#›</a:t>
            </a:fld>
            <a:endParaRPr lang="en-US" altLang="en-US"/>
          </a:p>
        </p:txBody>
      </p:sp>
    </p:spTree>
    <p:extLst>
      <p:ext uri="{BB962C8B-B14F-4D97-AF65-F5344CB8AC3E}">
        <p14:creationId xmlns:p14="http://schemas.microsoft.com/office/powerpoint/2010/main" val="910174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EE0408-BC6A-5C26-ACD6-F67B00E4D817}"/>
              </a:ext>
            </a:extLst>
          </p:cNvPr>
          <p:cNvSpPr>
            <a:spLocks noGrp="1"/>
          </p:cNvSpPr>
          <p:nvPr>
            <p:ph type="dt" sz="half" idx="10"/>
          </p:nvPr>
        </p:nvSpPr>
        <p:spPr/>
        <p:txBody>
          <a:bodyPr/>
          <a:lstStyle>
            <a:lvl1pPr>
              <a:defRPr/>
            </a:lvl1pPr>
          </a:lstStyle>
          <a:p>
            <a:pPr>
              <a:defRPr/>
            </a:pPr>
            <a:fld id="{FFA766E2-ECEA-4BB7-8362-929F41893B6A}" type="datetime1">
              <a:rPr lang="en-IN" smtClean="0"/>
              <a:t>29-09-2025</a:t>
            </a:fld>
            <a:endParaRPr lang="en-US"/>
          </a:p>
        </p:txBody>
      </p:sp>
      <p:sp>
        <p:nvSpPr>
          <p:cNvPr id="5" name="Footer Placeholder 4">
            <a:extLst>
              <a:ext uri="{FF2B5EF4-FFF2-40B4-BE49-F238E27FC236}">
                <a16:creationId xmlns:a16="http://schemas.microsoft.com/office/drawing/2014/main" id="{F71CD64E-B8E8-4A72-F5EB-5CED84CCA8B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B6BE31A-C69F-239D-1D4F-10CE3B0C35D3}"/>
              </a:ext>
            </a:extLst>
          </p:cNvPr>
          <p:cNvSpPr>
            <a:spLocks noGrp="1"/>
          </p:cNvSpPr>
          <p:nvPr>
            <p:ph type="sldNum" sz="quarter" idx="12"/>
          </p:nvPr>
        </p:nvSpPr>
        <p:spPr/>
        <p:txBody>
          <a:bodyPr/>
          <a:lstStyle>
            <a:lvl1pPr>
              <a:defRPr/>
            </a:lvl1pPr>
          </a:lstStyle>
          <a:p>
            <a:pPr>
              <a:defRPr/>
            </a:pPr>
            <a:fld id="{03DA457C-6DCA-4504-9E0D-4879826983D4}" type="slidenum">
              <a:rPr lang="en-US" altLang="en-US"/>
              <a:pPr>
                <a:defRPr/>
              </a:pPr>
              <a:t>‹#›</a:t>
            </a:fld>
            <a:endParaRPr lang="en-US" altLang="en-US"/>
          </a:p>
        </p:txBody>
      </p:sp>
    </p:spTree>
    <p:extLst>
      <p:ext uri="{BB962C8B-B14F-4D97-AF65-F5344CB8AC3E}">
        <p14:creationId xmlns:p14="http://schemas.microsoft.com/office/powerpoint/2010/main" val="21890297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0B5175C-C6B2-3E9F-6631-CBD3F2DFF875}"/>
              </a:ext>
            </a:extLst>
          </p:cNvPr>
          <p:cNvSpPr>
            <a:spLocks noGrp="1"/>
          </p:cNvSpPr>
          <p:nvPr>
            <p:ph type="dt" sz="half" idx="10"/>
          </p:nvPr>
        </p:nvSpPr>
        <p:spPr/>
        <p:txBody>
          <a:bodyPr/>
          <a:lstStyle>
            <a:lvl1pPr>
              <a:defRPr/>
            </a:lvl1pPr>
          </a:lstStyle>
          <a:p>
            <a:pPr>
              <a:defRPr/>
            </a:pPr>
            <a:fld id="{5929B2B0-C28A-479E-AC33-B8EEABC2D241}" type="datetime1">
              <a:rPr lang="en-IN" smtClean="0"/>
              <a:t>29-09-2025</a:t>
            </a:fld>
            <a:endParaRPr lang="en-US"/>
          </a:p>
        </p:txBody>
      </p:sp>
      <p:sp>
        <p:nvSpPr>
          <p:cNvPr id="6" name="Footer Placeholder 4">
            <a:extLst>
              <a:ext uri="{FF2B5EF4-FFF2-40B4-BE49-F238E27FC236}">
                <a16:creationId xmlns:a16="http://schemas.microsoft.com/office/drawing/2014/main" id="{D0C30557-F614-7BC0-263F-265D4A015BC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CC46679-DEAE-6B1F-0B87-ED3C812473A0}"/>
              </a:ext>
            </a:extLst>
          </p:cNvPr>
          <p:cNvSpPr>
            <a:spLocks noGrp="1"/>
          </p:cNvSpPr>
          <p:nvPr>
            <p:ph type="sldNum" sz="quarter" idx="12"/>
          </p:nvPr>
        </p:nvSpPr>
        <p:spPr/>
        <p:txBody>
          <a:bodyPr/>
          <a:lstStyle>
            <a:lvl1pPr>
              <a:defRPr/>
            </a:lvl1pPr>
          </a:lstStyle>
          <a:p>
            <a:pPr>
              <a:defRPr/>
            </a:pPr>
            <a:fld id="{947EBF60-FE22-4E26-8A0A-90DE0F7FCAC5}" type="slidenum">
              <a:rPr lang="en-US" altLang="en-US"/>
              <a:pPr>
                <a:defRPr/>
              </a:pPr>
              <a:t>‹#›</a:t>
            </a:fld>
            <a:endParaRPr lang="en-US" altLang="en-US"/>
          </a:p>
        </p:txBody>
      </p:sp>
    </p:spTree>
    <p:extLst>
      <p:ext uri="{BB962C8B-B14F-4D97-AF65-F5344CB8AC3E}">
        <p14:creationId xmlns:p14="http://schemas.microsoft.com/office/powerpoint/2010/main" val="4020250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8AA7BAC-BF76-AC83-1CAB-9345A6116999}"/>
              </a:ext>
            </a:extLst>
          </p:cNvPr>
          <p:cNvSpPr>
            <a:spLocks noGrp="1"/>
          </p:cNvSpPr>
          <p:nvPr>
            <p:ph type="dt" sz="half" idx="10"/>
          </p:nvPr>
        </p:nvSpPr>
        <p:spPr/>
        <p:txBody>
          <a:bodyPr/>
          <a:lstStyle>
            <a:lvl1pPr>
              <a:defRPr/>
            </a:lvl1pPr>
          </a:lstStyle>
          <a:p>
            <a:pPr>
              <a:defRPr/>
            </a:pPr>
            <a:fld id="{A72DF3B9-B326-4DEE-852D-4EEFBD6FF51C}" type="datetime1">
              <a:rPr lang="en-IN" smtClean="0"/>
              <a:t>29-09-2025</a:t>
            </a:fld>
            <a:endParaRPr lang="en-US"/>
          </a:p>
        </p:txBody>
      </p:sp>
      <p:sp>
        <p:nvSpPr>
          <p:cNvPr id="8" name="Footer Placeholder 4">
            <a:extLst>
              <a:ext uri="{FF2B5EF4-FFF2-40B4-BE49-F238E27FC236}">
                <a16:creationId xmlns:a16="http://schemas.microsoft.com/office/drawing/2014/main" id="{E0DA638D-7CC4-1220-7809-01D1FB8268B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C502C58-EF1F-B6F4-59B2-E168A34C40D7}"/>
              </a:ext>
            </a:extLst>
          </p:cNvPr>
          <p:cNvSpPr>
            <a:spLocks noGrp="1"/>
          </p:cNvSpPr>
          <p:nvPr>
            <p:ph type="sldNum" sz="quarter" idx="12"/>
          </p:nvPr>
        </p:nvSpPr>
        <p:spPr/>
        <p:txBody>
          <a:bodyPr/>
          <a:lstStyle>
            <a:lvl1pPr>
              <a:defRPr/>
            </a:lvl1pPr>
          </a:lstStyle>
          <a:p>
            <a:pPr>
              <a:defRPr/>
            </a:pPr>
            <a:fld id="{542DE11D-8E21-4069-9C4D-78F01BFF28AC}" type="slidenum">
              <a:rPr lang="en-US" altLang="en-US"/>
              <a:pPr>
                <a:defRPr/>
              </a:pPr>
              <a:t>‹#›</a:t>
            </a:fld>
            <a:endParaRPr lang="en-US" altLang="en-US"/>
          </a:p>
        </p:txBody>
      </p:sp>
    </p:spTree>
    <p:extLst>
      <p:ext uri="{BB962C8B-B14F-4D97-AF65-F5344CB8AC3E}">
        <p14:creationId xmlns:p14="http://schemas.microsoft.com/office/powerpoint/2010/main" val="2072003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AEFABA8-D04F-EFF2-2C82-E3C45C360DC5}"/>
              </a:ext>
            </a:extLst>
          </p:cNvPr>
          <p:cNvSpPr>
            <a:spLocks noGrp="1"/>
          </p:cNvSpPr>
          <p:nvPr>
            <p:ph type="dt" sz="half" idx="10"/>
          </p:nvPr>
        </p:nvSpPr>
        <p:spPr/>
        <p:txBody>
          <a:bodyPr/>
          <a:lstStyle>
            <a:lvl1pPr>
              <a:defRPr/>
            </a:lvl1pPr>
          </a:lstStyle>
          <a:p>
            <a:pPr>
              <a:defRPr/>
            </a:pPr>
            <a:fld id="{B6E72107-8551-49A3-9023-8BDA37612D05}" type="datetime1">
              <a:rPr lang="en-IN" smtClean="0"/>
              <a:t>29-09-2025</a:t>
            </a:fld>
            <a:endParaRPr lang="en-US"/>
          </a:p>
        </p:txBody>
      </p:sp>
      <p:sp>
        <p:nvSpPr>
          <p:cNvPr id="4" name="Footer Placeholder 4">
            <a:extLst>
              <a:ext uri="{FF2B5EF4-FFF2-40B4-BE49-F238E27FC236}">
                <a16:creationId xmlns:a16="http://schemas.microsoft.com/office/drawing/2014/main" id="{B31D26A3-7F4E-C5A9-FB9E-DA55FF499B6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F9A39FD-109A-1235-1AED-B1AD3CCC37C2}"/>
              </a:ext>
            </a:extLst>
          </p:cNvPr>
          <p:cNvSpPr>
            <a:spLocks noGrp="1"/>
          </p:cNvSpPr>
          <p:nvPr>
            <p:ph type="sldNum" sz="quarter" idx="12"/>
          </p:nvPr>
        </p:nvSpPr>
        <p:spPr/>
        <p:txBody>
          <a:bodyPr/>
          <a:lstStyle>
            <a:lvl1pPr>
              <a:defRPr/>
            </a:lvl1pPr>
          </a:lstStyle>
          <a:p>
            <a:pPr>
              <a:defRPr/>
            </a:pPr>
            <a:fld id="{2FAE3FE2-776E-4147-B362-FD60D7692217}" type="slidenum">
              <a:rPr lang="en-US" altLang="en-US"/>
              <a:pPr>
                <a:defRPr/>
              </a:pPr>
              <a:t>‹#›</a:t>
            </a:fld>
            <a:endParaRPr lang="en-US" altLang="en-US"/>
          </a:p>
        </p:txBody>
      </p:sp>
    </p:spTree>
    <p:extLst>
      <p:ext uri="{BB962C8B-B14F-4D97-AF65-F5344CB8AC3E}">
        <p14:creationId xmlns:p14="http://schemas.microsoft.com/office/powerpoint/2010/main" val="3153869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C62EC14-0F7E-C007-EAEC-3A45F374635F}"/>
              </a:ext>
            </a:extLst>
          </p:cNvPr>
          <p:cNvSpPr>
            <a:spLocks noGrp="1"/>
          </p:cNvSpPr>
          <p:nvPr>
            <p:ph type="dt" sz="half" idx="10"/>
          </p:nvPr>
        </p:nvSpPr>
        <p:spPr/>
        <p:txBody>
          <a:bodyPr/>
          <a:lstStyle>
            <a:lvl1pPr>
              <a:defRPr/>
            </a:lvl1pPr>
          </a:lstStyle>
          <a:p>
            <a:pPr>
              <a:defRPr/>
            </a:pPr>
            <a:fld id="{8B6483BE-1757-4B84-9889-1960FF4E8CEE}" type="datetime1">
              <a:rPr lang="en-IN" smtClean="0"/>
              <a:t>29-09-2025</a:t>
            </a:fld>
            <a:endParaRPr lang="en-US"/>
          </a:p>
        </p:txBody>
      </p:sp>
      <p:sp>
        <p:nvSpPr>
          <p:cNvPr id="3" name="Footer Placeholder 4">
            <a:extLst>
              <a:ext uri="{FF2B5EF4-FFF2-40B4-BE49-F238E27FC236}">
                <a16:creationId xmlns:a16="http://schemas.microsoft.com/office/drawing/2014/main" id="{1886335E-7F74-63F2-1C0C-6547606B628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E1A01F3-7ADE-5EA4-5C03-A562A7975F32}"/>
              </a:ext>
            </a:extLst>
          </p:cNvPr>
          <p:cNvSpPr>
            <a:spLocks noGrp="1"/>
          </p:cNvSpPr>
          <p:nvPr>
            <p:ph type="sldNum" sz="quarter" idx="12"/>
          </p:nvPr>
        </p:nvSpPr>
        <p:spPr/>
        <p:txBody>
          <a:bodyPr/>
          <a:lstStyle>
            <a:lvl1pPr>
              <a:defRPr/>
            </a:lvl1pPr>
          </a:lstStyle>
          <a:p>
            <a:pPr>
              <a:defRPr/>
            </a:pPr>
            <a:fld id="{F5EACB22-D1C4-4B00-9A24-292D13122811}" type="slidenum">
              <a:rPr lang="en-US" altLang="en-US"/>
              <a:pPr>
                <a:defRPr/>
              </a:pPr>
              <a:t>‹#›</a:t>
            </a:fld>
            <a:endParaRPr lang="en-US" altLang="en-US"/>
          </a:p>
        </p:txBody>
      </p:sp>
    </p:spTree>
    <p:extLst>
      <p:ext uri="{BB962C8B-B14F-4D97-AF65-F5344CB8AC3E}">
        <p14:creationId xmlns:p14="http://schemas.microsoft.com/office/powerpoint/2010/main" val="1735972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BC9C00E-879F-A280-719B-3D4081A7FEDC}"/>
              </a:ext>
            </a:extLst>
          </p:cNvPr>
          <p:cNvSpPr>
            <a:spLocks noGrp="1"/>
          </p:cNvSpPr>
          <p:nvPr>
            <p:ph type="dt" sz="half" idx="10"/>
          </p:nvPr>
        </p:nvSpPr>
        <p:spPr/>
        <p:txBody>
          <a:bodyPr/>
          <a:lstStyle>
            <a:lvl1pPr>
              <a:defRPr/>
            </a:lvl1pPr>
          </a:lstStyle>
          <a:p>
            <a:pPr>
              <a:defRPr/>
            </a:pPr>
            <a:fld id="{E4D9C8DD-4351-43E3-B0C6-D38B645920DD}" type="datetime1">
              <a:rPr lang="en-IN" smtClean="0"/>
              <a:t>29-09-2025</a:t>
            </a:fld>
            <a:endParaRPr lang="en-US"/>
          </a:p>
        </p:txBody>
      </p:sp>
      <p:sp>
        <p:nvSpPr>
          <p:cNvPr id="6" name="Footer Placeholder 4">
            <a:extLst>
              <a:ext uri="{FF2B5EF4-FFF2-40B4-BE49-F238E27FC236}">
                <a16:creationId xmlns:a16="http://schemas.microsoft.com/office/drawing/2014/main" id="{87EBE8B3-4758-EAF2-B260-6A11B2A92DC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84D878E-29C3-4921-2DAC-7F06CB801CCA}"/>
              </a:ext>
            </a:extLst>
          </p:cNvPr>
          <p:cNvSpPr>
            <a:spLocks noGrp="1"/>
          </p:cNvSpPr>
          <p:nvPr>
            <p:ph type="sldNum" sz="quarter" idx="12"/>
          </p:nvPr>
        </p:nvSpPr>
        <p:spPr/>
        <p:txBody>
          <a:bodyPr/>
          <a:lstStyle>
            <a:lvl1pPr>
              <a:defRPr/>
            </a:lvl1pPr>
          </a:lstStyle>
          <a:p>
            <a:pPr>
              <a:defRPr/>
            </a:pPr>
            <a:fld id="{53BA2DAE-2EED-44D3-80FB-576DC4F230B4}" type="slidenum">
              <a:rPr lang="en-US" altLang="en-US"/>
              <a:pPr>
                <a:defRPr/>
              </a:pPr>
              <a:t>‹#›</a:t>
            </a:fld>
            <a:endParaRPr lang="en-US" altLang="en-US"/>
          </a:p>
        </p:txBody>
      </p:sp>
    </p:spTree>
    <p:extLst>
      <p:ext uri="{BB962C8B-B14F-4D97-AF65-F5344CB8AC3E}">
        <p14:creationId xmlns:p14="http://schemas.microsoft.com/office/powerpoint/2010/main" val="1093232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EE3D56D-E088-AC0F-E07E-B2288B37F5A9}"/>
              </a:ext>
            </a:extLst>
          </p:cNvPr>
          <p:cNvSpPr>
            <a:spLocks noGrp="1"/>
          </p:cNvSpPr>
          <p:nvPr>
            <p:ph type="dt" sz="half" idx="10"/>
          </p:nvPr>
        </p:nvSpPr>
        <p:spPr/>
        <p:txBody>
          <a:bodyPr/>
          <a:lstStyle>
            <a:lvl1pPr>
              <a:defRPr/>
            </a:lvl1pPr>
          </a:lstStyle>
          <a:p>
            <a:pPr>
              <a:defRPr/>
            </a:pPr>
            <a:fld id="{1DAF4240-9A89-4A90-B9D8-3258107E0FAC}" type="datetime1">
              <a:rPr lang="en-IN" smtClean="0"/>
              <a:t>29-09-2025</a:t>
            </a:fld>
            <a:endParaRPr lang="en-US"/>
          </a:p>
        </p:txBody>
      </p:sp>
      <p:sp>
        <p:nvSpPr>
          <p:cNvPr id="6" name="Footer Placeholder 4">
            <a:extLst>
              <a:ext uri="{FF2B5EF4-FFF2-40B4-BE49-F238E27FC236}">
                <a16:creationId xmlns:a16="http://schemas.microsoft.com/office/drawing/2014/main" id="{B1EA7BD2-0045-8A83-896F-F4323DD329D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51B99BE-13F6-BF98-1900-32EED4248C13}"/>
              </a:ext>
            </a:extLst>
          </p:cNvPr>
          <p:cNvSpPr>
            <a:spLocks noGrp="1"/>
          </p:cNvSpPr>
          <p:nvPr>
            <p:ph type="sldNum" sz="quarter" idx="12"/>
          </p:nvPr>
        </p:nvSpPr>
        <p:spPr/>
        <p:txBody>
          <a:bodyPr/>
          <a:lstStyle>
            <a:lvl1pPr>
              <a:defRPr/>
            </a:lvl1pPr>
          </a:lstStyle>
          <a:p>
            <a:pPr>
              <a:defRPr/>
            </a:pPr>
            <a:fld id="{C78FAB1E-7D33-454F-B227-8FD7D27DF73C}" type="slidenum">
              <a:rPr lang="en-US" altLang="en-US"/>
              <a:pPr>
                <a:defRPr/>
              </a:pPr>
              <a:t>‹#›</a:t>
            </a:fld>
            <a:endParaRPr lang="en-US" altLang="en-US"/>
          </a:p>
        </p:txBody>
      </p:sp>
    </p:spTree>
    <p:extLst>
      <p:ext uri="{BB962C8B-B14F-4D97-AF65-F5344CB8AC3E}">
        <p14:creationId xmlns:p14="http://schemas.microsoft.com/office/powerpoint/2010/main" val="4180084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47C67-EF4F-BB70-9EF4-A73C543D22C0}"/>
              </a:ext>
            </a:extLst>
          </p:cNvPr>
          <p:cNvSpPr>
            <a:spLocks noGrp="1"/>
          </p:cNvSpPr>
          <p:nvPr>
            <p:ph type="dt" sz="half" idx="10"/>
          </p:nvPr>
        </p:nvSpPr>
        <p:spPr/>
        <p:txBody>
          <a:bodyPr/>
          <a:lstStyle>
            <a:lvl1pPr>
              <a:defRPr/>
            </a:lvl1pPr>
          </a:lstStyle>
          <a:p>
            <a:pPr>
              <a:defRPr/>
            </a:pPr>
            <a:fld id="{F561C650-491B-48B9-8CB8-6DF36B8FD6B7}" type="datetime1">
              <a:rPr lang="en-IN" smtClean="0"/>
              <a:t>29-09-2025</a:t>
            </a:fld>
            <a:endParaRPr lang="en-US"/>
          </a:p>
        </p:txBody>
      </p:sp>
      <p:sp>
        <p:nvSpPr>
          <p:cNvPr id="5" name="Footer Placeholder 4">
            <a:extLst>
              <a:ext uri="{FF2B5EF4-FFF2-40B4-BE49-F238E27FC236}">
                <a16:creationId xmlns:a16="http://schemas.microsoft.com/office/drawing/2014/main" id="{70492D38-6C48-3ACD-FA8C-CC946B0CD8F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E6422CE-1F6D-3480-5F31-2A894F99BB10}"/>
              </a:ext>
            </a:extLst>
          </p:cNvPr>
          <p:cNvSpPr>
            <a:spLocks noGrp="1"/>
          </p:cNvSpPr>
          <p:nvPr>
            <p:ph type="sldNum" sz="quarter" idx="12"/>
          </p:nvPr>
        </p:nvSpPr>
        <p:spPr/>
        <p:txBody>
          <a:bodyPr/>
          <a:lstStyle>
            <a:lvl1pPr>
              <a:defRPr/>
            </a:lvl1pPr>
          </a:lstStyle>
          <a:p>
            <a:pPr>
              <a:defRPr/>
            </a:pPr>
            <a:fld id="{4EE08E03-1020-438F-89C6-960573060072}" type="slidenum">
              <a:rPr lang="en-US" altLang="en-US"/>
              <a:pPr>
                <a:defRPr/>
              </a:pPr>
              <a:t>‹#›</a:t>
            </a:fld>
            <a:endParaRPr lang="en-US" altLang="en-US"/>
          </a:p>
        </p:txBody>
      </p:sp>
    </p:spTree>
    <p:extLst>
      <p:ext uri="{BB962C8B-B14F-4D97-AF65-F5344CB8AC3E}">
        <p14:creationId xmlns:p14="http://schemas.microsoft.com/office/powerpoint/2010/main" val="42301760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FEBD8F-AF45-717D-2DA8-BF7E5DA05818}"/>
              </a:ext>
            </a:extLst>
          </p:cNvPr>
          <p:cNvSpPr>
            <a:spLocks noGrp="1"/>
          </p:cNvSpPr>
          <p:nvPr>
            <p:ph type="dt" sz="half" idx="10"/>
          </p:nvPr>
        </p:nvSpPr>
        <p:spPr/>
        <p:txBody>
          <a:bodyPr/>
          <a:lstStyle>
            <a:lvl1pPr>
              <a:defRPr/>
            </a:lvl1pPr>
          </a:lstStyle>
          <a:p>
            <a:pPr>
              <a:defRPr/>
            </a:pPr>
            <a:fld id="{12C1112D-4956-42C3-A3F8-246C3E26FFAA}" type="datetime1">
              <a:rPr lang="en-IN" smtClean="0"/>
              <a:t>29-09-2025</a:t>
            </a:fld>
            <a:endParaRPr lang="en-US"/>
          </a:p>
        </p:txBody>
      </p:sp>
      <p:sp>
        <p:nvSpPr>
          <p:cNvPr id="5" name="Footer Placeholder 4">
            <a:extLst>
              <a:ext uri="{FF2B5EF4-FFF2-40B4-BE49-F238E27FC236}">
                <a16:creationId xmlns:a16="http://schemas.microsoft.com/office/drawing/2014/main" id="{D7D6487D-C7E8-1F34-404A-762836896CB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AACD6B8-BF88-F7F6-9EDB-21F291623E40}"/>
              </a:ext>
            </a:extLst>
          </p:cNvPr>
          <p:cNvSpPr>
            <a:spLocks noGrp="1"/>
          </p:cNvSpPr>
          <p:nvPr>
            <p:ph type="sldNum" sz="quarter" idx="12"/>
          </p:nvPr>
        </p:nvSpPr>
        <p:spPr/>
        <p:txBody>
          <a:bodyPr/>
          <a:lstStyle>
            <a:lvl1pPr>
              <a:defRPr/>
            </a:lvl1pPr>
          </a:lstStyle>
          <a:p>
            <a:pPr>
              <a:defRPr/>
            </a:pPr>
            <a:fld id="{A5850552-6145-43C7-869D-B05547B48817}" type="slidenum">
              <a:rPr lang="en-US" altLang="en-US"/>
              <a:pPr>
                <a:defRPr/>
              </a:pPr>
              <a:t>‹#›</a:t>
            </a:fld>
            <a:endParaRPr lang="en-US" altLang="en-US"/>
          </a:p>
        </p:txBody>
      </p:sp>
    </p:spTree>
    <p:extLst>
      <p:ext uri="{BB962C8B-B14F-4D97-AF65-F5344CB8AC3E}">
        <p14:creationId xmlns:p14="http://schemas.microsoft.com/office/powerpoint/2010/main" val="398002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01045F3-6CC9-C865-330A-A89C9051D757}"/>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EBB564DB-1877-BFD7-505E-45FD63D69FD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4C666363-C353-FA3D-CDFA-EB82CE6A5ED4}"/>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09315FC3-A049-44A5-B107-F6E1F5230D1E}" type="datetime1">
              <a:rPr lang="en-IN" smtClean="0"/>
              <a:t>29-09-2025</a:t>
            </a:fld>
            <a:endParaRPr lang="en-IN"/>
          </a:p>
        </p:txBody>
      </p:sp>
      <p:sp>
        <p:nvSpPr>
          <p:cNvPr id="5" name="Footer Placeholder 4">
            <a:extLst>
              <a:ext uri="{FF2B5EF4-FFF2-40B4-BE49-F238E27FC236}">
                <a16:creationId xmlns:a16="http://schemas.microsoft.com/office/drawing/2014/main" id="{FBECBE7C-EC90-73AB-22D2-0B8B0200452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F5D5B47D-5094-7AF0-7C56-0883115AC04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C46C0C23-4117-425E-B864-12386552A8F3}"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7D10A877-8448-0586-80BB-D479F55A3FB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E8EC97EB-7CB2-D442-D18A-343A9E3C1D3E}"/>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D0A2CB7-B9D5-2DC1-515E-981A92F837F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237BF58B-79EE-47FB-866D-EFA1BDC70D0A}" type="datetime1">
              <a:rPr lang="en-IN" smtClean="0"/>
              <a:t>29-09-2025</a:t>
            </a:fld>
            <a:endParaRPr lang="en-US"/>
          </a:p>
        </p:txBody>
      </p:sp>
      <p:sp>
        <p:nvSpPr>
          <p:cNvPr id="5" name="Footer Placeholder 4">
            <a:extLst>
              <a:ext uri="{FF2B5EF4-FFF2-40B4-BE49-F238E27FC236}">
                <a16:creationId xmlns:a16="http://schemas.microsoft.com/office/drawing/2014/main" id="{A76DE9DC-00F2-A7BA-097E-D2BABBD4BB7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867B8420-DD02-796D-12F9-EED504FD0EF9}"/>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E6CEF6D7-4760-441B-AC61-E6AF3442206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507194F-0E2E-E8EB-481A-94A7BA6D866E}"/>
              </a:ext>
            </a:extLst>
          </p:cNvPr>
          <p:cNvSpPr>
            <a:spLocks noGrp="1" noChangeArrowheads="1"/>
          </p:cNvSpPr>
          <p:nvPr>
            <p:ph type="title"/>
          </p:nvPr>
        </p:nvSpPr>
        <p:spPr>
          <a:xfrm>
            <a:off x="239713" y="571866"/>
            <a:ext cx="8580437" cy="1457325"/>
          </a:xfrm>
        </p:spPr>
        <p:txBody>
          <a:bodyPr/>
          <a:lstStyle/>
          <a:p>
            <a:pPr eaLnBrk="1" hangingPunct="1"/>
            <a:r>
              <a:rPr lang="en-IN" altLang="en-US" sz="2000" dirty="0">
                <a:latin typeface="Times New Roman" panose="02020603050405020304" pitchFamily="18" charset="0"/>
                <a:cs typeface="Times New Roman" panose="02020603050405020304" pitchFamily="18" charset="0"/>
              </a:rPr>
              <a:t>Capstone Project – I:  Review – 1 on</a:t>
            </a:r>
            <a:br>
              <a:rPr lang="en-IN" altLang="en-US" sz="2800" b="1" dirty="0">
                <a:latin typeface="Times New Roman" panose="02020603050405020304" pitchFamily="18" charset="0"/>
                <a:cs typeface="Times New Roman" panose="02020603050405020304" pitchFamily="18" charset="0"/>
              </a:rPr>
            </a:br>
            <a:r>
              <a:rPr lang="en-US" altLang="en-US" sz="2800" b="1" dirty="0">
                <a:solidFill>
                  <a:srgbClr val="0070C0"/>
                </a:solidFill>
                <a:latin typeface="Times New Roman" panose="02020603050405020304" pitchFamily="18" charset="0"/>
                <a:cs typeface="Times New Roman" panose="02020603050405020304" pitchFamily="18" charset="0"/>
              </a:rPr>
              <a:t>In-Cabin Health Monitoring System for </a:t>
            </a:r>
            <a:br>
              <a:rPr lang="en-US" altLang="en-US" sz="2800" b="1" dirty="0">
                <a:solidFill>
                  <a:srgbClr val="0070C0"/>
                </a:solidFill>
                <a:latin typeface="Times New Roman" panose="02020603050405020304" pitchFamily="18" charset="0"/>
                <a:cs typeface="Times New Roman" panose="02020603050405020304" pitchFamily="18" charset="0"/>
              </a:rPr>
            </a:br>
            <a:r>
              <a:rPr lang="en-US" altLang="en-US" sz="2800" b="1" dirty="0">
                <a:solidFill>
                  <a:srgbClr val="0070C0"/>
                </a:solidFill>
                <a:latin typeface="Times New Roman" panose="02020603050405020304" pitchFamily="18" charset="0"/>
                <a:cs typeface="Times New Roman" panose="02020603050405020304" pitchFamily="18" charset="0"/>
              </a:rPr>
              <a:t>Passengers Safety in Semi-Autonomous Vehicles </a:t>
            </a:r>
            <a:endParaRPr lang="en-IN" altLang="en-US" sz="2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922E1D-12BC-3E17-BA9A-983FDED51963}"/>
              </a:ext>
            </a:extLst>
          </p:cNvPr>
          <p:cNvSpPr>
            <a:spLocks noGrp="1"/>
          </p:cNvSpPr>
          <p:nvPr>
            <p:ph idx="1"/>
          </p:nvPr>
        </p:nvSpPr>
        <p:spPr>
          <a:xfrm>
            <a:off x="2411412" y="4242777"/>
            <a:ext cx="4105275" cy="1222375"/>
          </a:xfrm>
        </p:spPr>
        <p:txBody>
          <a:bodyPr rtlCol="0">
            <a:normAutofit/>
          </a:bodyPr>
          <a:lstStyle/>
          <a:p>
            <a:pPr marL="0" indent="0" algn="ctr" eaLnBrk="1" fontAlgn="auto" hangingPunct="1">
              <a:spcAft>
                <a:spcPts val="0"/>
              </a:spcAft>
              <a:buFont typeface="Arial" panose="020B0604020202020204" pitchFamily="34" charset="0"/>
              <a:buNone/>
              <a:defRPr/>
            </a:pPr>
            <a:r>
              <a:rPr lang="en-IN" sz="2000" b="1" dirty="0">
                <a:solidFill>
                  <a:srgbClr val="0070C0"/>
                </a:solidFill>
                <a:latin typeface="Times New Roman" panose="02020603050405020304" pitchFamily="18" charset="0"/>
                <a:cs typeface="Times New Roman" panose="02020603050405020304" pitchFamily="18" charset="0"/>
              </a:rPr>
              <a:t>Under the Guidance of</a:t>
            </a:r>
          </a:p>
          <a:p>
            <a:pPr marL="0" indent="0" algn="ctr" eaLnBrk="1" fontAlgn="auto" hangingPunct="1">
              <a:spcAft>
                <a:spcPts val="0"/>
              </a:spcAft>
              <a:buFont typeface="Arial" panose="020B0604020202020204" pitchFamily="34" charset="0"/>
              <a:buNone/>
              <a:defRPr/>
            </a:pPr>
            <a:r>
              <a:rPr lang="en-IN" altLang="en-US" sz="2000" b="1" dirty="0">
                <a:latin typeface="Times New Roman" panose="02020603050405020304" pitchFamily="18" charset="0"/>
                <a:cs typeface="Times New Roman" panose="02020603050405020304" pitchFamily="18" charset="0"/>
              </a:rPr>
              <a:t>Dr. ANANDHAN K</a:t>
            </a:r>
            <a:endPar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ctr" eaLnBrk="1" fontAlgn="auto" hangingPunct="1">
              <a:spcAft>
                <a:spcPts val="0"/>
              </a:spcAft>
              <a:buFont typeface="Arial" panose="020B0604020202020204" pitchFamily="34" charset="0"/>
              <a:buNone/>
              <a:defRPr/>
            </a:pPr>
            <a:r>
              <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Assistant Professor</a:t>
            </a: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ctr" eaLnBrk="1" fontAlgn="auto" hangingPunct="1">
              <a:spcAft>
                <a:spcPts val="0"/>
              </a:spcAft>
              <a:buFont typeface="Arial" panose="020B0604020202020204" pitchFamily="34" charset="0"/>
              <a:buNone/>
              <a:defRPr/>
            </a:pP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100" name="TextBox 4">
            <a:extLst>
              <a:ext uri="{FF2B5EF4-FFF2-40B4-BE49-F238E27FC236}">
                <a16:creationId xmlns:a16="http://schemas.microsoft.com/office/drawing/2014/main" id="{DDC3464E-686B-5EB3-2C8C-F295F56AD251}"/>
              </a:ext>
            </a:extLst>
          </p:cNvPr>
          <p:cNvSpPr txBox="1">
            <a:spLocks noChangeArrowheads="1"/>
          </p:cNvSpPr>
          <p:nvPr/>
        </p:nvSpPr>
        <p:spPr bwMode="auto">
          <a:xfrm>
            <a:off x="276225" y="2029191"/>
            <a:ext cx="8375650" cy="1946275"/>
          </a:xfrm>
          <a:prstGeom prst="rect">
            <a:avLst/>
          </a:prstGeom>
          <a:noFill/>
          <a:ln>
            <a:noFill/>
          </a:ln>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1" hangingPunct="1">
              <a:defRPr/>
            </a:pPr>
            <a:r>
              <a:rPr lang="en-IN" altLang="en-US" sz="2000" b="1" dirty="0">
                <a:solidFill>
                  <a:srgbClr val="C00000"/>
                </a:solidFill>
                <a:latin typeface="Times New Roman" pitchFamily="18" charset="0"/>
                <a:cs typeface="Times New Roman" pitchFamily="18" charset="0"/>
              </a:rPr>
              <a:t>Presented by the Batch No. : IOT-15</a:t>
            </a:r>
          </a:p>
          <a:p>
            <a:pPr>
              <a:defRPr/>
            </a:pPr>
            <a:endParaRPr lang="en-US" altLang="en-US" sz="1050" dirty="0">
              <a:solidFill>
                <a:prstClr val="black"/>
              </a:solidFill>
              <a:latin typeface="Times New Roman" pitchFamily="18" charset="0"/>
              <a:cs typeface="Times New Roman" pitchFamily="18" charset="0"/>
            </a:endParaRPr>
          </a:p>
          <a:p>
            <a:pPr algn="ctr">
              <a:defRPr/>
            </a:pPr>
            <a:r>
              <a:rPr lang="en-US" altLang="en-US" sz="1800" dirty="0">
                <a:solidFill>
                  <a:prstClr val="black"/>
                </a:solidFill>
                <a:latin typeface="Times New Roman" pitchFamily="18" charset="0"/>
                <a:cs typeface="Times New Roman" pitchFamily="18" charset="0"/>
              </a:rPr>
              <a:t>                 </a:t>
            </a:r>
            <a:r>
              <a:rPr lang="en-US" altLang="en-US" sz="1800" b="1" dirty="0">
                <a:solidFill>
                  <a:prstClr val="black"/>
                </a:solidFill>
                <a:latin typeface="Times New Roman" pitchFamily="18" charset="0"/>
                <a:cs typeface="Times New Roman" pitchFamily="18" charset="0"/>
              </a:rPr>
              <a:t>GALI ROHITH              </a:t>
            </a:r>
            <a:r>
              <a:rPr lang="it-IT" altLang="en-US" sz="1800" b="1" dirty="0">
                <a:solidFill>
                  <a:prstClr val="black"/>
                </a:solidFill>
                <a:latin typeface="Times New Roman" pitchFamily="18" charset="0"/>
                <a:cs typeface="Times New Roman" pitchFamily="18" charset="0"/>
              </a:rPr>
              <a:t>BU22CSEN0600072</a:t>
            </a:r>
            <a:r>
              <a:rPr lang="en-US" altLang="en-US" sz="1800" b="1" dirty="0">
                <a:solidFill>
                  <a:prstClr val="black"/>
                </a:solidFill>
                <a:latin typeface="Times New Roman" pitchFamily="18" charset="0"/>
                <a:cs typeface="Times New Roman" pitchFamily="18" charset="0"/>
              </a:rPr>
              <a:t>(TL) </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P SURENDRA 	</a:t>
            </a:r>
            <a:r>
              <a:rPr lang="it-IT" altLang="en-US" sz="1800" b="1" dirty="0">
                <a:solidFill>
                  <a:prstClr val="black"/>
                </a:solidFill>
                <a:latin typeface="Times New Roman" pitchFamily="18" charset="0"/>
                <a:cs typeface="Times New Roman" pitchFamily="18" charset="0"/>
              </a:rPr>
              <a:t>BU22CSEN0600049 </a:t>
            </a:r>
          </a:p>
          <a:p>
            <a:pPr>
              <a:defRPr/>
            </a:pPr>
            <a:r>
              <a:rPr lang="it-IT" altLang="en-US" sz="1800" b="1" dirty="0">
                <a:solidFill>
                  <a:prstClr val="black"/>
                </a:solidFill>
                <a:latin typeface="Times New Roman" pitchFamily="18" charset="0"/>
                <a:cs typeface="Times New Roman" pitchFamily="18" charset="0"/>
              </a:rPr>
              <a:t>		      G S VIKRAM 		BU22CSEN0600040</a:t>
            </a:r>
            <a:r>
              <a:rPr lang="en-US" altLang="en-US" sz="1800" b="1" dirty="0">
                <a:solidFill>
                  <a:prstClr val="black"/>
                </a:solidFill>
                <a:latin typeface="Times New Roman" pitchFamily="18" charset="0"/>
                <a:cs typeface="Times New Roman" pitchFamily="18" charset="0"/>
              </a:rPr>
              <a:t>                               </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K RAM PRASAD	BU22CSEN0600140</a:t>
            </a:r>
          </a:p>
          <a:p>
            <a:pPr>
              <a:defRPr/>
            </a:pPr>
            <a:r>
              <a:rPr lang="en-US" altLang="en-US" sz="1800" b="1" dirty="0">
                <a:solidFill>
                  <a:prstClr val="black"/>
                </a:solidFill>
                <a:latin typeface="Times New Roman" pitchFamily="18" charset="0"/>
                <a:cs typeface="Times New Roman" pitchFamily="18" charset="0"/>
              </a:rPr>
              <a:t>		      S B JEEVAN		BU22CSEN0600194</a:t>
            </a:r>
            <a:endParaRPr lang="en-US" altLang="en-US" sz="1800" dirty="0">
              <a:solidFill>
                <a:prstClr val="black"/>
              </a:solidFill>
              <a:latin typeface="Times New Roman" pitchFamily="18" charset="0"/>
              <a:cs typeface="Times New Roman" pitchFamily="18" charset="0"/>
            </a:endParaRPr>
          </a:p>
        </p:txBody>
      </p:sp>
      <p:sp>
        <p:nvSpPr>
          <p:cNvPr id="4101" name="Rectangle 11">
            <a:extLst>
              <a:ext uri="{FF2B5EF4-FFF2-40B4-BE49-F238E27FC236}">
                <a16:creationId xmlns:a16="http://schemas.microsoft.com/office/drawing/2014/main" id="{BAFA825B-0A58-0AAA-302C-D10A5AEDAF6E}"/>
              </a:ext>
            </a:extLst>
          </p:cNvPr>
          <p:cNvSpPr>
            <a:spLocks noChangeArrowheads="1"/>
          </p:cNvSpPr>
          <p:nvPr/>
        </p:nvSpPr>
        <p:spPr bwMode="auto">
          <a:xfrm>
            <a:off x="539750" y="5522912"/>
            <a:ext cx="828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000" b="1" dirty="0">
                <a:solidFill>
                  <a:srgbClr val="000099"/>
                </a:solidFill>
                <a:latin typeface="Times New Roman" panose="02020603050405020304" pitchFamily="18" charset="0"/>
                <a:cs typeface="Times New Roman" panose="02020603050405020304" pitchFamily="18" charset="0"/>
              </a:rPr>
              <a:t>Department of Artificial Intelligence &amp; Data Science</a:t>
            </a:r>
          </a:p>
          <a:p>
            <a:pPr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GITAM School of CSE, GITAM (Deemed to be University),</a:t>
            </a:r>
          </a:p>
          <a:p>
            <a:pPr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Bengaluru, Karnataka, INDIA.</a:t>
            </a:r>
            <a:endParaRPr lang="en-IN" altLang="en-US" sz="2000" b="1" dirty="0">
              <a:solidFill>
                <a:srgbClr val="000099"/>
              </a:solidFill>
              <a:latin typeface="Times New Roman" panose="02020603050405020304" pitchFamily="18" charset="0"/>
              <a:cs typeface="Times New Roman" panose="02020603050405020304" pitchFamily="18" charset="0"/>
            </a:endParaRPr>
          </a:p>
        </p:txBody>
      </p:sp>
      <p:pic>
        <p:nvPicPr>
          <p:cNvPr id="4102" name="Picture 2" descr="D:\GITAM-GST-CSE\2024-25\Capstone-Project\GITAM-newlogo.jpeg">
            <a:extLst>
              <a:ext uri="{FF2B5EF4-FFF2-40B4-BE49-F238E27FC236}">
                <a16:creationId xmlns:a16="http://schemas.microsoft.com/office/drawing/2014/main" id="{01E4853B-AEF7-7A66-53BB-5AC305A2D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C571AC3-5412-CA2E-5C16-9C92E753F494}"/>
              </a:ext>
            </a:extLst>
          </p:cNvPr>
          <p:cNvSpPr>
            <a:spLocks noGrp="1"/>
          </p:cNvSpPr>
          <p:nvPr>
            <p:ph type="sldNum" sz="quarter" idx="12"/>
          </p:nvPr>
        </p:nvSpPr>
        <p:spPr/>
        <p:txBody>
          <a:bodyPr/>
          <a:lstStyle/>
          <a:p>
            <a:pPr>
              <a:defRPr/>
            </a:pPr>
            <a:fld id="{E113549D-5E3D-443F-83C5-99A51A0DB440}" type="slidenum">
              <a:rPr lang="en-US" altLang="en-US" smtClean="0"/>
              <a:pPr>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4C83784-F9D5-692B-097E-E798F63E962F}"/>
              </a:ext>
            </a:extLst>
          </p:cNvPr>
          <p:cNvSpPr>
            <a:spLocks noGrp="1"/>
          </p:cNvSpPr>
          <p:nvPr>
            <p:ph type="title"/>
          </p:nvPr>
        </p:nvSpPr>
        <p:spPr>
          <a:xfrm>
            <a:off x="755650" y="538163"/>
            <a:ext cx="5276850" cy="885825"/>
          </a:xfrm>
        </p:spPr>
        <p:txBody>
          <a:bodyPr/>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CAFBD2A2-E53F-CB28-6FEC-C21EB5FB65DA}"/>
              </a:ext>
            </a:extLst>
          </p:cNvPr>
          <p:cNvSpPr>
            <a:spLocks noGrp="1"/>
          </p:cNvSpPr>
          <p:nvPr>
            <p:ph idx="1"/>
          </p:nvPr>
        </p:nvSpPr>
        <p:spPr>
          <a:xfrm>
            <a:off x="755650" y="1417638"/>
            <a:ext cx="7931150" cy="4459287"/>
          </a:xfrm>
        </p:spPr>
        <p:txBody>
          <a:bodyPr rtlCol="0">
            <a:noAutofit/>
          </a:bodyPr>
          <a:lstStyle/>
          <a:p>
            <a:pPr marL="457200" indent="-457200" eaLnBrk="1" fontAlgn="auto" hangingPunct="1">
              <a:spcAft>
                <a:spcPts val="0"/>
              </a:spcAft>
              <a:buFont typeface="+mj-lt"/>
              <a:buAutoNum type="arabicPeriod"/>
              <a:defRPr/>
            </a:pPr>
            <a:r>
              <a:rPr lang="en-IN" sz="2800" dirty="0">
                <a:latin typeface="Times New Roman" panose="02020603050405020304" pitchFamily="18" charset="0"/>
                <a:cs typeface="Times New Roman" panose="02020603050405020304" pitchFamily="18" charset="0"/>
              </a:rPr>
              <a:t>Abstract</a:t>
            </a:r>
          </a:p>
          <a:p>
            <a:pPr marL="457200" indent="-457200" eaLnBrk="1" fontAlgn="auto" hangingPunct="1">
              <a:spcAft>
                <a:spcPts val="0"/>
              </a:spcAft>
              <a:buFont typeface="+mj-lt"/>
              <a:buAutoNum type="arabicPeriod"/>
              <a:defRPr/>
            </a:pPr>
            <a:r>
              <a:rPr lang="en-IN" sz="2800" dirty="0">
                <a:latin typeface="Times New Roman" panose="02020603050405020304" pitchFamily="18" charset="0"/>
                <a:cs typeface="Times New Roman" panose="02020603050405020304" pitchFamily="18" charset="0"/>
              </a:rPr>
              <a:t>Introduction</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Literature Survey</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Problem Statements</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Objectives</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Work Breakdown &amp; Task Allocation</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Timeline &amp; Milestones (Gantt Chart)</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Conclusion</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References</a:t>
            </a:r>
          </a:p>
          <a:p>
            <a:pPr marL="0" indent="0" eaLnBrk="1" fontAlgn="auto" hangingPunct="1">
              <a:spcAft>
                <a:spcPts val="0"/>
              </a:spcAft>
              <a:buFont typeface="Arial" panose="020B0604020202020204" pitchFamily="34" charset="0"/>
              <a:buNone/>
              <a:defRPr/>
            </a:pPr>
            <a:endParaRPr lang="en-IN" sz="2800" dirty="0">
              <a:solidFill>
                <a:srgbClr val="92D050"/>
              </a:solidFill>
              <a:latin typeface="Times New Roman" panose="02020603050405020304" pitchFamily="18" charset="0"/>
              <a:cs typeface="Times New Roman" panose="02020603050405020304" pitchFamily="18" charset="0"/>
            </a:endParaRPr>
          </a:p>
          <a:p>
            <a:pPr marL="457200" indent="-457200" eaLnBrk="1" fontAlgn="auto" hangingPunct="1">
              <a:spcAft>
                <a:spcPts val="0"/>
              </a:spcAft>
              <a:buFont typeface="+mj-lt"/>
              <a:buAutoNum type="arabicPeriod"/>
              <a:defRPr/>
            </a:pPr>
            <a:endParaRPr lang="en-US" sz="2800" dirty="0">
              <a:solidFill>
                <a:srgbClr val="92D050"/>
              </a:solidFill>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endParaRPr lang="en-IN" sz="2000" dirty="0">
              <a:latin typeface="Times New Roman" panose="02020603050405020304" pitchFamily="18" charset="0"/>
              <a:cs typeface="Times New Roman" panose="02020603050405020304" pitchFamily="18" charset="0"/>
            </a:endParaRPr>
          </a:p>
        </p:txBody>
      </p:sp>
      <p:pic>
        <p:nvPicPr>
          <p:cNvPr id="5124" name="Picture 2" descr="D:\GITAM-GST-CSE\2024-25\Capstone-Project\GITAM-newlogo.jpeg">
            <a:extLst>
              <a:ext uri="{FF2B5EF4-FFF2-40B4-BE49-F238E27FC236}">
                <a16:creationId xmlns:a16="http://schemas.microsoft.com/office/drawing/2014/main" id="{89209C07-1AA1-D990-FFC5-BD36CBC37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B4DA4C47-4A2B-449B-E3F4-19ECC81611EF}"/>
              </a:ext>
            </a:extLst>
          </p:cNvPr>
          <p:cNvSpPr>
            <a:spLocks noGrp="1"/>
          </p:cNvSpPr>
          <p:nvPr>
            <p:ph type="sldNum" sz="quarter" idx="12"/>
          </p:nvPr>
        </p:nvSpPr>
        <p:spPr/>
        <p:txBody>
          <a:bodyPr/>
          <a:lstStyle/>
          <a:p>
            <a:pPr>
              <a:defRPr/>
            </a:pPr>
            <a:fld id="{15E9D1B8-7EF6-4D9C-8694-90B5BDA32D3D}" type="slidenum">
              <a:rPr lang="en-IN" altLang="en-US" smtClean="0"/>
              <a:pPr>
                <a:defRPr/>
              </a:pPr>
              <a:t>2</a:t>
            </a:fld>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GITAM-GST-CSE\2024-25\Capstone-Project\GITAM-newlogo.jpeg">
            <a:extLst>
              <a:ext uri="{FF2B5EF4-FFF2-40B4-BE49-F238E27FC236}">
                <a16:creationId xmlns:a16="http://schemas.microsoft.com/office/drawing/2014/main" id="{6437FE0A-37E9-A62F-ECC5-33315B207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a:extLst>
              <a:ext uri="{FF2B5EF4-FFF2-40B4-BE49-F238E27FC236}">
                <a16:creationId xmlns:a16="http://schemas.microsoft.com/office/drawing/2014/main" id="{3A0285DB-7122-ECA2-9AFC-AC0A60EAB6CC}"/>
              </a:ext>
            </a:extLst>
          </p:cNvPr>
          <p:cNvSpPr>
            <a:spLocks noChangeArrowheads="1"/>
          </p:cNvSpPr>
          <p:nvPr/>
        </p:nvSpPr>
        <p:spPr bwMode="auto">
          <a:xfrm>
            <a:off x="3370263" y="442913"/>
            <a:ext cx="2401887" cy="523875"/>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defRPr/>
            </a:pPr>
            <a:r>
              <a:rPr lang="en-IN" altLang="en-US" sz="2800" b="1">
                <a:solidFill>
                  <a:srgbClr val="0070C0"/>
                </a:solidFill>
                <a:latin typeface="Times New Roman" panose="02020603050405020304" pitchFamily="18" charset="0"/>
                <a:ea typeface="+mj-ea"/>
                <a:cs typeface="Times New Roman" panose="02020603050405020304" pitchFamily="18" charset="0"/>
              </a:rPr>
              <a:t>Abstract</a:t>
            </a:r>
            <a:endParaRPr lang="en-IN" altLang="en-US" b="1">
              <a:solidFill>
                <a:srgbClr val="0070C0"/>
              </a:solidFill>
              <a:latin typeface="Times New Roman" panose="02020603050405020304" pitchFamily="18" charset="0"/>
              <a:ea typeface="+mj-ea"/>
              <a:cs typeface="Times New Roman" panose="02020603050405020304" pitchFamily="18" charset="0"/>
            </a:endParaRPr>
          </a:p>
        </p:txBody>
      </p:sp>
      <p:sp>
        <p:nvSpPr>
          <p:cNvPr id="6148" name="Rectangle 6">
            <a:extLst>
              <a:ext uri="{FF2B5EF4-FFF2-40B4-BE49-F238E27FC236}">
                <a16:creationId xmlns:a16="http://schemas.microsoft.com/office/drawing/2014/main" id="{1B3D3586-7972-FD5F-D39F-2C280C1993EC}"/>
              </a:ext>
            </a:extLst>
          </p:cNvPr>
          <p:cNvSpPr>
            <a:spLocks noChangeArrowheads="1"/>
          </p:cNvSpPr>
          <p:nvPr/>
        </p:nvSpPr>
        <p:spPr bwMode="auto">
          <a:xfrm>
            <a:off x="611188" y="1196975"/>
            <a:ext cx="7993062" cy="5238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buNone/>
            </a:pPr>
            <a:r>
              <a:rPr lang="en-US" altLang="en-US" sz="2000" dirty="0">
                <a:latin typeface="Times New Roman" panose="02020603050405020304" pitchFamily="18" charset="0"/>
                <a:cs typeface="Times New Roman" panose="02020603050405020304" pitchFamily="18" charset="0"/>
              </a:rPr>
              <a:t>Our research focuses on in-cabin passenger safety, specifically autonomous cars without drivers. In such cases, medical emergencies may arise, and no one will be present to assist the passenger. To address this problem, we will implement and deploy an in-car safety system using a ZED2 camera, an ECG sensor, and deep learning models</a:t>
            </a:r>
            <a:r>
              <a:rPr lang="en-IN" altLang="en-US" sz="2000" dirty="0">
                <a:latin typeface="Times New Roman" panose="02020603050405020304" pitchFamily="18" charset="0"/>
                <a:cs typeface="Times New Roman" panose="02020603050405020304" pitchFamily="18" charset="0"/>
              </a:rPr>
              <a:t>.</a:t>
            </a:r>
          </a:p>
          <a:p>
            <a:pPr algn="just">
              <a:lnSpc>
                <a:spcPct val="150000"/>
              </a:lnSpc>
              <a:buNone/>
            </a:pPr>
            <a:r>
              <a:rPr lang="de-DE" altLang="en-US" sz="2000" dirty="0">
                <a:latin typeface="Times New Roman" panose="02020603050405020304" pitchFamily="18" charset="0"/>
                <a:cs typeface="Times New Roman" panose="02020603050405020304" pitchFamily="18" charset="0"/>
              </a:rPr>
              <a:t>The </a:t>
            </a:r>
            <a:r>
              <a:rPr lang="en-US" altLang="en-US" sz="2000" dirty="0">
                <a:latin typeface="Times New Roman" panose="02020603050405020304" pitchFamily="18" charset="0"/>
                <a:cs typeface="Times New Roman" panose="02020603050405020304" pitchFamily="18" charset="0"/>
              </a:rPr>
              <a:t>deep learning model YOLO is based on object detection. It includes built-in models, such as using ResNet for feature extraction and as a backbone for PoseNet and GazeNet for performing tasks like PoseNet for posture and GazeNet for eye tracking. For passenger heart rate detection, we use ECG sensors to identify any abnormalities and potential issues.</a:t>
            </a:r>
          </a:p>
          <a:p>
            <a:pPr algn="just">
              <a:lnSpc>
                <a:spcPct val="150000"/>
              </a:lnSpc>
              <a:buNone/>
            </a:pPr>
            <a:endParaRPr lang="en-I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GITAM-GST-CSE\2024-25\Capstone-Project\GITAM-newlogo.jpeg">
            <a:extLst>
              <a:ext uri="{FF2B5EF4-FFF2-40B4-BE49-F238E27FC236}">
                <a16:creationId xmlns:a16="http://schemas.microsoft.com/office/drawing/2014/main" id="{44DA6EE0-183B-41B9-AC8C-9D70C851D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a:extLst>
              <a:ext uri="{FF2B5EF4-FFF2-40B4-BE49-F238E27FC236}">
                <a16:creationId xmlns:a16="http://schemas.microsoft.com/office/drawing/2014/main" id="{6C65C117-6C91-192B-B1B9-E89A1F3193FC}"/>
              </a:ext>
            </a:extLst>
          </p:cNvPr>
          <p:cNvSpPr>
            <a:spLocks noChangeArrowheads="1"/>
          </p:cNvSpPr>
          <p:nvPr/>
        </p:nvSpPr>
        <p:spPr bwMode="auto">
          <a:xfrm>
            <a:off x="3233737" y="547718"/>
            <a:ext cx="2676525" cy="58420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defRPr/>
            </a:pPr>
            <a:r>
              <a:rPr lang="en-IN" altLang="en-US" sz="2800" b="1" dirty="0">
                <a:solidFill>
                  <a:srgbClr val="0070C0"/>
                </a:solidFill>
                <a:latin typeface="Times New Roman" panose="02020603050405020304" pitchFamily="18" charset="0"/>
                <a:ea typeface="+mj-ea"/>
                <a:cs typeface="Times New Roman" panose="02020603050405020304" pitchFamily="18" charset="0"/>
              </a:rPr>
              <a:t>Abstract</a:t>
            </a:r>
            <a:r>
              <a:rPr lang="en-IN" altLang="en-US" b="1" dirty="0">
                <a:solidFill>
                  <a:srgbClr val="0070C0"/>
                </a:solidFill>
                <a:latin typeface="Times New Roman" panose="02020603050405020304" pitchFamily="18" charset="0"/>
                <a:cs typeface="Times New Roman" panose="02020603050405020304" pitchFamily="18" charset="0"/>
              </a:rPr>
              <a:t> </a:t>
            </a:r>
            <a:r>
              <a:rPr lang="en-IN" altLang="en-US" sz="2800" b="1" dirty="0">
                <a:solidFill>
                  <a:srgbClr val="0070C0"/>
                </a:solidFill>
                <a:latin typeface="Times New Roman" panose="02020603050405020304" pitchFamily="18" charset="0"/>
                <a:cs typeface="Times New Roman" panose="02020603050405020304" pitchFamily="18" charset="0"/>
              </a:rPr>
              <a:t>..</a:t>
            </a:r>
            <a:r>
              <a:rPr lang="en-IN" altLang="en-US" sz="2800" b="1" dirty="0" err="1">
                <a:solidFill>
                  <a:srgbClr val="0070C0"/>
                </a:solidFill>
                <a:latin typeface="Times New Roman" panose="02020603050405020304" pitchFamily="18" charset="0"/>
                <a:cs typeface="Times New Roman" panose="02020603050405020304" pitchFamily="18" charset="0"/>
              </a:rPr>
              <a:t>contd</a:t>
            </a:r>
            <a:endParaRPr lang="en-IN" altLang="en-US" b="1" dirty="0">
              <a:solidFill>
                <a:srgbClr val="0070C0"/>
              </a:solidFill>
              <a:latin typeface="Times New Roman" panose="02020603050405020304" pitchFamily="18" charset="0"/>
              <a:ea typeface="+mj-ea"/>
              <a:cs typeface="Times New Roman" panose="02020603050405020304" pitchFamily="18" charset="0"/>
            </a:endParaRPr>
          </a:p>
        </p:txBody>
      </p:sp>
      <p:sp>
        <p:nvSpPr>
          <p:cNvPr id="7172" name="Rectangle 6">
            <a:extLst>
              <a:ext uri="{FF2B5EF4-FFF2-40B4-BE49-F238E27FC236}">
                <a16:creationId xmlns:a16="http://schemas.microsoft.com/office/drawing/2014/main" id="{9DA981B2-BB5E-469C-85F3-3B86518BD9DD}"/>
              </a:ext>
            </a:extLst>
          </p:cNvPr>
          <p:cNvSpPr>
            <a:spLocks noChangeArrowheads="1"/>
          </p:cNvSpPr>
          <p:nvPr/>
        </p:nvSpPr>
        <p:spPr bwMode="auto">
          <a:xfrm>
            <a:off x="755650" y="1471979"/>
            <a:ext cx="7937500" cy="4776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buNone/>
            </a:pPr>
            <a:r>
              <a:rPr lang="en-US" altLang="en-US" sz="2000" dirty="0">
                <a:latin typeface="Times New Roman" panose="02020603050405020304" pitchFamily="18" charset="0"/>
                <a:cs typeface="Times New Roman" panose="02020603050405020304" pitchFamily="18" charset="0"/>
              </a:rPr>
              <a:t>The proposed solution is to build a safety system for the passenger using ZED2 cameras, ECG sensors, and a Jetson developer kit (HPC) to process the data to detect if any emergency is required. In the event of an emergency, an automation will be triggered, causing the vehicle to redirect itself to the nearest hospital and send alerts using the V2X communication</a:t>
            </a:r>
            <a:r>
              <a:rPr lang="en-IN" altLang="en-US" sz="2000" dirty="0">
                <a:latin typeface="Times New Roman" panose="02020603050405020304" pitchFamily="18" charset="0"/>
                <a:cs typeface="Times New Roman" panose="02020603050405020304" pitchFamily="18" charset="0"/>
              </a:rPr>
              <a:t>. </a:t>
            </a:r>
          </a:p>
          <a:p>
            <a:pPr algn="just">
              <a:lnSpc>
                <a:spcPct val="150000"/>
              </a:lnSpc>
              <a:buNone/>
            </a:pPr>
            <a:r>
              <a:rPr lang="en-US" altLang="en-US" sz="2000" dirty="0">
                <a:latin typeface="Times New Roman" panose="02020603050405020304" pitchFamily="18" charset="0"/>
                <a:cs typeface="Times New Roman" panose="02020603050405020304" pitchFamily="18" charset="0"/>
              </a:rPr>
              <a:t>The system continuously monitors passenger health and behavior using a deep learning model and integrates sensors with the HPC to identify potential medical abnormalities. This ensures timely intervention and enhances passenger safety.</a:t>
            </a:r>
          </a:p>
          <a:p>
            <a:pPr algn="just">
              <a:lnSpc>
                <a:spcPct val="150000"/>
              </a:lnSpc>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2B55B-F832-DC66-15FD-FAF95FA5CFD4}"/>
            </a:ext>
          </a:extLst>
        </p:cNvPr>
        <p:cNvGrpSpPr/>
        <p:nvPr/>
      </p:nvGrpSpPr>
      <p:grpSpPr>
        <a:xfrm>
          <a:off x="0" y="0"/>
          <a:ext cx="0" cy="0"/>
          <a:chOff x="0" y="0"/>
          <a:chExt cx="0" cy="0"/>
        </a:xfrm>
      </p:grpSpPr>
      <p:pic>
        <p:nvPicPr>
          <p:cNvPr id="9218" name="Picture 2" descr="D:\GITAM-GST-CSE\2024-25\Capstone-Project\GITAM-newlogo.jpeg">
            <a:extLst>
              <a:ext uri="{FF2B5EF4-FFF2-40B4-BE49-F238E27FC236}">
                <a16:creationId xmlns:a16="http://schemas.microsoft.com/office/drawing/2014/main" id="{1A31D4AE-22C3-36A2-F86D-9D6D636E3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2">
            <a:extLst>
              <a:ext uri="{FF2B5EF4-FFF2-40B4-BE49-F238E27FC236}">
                <a16:creationId xmlns:a16="http://schemas.microsoft.com/office/drawing/2014/main" id="{1F8EA437-E8FA-59E0-0D20-790A9F03D415}"/>
              </a:ext>
            </a:extLst>
          </p:cNvPr>
          <p:cNvSpPr>
            <a:spLocks noChangeArrowheads="1"/>
          </p:cNvSpPr>
          <p:nvPr/>
        </p:nvSpPr>
        <p:spPr bwMode="auto">
          <a:xfrm>
            <a:off x="3503613" y="411163"/>
            <a:ext cx="2136775"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defRPr/>
            </a:pPr>
            <a:r>
              <a:rPr lang="en-IN" altLang="en-US" sz="2800" b="1">
                <a:solidFill>
                  <a:srgbClr val="0070C0"/>
                </a:solidFill>
                <a:latin typeface="Times New Roman" panose="02020603050405020304" pitchFamily="18" charset="0"/>
                <a:ea typeface="+mj-ea"/>
                <a:cs typeface="Times New Roman" panose="02020603050405020304" pitchFamily="18" charset="0"/>
              </a:rPr>
              <a:t>Introduction</a:t>
            </a:r>
          </a:p>
        </p:txBody>
      </p:sp>
      <p:sp>
        <p:nvSpPr>
          <p:cNvPr id="4" name="TextBox 2">
            <a:extLst>
              <a:ext uri="{FF2B5EF4-FFF2-40B4-BE49-F238E27FC236}">
                <a16:creationId xmlns:a16="http://schemas.microsoft.com/office/drawing/2014/main" id="{A9DE897C-DC93-345E-BDB7-F8997CBC0745}"/>
              </a:ext>
            </a:extLst>
          </p:cNvPr>
          <p:cNvSpPr txBox="1">
            <a:spLocks noChangeArrowheads="1"/>
          </p:cNvSpPr>
          <p:nvPr/>
        </p:nvSpPr>
        <p:spPr bwMode="auto">
          <a:xfrm>
            <a:off x="368710" y="935038"/>
            <a:ext cx="8406580" cy="603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None/>
            </a:pPr>
            <a:r>
              <a:rPr lang="en-US" sz="2000" b="1" dirty="0">
                <a:latin typeface="Times New Roman" panose="02020603050405020304" pitchFamily="18" charset="0"/>
                <a:cs typeface="Times New Roman" panose="02020603050405020304" pitchFamily="18" charset="0"/>
              </a:rPr>
              <a:t>Importance of In-Cabin Monitoring in Autonomous Vehicles</a:t>
            </a:r>
            <a:endParaRPr lang="en-US" altLang="en-US" sz="2000" b="1" dirty="0">
              <a:latin typeface="Times New Roman" panose="02020603050405020304" pitchFamily="18" charset="0"/>
              <a:cs typeface="Times New Roman" panose="02020603050405020304" pitchFamily="18" charset="0"/>
            </a:endParaRPr>
          </a:p>
          <a:p>
            <a:pPr marL="342900" indent="-342900" algn="just">
              <a:lnSpc>
                <a:spcPct val="150000"/>
              </a:lnSpc>
              <a:spcBef>
                <a:spcPct val="0"/>
              </a:spcBef>
            </a:pPr>
            <a:r>
              <a:rPr lang="en-US" altLang="en-US" sz="2000" dirty="0">
                <a:latin typeface="Times New Roman" panose="02020603050405020304" pitchFamily="18" charset="0"/>
                <a:cs typeface="Times New Roman" panose="02020603050405020304" pitchFamily="18" charset="0"/>
              </a:rPr>
              <a:t>The evolution of semi-autonomous vehicles is reshaping transportation by reducing direct human involvement in driving tasks. </a:t>
            </a:r>
          </a:p>
          <a:p>
            <a:pPr marL="285750" indent="-285750" algn="just">
              <a:lnSpc>
                <a:spcPct val="150000"/>
              </a:lnSpc>
              <a:spcBef>
                <a:spcPct val="0"/>
              </a:spcBef>
            </a:pPr>
            <a:r>
              <a:rPr lang="en-US" altLang="en-US" sz="2000" dirty="0">
                <a:latin typeface="Times New Roman" panose="02020603050405020304" pitchFamily="18" charset="0"/>
                <a:cs typeface="Times New Roman" panose="02020603050405020304" pitchFamily="18" charset="0"/>
              </a:rPr>
              <a:t>Enhancing occupant safety becomes critical as driver oversight declines in modern vehicles.</a:t>
            </a:r>
            <a:endParaRPr lang="en-US" altLang="en-US" sz="2000" b="1" dirty="0">
              <a:latin typeface="Times New Roman" panose="02020603050405020304" pitchFamily="18" charset="0"/>
              <a:cs typeface="Times New Roman" panose="02020603050405020304" pitchFamily="18" charset="0"/>
            </a:endParaRPr>
          </a:p>
          <a:p>
            <a:pPr marL="342900" indent="-342900" algn="just">
              <a:lnSpc>
                <a:spcPct val="150000"/>
              </a:lnSpc>
              <a:spcBef>
                <a:spcPct val="0"/>
              </a:spcBef>
            </a:pPr>
            <a:r>
              <a:rPr lang="en-US" altLang="en-US" sz="2000" dirty="0">
                <a:latin typeface="Times New Roman" panose="02020603050405020304" pitchFamily="18" charset="0"/>
                <a:cs typeface="Times New Roman" panose="02020603050405020304" pitchFamily="18" charset="0"/>
              </a:rPr>
              <a:t>In-cabin monitoring to detect drowsiness, collapse, unsafe acts, and emergencies.</a:t>
            </a:r>
          </a:p>
          <a:p>
            <a:pPr algn="just">
              <a:lnSpc>
                <a:spcPct val="150000"/>
              </a:lnSpc>
              <a:spcBef>
                <a:spcPct val="0"/>
              </a:spcBef>
              <a:buNone/>
            </a:pPr>
            <a:endParaRPr lang="en-US" altLang="en-US" sz="2000" dirty="0">
              <a:latin typeface="Times New Roman" panose="02020603050405020304" pitchFamily="18" charset="0"/>
              <a:cs typeface="Times New Roman" panose="02020603050405020304" pitchFamily="18" charset="0"/>
            </a:endParaRPr>
          </a:p>
          <a:p>
            <a:pPr algn="just">
              <a:lnSpc>
                <a:spcPct val="150000"/>
              </a:lnSpc>
              <a:spcBef>
                <a:spcPct val="0"/>
              </a:spcBef>
              <a:buNone/>
            </a:pPr>
            <a:r>
              <a:rPr lang="en-US" altLang="en-US" sz="2000" b="1" dirty="0">
                <a:latin typeface="Times New Roman" panose="02020603050405020304" pitchFamily="18" charset="0"/>
                <a:cs typeface="Times New Roman" panose="02020603050405020304" pitchFamily="18" charset="0"/>
              </a:rPr>
              <a:t>Sensor and Camera Input</a:t>
            </a:r>
          </a:p>
          <a:p>
            <a:pPr marL="342900" indent="-342900" algn="just">
              <a:lnSpc>
                <a:spcPct val="150000"/>
              </a:lnSpc>
              <a:spcBef>
                <a:spcPct val="0"/>
              </a:spcBef>
            </a:pPr>
            <a:r>
              <a:rPr lang="en-US" altLang="en-US" sz="2000" dirty="0">
                <a:latin typeface="Times New Roman" panose="02020603050405020304" pitchFamily="18" charset="0"/>
                <a:cs typeface="Times New Roman" panose="02020603050405020304" pitchFamily="18" charset="0"/>
              </a:rPr>
              <a:t>RGB/IR cabin camera streams processed frame-by-frame.</a:t>
            </a:r>
          </a:p>
          <a:p>
            <a:pPr marL="342900" indent="-342900" algn="just">
              <a:lnSpc>
                <a:spcPct val="150000"/>
              </a:lnSpc>
              <a:spcBef>
                <a:spcPct val="0"/>
              </a:spcBef>
            </a:pPr>
            <a:r>
              <a:rPr lang="en-US" altLang="en-US" sz="2000" dirty="0">
                <a:latin typeface="Times New Roman" panose="02020603050405020304" pitchFamily="18" charset="0"/>
                <a:cs typeface="Times New Roman" panose="02020603050405020304" pitchFamily="18" charset="0"/>
              </a:rPr>
              <a:t>ECG sensors combined with camera-based behavior analysis provide continuous and reliable detection of abnormal conditions.</a:t>
            </a:r>
            <a:endParaRPr lang="en-US" altLang="en-US" sz="2000" dirty="0">
              <a:solidFill>
                <a:srgbClr val="1F243C"/>
              </a:solidFill>
              <a:latin typeface="Times New Roman" panose="02020603050405020304" pitchFamily="18" charset="0"/>
              <a:cs typeface="Times New Roman" panose="02020603050405020304" pitchFamily="18" charset="0"/>
            </a:endParaRPr>
          </a:p>
          <a:p>
            <a:pPr marL="285750" indent="-285750" algn="just">
              <a:lnSpc>
                <a:spcPct val="150000"/>
              </a:lnSpc>
              <a:spcBef>
                <a:spcPct val="0"/>
              </a:spcBef>
            </a:pPr>
            <a:endParaRPr lang="en-US" altLang="en-US" sz="2000" dirty="0">
              <a:solidFill>
                <a:srgbClr val="1F24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794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8A2E-10D3-CED5-2D78-49828324F15D}"/>
            </a:ext>
          </a:extLst>
        </p:cNvPr>
        <p:cNvGrpSpPr/>
        <p:nvPr/>
      </p:nvGrpSpPr>
      <p:grpSpPr>
        <a:xfrm>
          <a:off x="0" y="0"/>
          <a:ext cx="0" cy="0"/>
          <a:chOff x="0" y="0"/>
          <a:chExt cx="0" cy="0"/>
        </a:xfrm>
      </p:grpSpPr>
      <p:pic>
        <p:nvPicPr>
          <p:cNvPr id="10242" name="Picture 2" descr="D:\GITAM-GST-CSE\2024-25\Capstone-Project\GITAM-newlogo.jpeg">
            <a:extLst>
              <a:ext uri="{FF2B5EF4-FFF2-40B4-BE49-F238E27FC236}">
                <a16:creationId xmlns:a16="http://schemas.microsoft.com/office/drawing/2014/main" id="{F771DAE3-F5BC-640E-6A57-464076CDD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4">
            <a:extLst>
              <a:ext uri="{FF2B5EF4-FFF2-40B4-BE49-F238E27FC236}">
                <a16:creationId xmlns:a16="http://schemas.microsoft.com/office/drawing/2014/main" id="{07E5B082-6A4C-A99E-C514-9375F4377F4D}"/>
              </a:ext>
            </a:extLst>
          </p:cNvPr>
          <p:cNvSpPr>
            <a:spLocks noChangeArrowheads="1"/>
          </p:cNvSpPr>
          <p:nvPr/>
        </p:nvSpPr>
        <p:spPr bwMode="auto">
          <a:xfrm>
            <a:off x="2676474" y="454025"/>
            <a:ext cx="3175000"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2800" b="1" dirty="0">
                <a:solidFill>
                  <a:srgbClr val="0070C0"/>
                </a:solidFill>
                <a:latin typeface="Times New Roman" panose="02020603050405020304" pitchFamily="18" charset="0"/>
                <a:ea typeface="+mj-ea"/>
                <a:cs typeface="Times New Roman" panose="02020603050405020304" pitchFamily="18" charset="0"/>
              </a:rPr>
              <a:t>Introduction..</a:t>
            </a:r>
            <a:r>
              <a:rPr lang="en-IN" altLang="en-US" sz="2800" b="1" dirty="0" err="1">
                <a:solidFill>
                  <a:srgbClr val="0070C0"/>
                </a:solidFill>
                <a:latin typeface="Times New Roman" panose="02020603050405020304" pitchFamily="18" charset="0"/>
                <a:ea typeface="+mj-ea"/>
                <a:cs typeface="Times New Roman" panose="02020603050405020304" pitchFamily="18" charset="0"/>
              </a:rPr>
              <a:t>contd</a:t>
            </a:r>
            <a:endParaRPr lang="en-IN" altLang="en-US" sz="2800" b="1" dirty="0">
              <a:solidFill>
                <a:srgbClr val="0070C0"/>
              </a:solidFill>
              <a:latin typeface="Times New Roman" panose="02020603050405020304" pitchFamily="18" charset="0"/>
              <a:ea typeface="+mj-ea"/>
              <a:cs typeface="Times New Roman" panose="02020603050405020304" pitchFamily="18" charset="0"/>
            </a:endParaRPr>
          </a:p>
        </p:txBody>
      </p:sp>
      <p:sp>
        <p:nvSpPr>
          <p:cNvPr id="10244" name="TextBox 2">
            <a:extLst>
              <a:ext uri="{FF2B5EF4-FFF2-40B4-BE49-F238E27FC236}">
                <a16:creationId xmlns:a16="http://schemas.microsoft.com/office/drawing/2014/main" id="{26A51E25-2BEF-65CC-B6D3-3AE9D7C778F4}"/>
              </a:ext>
            </a:extLst>
          </p:cNvPr>
          <p:cNvSpPr txBox="1">
            <a:spLocks noChangeArrowheads="1"/>
          </p:cNvSpPr>
          <p:nvPr/>
        </p:nvSpPr>
        <p:spPr bwMode="auto">
          <a:xfrm>
            <a:off x="304800" y="977900"/>
            <a:ext cx="8534400" cy="650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None/>
            </a:pPr>
            <a:r>
              <a:rPr lang="en-US" sz="2000" b="1" dirty="0">
                <a:latin typeface="Times New Roman" panose="02020603050405020304" pitchFamily="18" charset="0"/>
                <a:cs typeface="Times New Roman" panose="02020603050405020304" pitchFamily="18" charset="0"/>
              </a:rPr>
              <a:t>Deep Learning</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spcBef>
                <a:spcPct val="0"/>
              </a:spcBef>
            </a:pPr>
            <a:r>
              <a:rPr lang="en-US" sz="2000" dirty="0">
                <a:latin typeface="Times New Roman" panose="02020603050405020304" pitchFamily="18" charset="0"/>
                <a:cs typeface="Times New Roman" panose="02020603050405020304" pitchFamily="18" charset="0"/>
              </a:rPr>
              <a:t>A model learns to perform classification tasks directly from data such as images, text, or sound.</a:t>
            </a:r>
          </a:p>
          <a:p>
            <a:pPr marL="342900" indent="-342900" algn="just">
              <a:lnSpc>
                <a:spcPct val="150000"/>
              </a:lnSpc>
              <a:spcBef>
                <a:spcPct val="0"/>
              </a:spcBef>
            </a:pPr>
            <a:r>
              <a:rPr lang="en-US" sz="2000" dirty="0">
                <a:latin typeface="Times New Roman" panose="02020603050405020304" pitchFamily="18" charset="0"/>
                <a:cs typeface="Times New Roman" panose="02020603050405020304" pitchFamily="18" charset="0"/>
              </a:rPr>
              <a:t>Deep learning interprets faces, posture, motion, and eye-gaze.</a:t>
            </a:r>
          </a:p>
          <a:p>
            <a:pPr marL="342900" indent="-342900" algn="just">
              <a:lnSpc>
                <a:spcPct val="150000"/>
              </a:lnSpc>
              <a:spcBef>
                <a:spcPct val="0"/>
              </a:spcBef>
            </a:pPr>
            <a:endParaRPr lang="en-US" sz="2000" dirty="0">
              <a:latin typeface="Times New Roman" panose="02020603050405020304" pitchFamily="18" charset="0"/>
              <a:cs typeface="Times New Roman" panose="02020603050405020304" pitchFamily="18" charset="0"/>
            </a:endParaRPr>
          </a:p>
          <a:p>
            <a:pPr algn="just">
              <a:lnSpc>
                <a:spcPct val="150000"/>
              </a:lnSpc>
              <a:spcBef>
                <a:spcPct val="0"/>
              </a:spcBef>
              <a:buNone/>
            </a:pPr>
            <a:r>
              <a:rPr lang="en-US" sz="2000" b="1" dirty="0">
                <a:latin typeface="Times New Roman" panose="02020603050405020304" pitchFamily="18" charset="0"/>
                <a:cs typeface="Times New Roman" panose="02020603050405020304" pitchFamily="18" charset="0"/>
              </a:rPr>
              <a:t>Types of Models</a:t>
            </a:r>
          </a:p>
          <a:p>
            <a:pPr marL="285750" indent="-285750" algn="just">
              <a:lnSpc>
                <a:spcPct val="150000"/>
              </a:lnSpc>
              <a:spcBef>
                <a:spcPct val="0"/>
              </a:spcBef>
            </a:pPr>
            <a:r>
              <a:rPr lang="en-US" sz="2000" dirty="0">
                <a:latin typeface="Times New Roman" panose="02020603050405020304" pitchFamily="18" charset="0"/>
                <a:cs typeface="Times New Roman" panose="02020603050405020304" pitchFamily="18" charset="0"/>
              </a:rPr>
              <a:t>YOLO is used for real-time detection of faces and objects.</a:t>
            </a:r>
          </a:p>
          <a:p>
            <a:pPr marL="285750" indent="-285750" algn="just">
              <a:lnSpc>
                <a:spcPct val="150000"/>
              </a:lnSpc>
              <a:spcBef>
                <a:spcPct val="0"/>
              </a:spcBef>
            </a:pPr>
            <a:r>
              <a:rPr lang="en-US" sz="2000" dirty="0">
                <a:latin typeface="Times New Roman" panose="02020603050405020304" pitchFamily="18" charset="0"/>
                <a:cs typeface="Times New Roman" panose="02020603050405020304" pitchFamily="18" charset="0"/>
              </a:rPr>
              <a:t>ResNet is used for feature extraction for face-state classification (eyes - open/closed, posture - normal/abnormal).</a:t>
            </a:r>
          </a:p>
          <a:p>
            <a:pPr marL="285750" indent="-285750" algn="just">
              <a:lnSpc>
                <a:spcPct val="150000"/>
              </a:lnSpc>
              <a:spcBef>
                <a:spcPct val="0"/>
              </a:spcBef>
            </a:pPr>
            <a:r>
              <a:rPr lang="en-US" sz="2000" dirty="0">
                <a:latin typeface="Times New Roman" panose="02020603050405020304" pitchFamily="18" charset="0"/>
                <a:cs typeface="Times New Roman" panose="02020603050405020304" pitchFamily="18" charset="0"/>
              </a:rPr>
              <a:t>PoseNet is used as body-joint mapping to assess posture and movement (normal vs sleepy).</a:t>
            </a:r>
          </a:p>
          <a:p>
            <a:pPr marL="285750" indent="-285750" algn="just">
              <a:lnSpc>
                <a:spcPct val="150000"/>
              </a:lnSpc>
              <a:spcBef>
                <a:spcPct val="0"/>
              </a:spcBef>
            </a:pPr>
            <a:r>
              <a:rPr lang="en-US" sz="2000" dirty="0">
                <a:latin typeface="Times New Roman" panose="02020603050405020304" pitchFamily="18" charset="0"/>
                <a:cs typeface="Times New Roman" panose="02020603050405020304" pitchFamily="18" charset="0"/>
              </a:rPr>
              <a:t>GazeNet is used for eye direction/closure to infer attention vs. drowsiness.</a:t>
            </a:r>
          </a:p>
          <a:p>
            <a:pPr marL="285750" indent="-285750" algn="just">
              <a:lnSpc>
                <a:spcPct val="150000"/>
              </a:lnSpc>
              <a:spcBef>
                <a:spcPct val="0"/>
              </a:spcBef>
            </a:pPr>
            <a:endParaRPr lang="en-US" sz="2000" dirty="0">
              <a:latin typeface="Times New Roman" panose="02020603050405020304" pitchFamily="18" charset="0"/>
              <a:cs typeface="Times New Roman" panose="02020603050405020304" pitchFamily="18" charset="0"/>
            </a:endParaRPr>
          </a:p>
          <a:p>
            <a:pPr algn="just">
              <a:lnSpc>
                <a:spcPct val="150000"/>
              </a:lnSpc>
              <a:spcBef>
                <a:spcPct val="0"/>
              </a:spcBef>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4238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99B1B-8087-B199-9D89-051B30C36B58}"/>
            </a:ext>
          </a:extLst>
        </p:cNvPr>
        <p:cNvGrpSpPr/>
        <p:nvPr/>
      </p:nvGrpSpPr>
      <p:grpSpPr>
        <a:xfrm>
          <a:off x="0" y="0"/>
          <a:ext cx="0" cy="0"/>
          <a:chOff x="0" y="0"/>
          <a:chExt cx="0" cy="0"/>
        </a:xfrm>
      </p:grpSpPr>
      <p:pic>
        <p:nvPicPr>
          <p:cNvPr id="10242" name="Picture 2" descr="D:\GITAM-GST-CSE\2024-25\Capstone-Project\GITAM-newlogo.jpeg">
            <a:extLst>
              <a:ext uri="{FF2B5EF4-FFF2-40B4-BE49-F238E27FC236}">
                <a16:creationId xmlns:a16="http://schemas.microsoft.com/office/drawing/2014/main" id="{17D717B2-1633-17A0-EFD9-E8C4C1C728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4">
            <a:extLst>
              <a:ext uri="{FF2B5EF4-FFF2-40B4-BE49-F238E27FC236}">
                <a16:creationId xmlns:a16="http://schemas.microsoft.com/office/drawing/2014/main" id="{6008EEDA-A712-D40E-778E-3723EC5ECD6F}"/>
              </a:ext>
            </a:extLst>
          </p:cNvPr>
          <p:cNvSpPr>
            <a:spLocks noChangeArrowheads="1"/>
          </p:cNvSpPr>
          <p:nvPr/>
        </p:nvSpPr>
        <p:spPr bwMode="auto">
          <a:xfrm>
            <a:off x="2627313" y="542515"/>
            <a:ext cx="3175000"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2800" b="1" dirty="0">
                <a:solidFill>
                  <a:srgbClr val="0070C0"/>
                </a:solidFill>
                <a:latin typeface="Times New Roman" panose="02020603050405020304" pitchFamily="18" charset="0"/>
                <a:ea typeface="+mj-ea"/>
                <a:cs typeface="Times New Roman" panose="02020603050405020304" pitchFamily="18" charset="0"/>
              </a:rPr>
              <a:t>Introduction..</a:t>
            </a:r>
            <a:r>
              <a:rPr lang="en-IN" altLang="en-US" sz="2800" b="1" dirty="0" err="1">
                <a:solidFill>
                  <a:srgbClr val="0070C0"/>
                </a:solidFill>
                <a:latin typeface="Times New Roman" panose="02020603050405020304" pitchFamily="18" charset="0"/>
                <a:ea typeface="+mj-ea"/>
                <a:cs typeface="Times New Roman" panose="02020603050405020304" pitchFamily="18" charset="0"/>
              </a:rPr>
              <a:t>contd</a:t>
            </a:r>
            <a:endParaRPr lang="en-IN" altLang="en-US" sz="2800" b="1" dirty="0">
              <a:solidFill>
                <a:srgbClr val="0070C0"/>
              </a:solidFill>
              <a:latin typeface="Times New Roman" panose="02020603050405020304" pitchFamily="18" charset="0"/>
              <a:ea typeface="+mj-ea"/>
              <a:cs typeface="Times New Roman" panose="02020603050405020304" pitchFamily="18" charset="0"/>
            </a:endParaRPr>
          </a:p>
        </p:txBody>
      </p:sp>
      <p:sp>
        <p:nvSpPr>
          <p:cNvPr id="10244" name="TextBox 2">
            <a:extLst>
              <a:ext uri="{FF2B5EF4-FFF2-40B4-BE49-F238E27FC236}">
                <a16:creationId xmlns:a16="http://schemas.microsoft.com/office/drawing/2014/main" id="{C44EE6B6-54AF-7CDF-3B44-9E8F120BAB8F}"/>
              </a:ext>
            </a:extLst>
          </p:cNvPr>
          <p:cNvSpPr txBox="1">
            <a:spLocks noChangeArrowheads="1"/>
          </p:cNvSpPr>
          <p:nvPr/>
        </p:nvSpPr>
        <p:spPr bwMode="auto">
          <a:xfrm>
            <a:off x="373626" y="1200174"/>
            <a:ext cx="8396748" cy="5115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None/>
            </a:pPr>
            <a:r>
              <a:rPr lang="en-US" sz="2000" b="1" dirty="0">
                <a:latin typeface="Times New Roman" panose="02020603050405020304" pitchFamily="18" charset="0"/>
                <a:cs typeface="Times New Roman" panose="02020603050405020304" pitchFamily="18" charset="0"/>
              </a:rPr>
              <a:t>Deployment</a:t>
            </a:r>
          </a:p>
          <a:p>
            <a:pPr marL="342900" indent="-342900" algn="just">
              <a:lnSpc>
                <a:spcPct val="150000"/>
              </a:lnSpc>
              <a:spcBef>
                <a:spcPct val="0"/>
              </a:spcBef>
            </a:pPr>
            <a:r>
              <a:rPr lang="en-US" sz="2000" dirty="0">
                <a:latin typeface="Times New Roman" panose="02020603050405020304" pitchFamily="18" charset="0"/>
                <a:cs typeface="Times New Roman" panose="02020603050405020304" pitchFamily="18" charset="0"/>
              </a:rPr>
              <a:t>With the support of edge computing platforms such as Jetson AGX, real-time decision-making and emergency alerts become feasible.</a:t>
            </a:r>
          </a:p>
          <a:p>
            <a:pPr marL="342900" indent="-342900" algn="just">
              <a:lnSpc>
                <a:spcPct val="150000"/>
              </a:lnSpc>
              <a:spcBef>
                <a:spcPct val="0"/>
              </a:spcBef>
            </a:pPr>
            <a:r>
              <a:rPr lang="en-US" sz="2000" dirty="0">
                <a:latin typeface="Times New Roman" panose="02020603050405020304" pitchFamily="18" charset="0"/>
                <a:cs typeface="Times New Roman" panose="02020603050405020304" pitchFamily="18" charset="0"/>
              </a:rPr>
              <a:t>Available platforms for implementation are Linux, Windows, and macOS.</a:t>
            </a:r>
          </a:p>
          <a:p>
            <a:pPr marL="342900" indent="-342900" algn="just">
              <a:lnSpc>
                <a:spcPct val="150000"/>
              </a:lnSpc>
              <a:spcBef>
                <a:spcPct val="0"/>
              </a:spcBef>
            </a:pPr>
            <a:r>
              <a:rPr lang="en-US" sz="2000" dirty="0">
                <a:latin typeface="Times New Roman" panose="02020603050405020304" pitchFamily="18" charset="0"/>
                <a:cs typeface="Times New Roman" panose="02020603050405020304" pitchFamily="18" charset="0"/>
              </a:rPr>
              <a:t>We use Linux, Ubuntu version 20.04, for low-latency inference with edge GPUs. </a:t>
            </a:r>
          </a:p>
          <a:p>
            <a:pPr marL="342900" indent="-342900" algn="just">
              <a:lnSpc>
                <a:spcPct val="150000"/>
              </a:lnSpc>
              <a:spcBef>
                <a:spcPct val="0"/>
              </a:spcBef>
            </a:pPr>
            <a:endParaRPr lang="en-US" sz="2000" dirty="0">
              <a:latin typeface="Times New Roman" panose="02020603050405020304" pitchFamily="18" charset="0"/>
              <a:cs typeface="Times New Roman" panose="02020603050405020304" pitchFamily="18" charset="0"/>
            </a:endParaRPr>
          </a:p>
          <a:p>
            <a:pPr algn="just">
              <a:lnSpc>
                <a:spcPct val="150000"/>
              </a:lnSpc>
              <a:spcBef>
                <a:spcPct val="0"/>
              </a:spcBef>
              <a:buNone/>
            </a:pPr>
            <a:r>
              <a:rPr lang="en-US" sz="2000" b="1" dirty="0">
                <a:latin typeface="Times New Roman" panose="02020603050405020304" pitchFamily="18" charset="0"/>
                <a:cs typeface="Times New Roman" panose="02020603050405020304" pitchFamily="18" charset="0"/>
              </a:rPr>
              <a:t>Emergency Alerts</a:t>
            </a:r>
          </a:p>
          <a:p>
            <a:pPr marL="342900" indent="-342900" algn="just">
              <a:lnSpc>
                <a:spcPct val="150000"/>
              </a:lnSpc>
              <a:spcBef>
                <a:spcPct val="0"/>
              </a:spcBef>
            </a:pPr>
            <a:r>
              <a:rPr lang="en-US" sz="2000" dirty="0">
                <a:latin typeface="Times New Roman" panose="02020603050405020304" pitchFamily="18" charset="0"/>
                <a:cs typeface="Times New Roman" panose="02020603050405020304" pitchFamily="18" charset="0"/>
              </a:rPr>
              <a:t>In critical situations, the system can reroute the vehicle to a nearby hospital or issue alerts via V2X communication to external services.</a:t>
            </a:r>
          </a:p>
          <a:p>
            <a:pPr marL="342900" indent="-342900" algn="just">
              <a:lnSpc>
                <a:spcPct val="150000"/>
              </a:lnSpc>
              <a:spcBef>
                <a:spcPct val="0"/>
              </a:spcBef>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863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290" name="Picture 2" descr="D:\GITAM-GST-CSE\2024-25\Capstone-Project\GITAM-newlogo.jpeg">
            <a:extLst>
              <a:ext uri="{FF2B5EF4-FFF2-40B4-BE49-F238E27FC236}">
                <a16:creationId xmlns:a16="http://schemas.microsoft.com/office/drawing/2014/main" id="{1CADFA63-B804-D5EA-07D0-851849EB57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3">
            <a:extLst>
              <a:ext uri="{FF2B5EF4-FFF2-40B4-BE49-F238E27FC236}">
                <a16:creationId xmlns:a16="http://schemas.microsoft.com/office/drawing/2014/main" id="{9FCC5BD4-B5D8-BE0F-26B7-239735D47CD2}"/>
              </a:ext>
            </a:extLst>
          </p:cNvPr>
          <p:cNvSpPr>
            <a:spLocks noChangeArrowheads="1"/>
          </p:cNvSpPr>
          <p:nvPr/>
        </p:nvSpPr>
        <p:spPr bwMode="auto">
          <a:xfrm>
            <a:off x="3101975" y="312738"/>
            <a:ext cx="2938463"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IN" altLang="en-US" sz="2800" b="1">
                <a:solidFill>
                  <a:srgbClr val="0070C0"/>
                </a:solidFill>
                <a:latin typeface="Times New Roman" panose="02020603050405020304" pitchFamily="18" charset="0"/>
                <a:ea typeface="+mj-ea"/>
                <a:cs typeface="Times New Roman" panose="02020603050405020304" pitchFamily="18" charset="0"/>
              </a:rPr>
              <a:t>Literature Survey</a:t>
            </a:r>
          </a:p>
        </p:txBody>
      </p:sp>
      <p:sp>
        <p:nvSpPr>
          <p:cNvPr id="12292" name="Rectangle 2">
            <a:extLst>
              <a:ext uri="{FF2B5EF4-FFF2-40B4-BE49-F238E27FC236}">
                <a16:creationId xmlns:a16="http://schemas.microsoft.com/office/drawing/2014/main" id="{527B1BC1-9453-1EE1-D4D6-688121F28A8E}"/>
              </a:ext>
            </a:extLst>
          </p:cNvPr>
          <p:cNvSpPr>
            <a:spLocks noChangeArrowheads="1"/>
          </p:cNvSpPr>
          <p:nvPr/>
        </p:nvSpPr>
        <p:spPr bwMode="auto">
          <a:xfrm>
            <a:off x="530943" y="929216"/>
            <a:ext cx="8121444" cy="1483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Research Paper -1</a:t>
            </a:r>
            <a:endParaRPr lang="en-US" altLang="en-US" sz="20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In-Cabin Dataset for Driver Monitoring Including Video and Vehicle Telemetry Information</a:t>
            </a:r>
            <a:r>
              <a:rPr lang="en-IN" altLang="en-US" sz="1400" dirty="0">
                <a:latin typeface="Times New Roman" panose="02020603050405020304" pitchFamily="18" charset="0"/>
                <a:cs typeface="Times New Roman" panose="02020603050405020304" pitchFamily="18" charset="0"/>
              </a:rPr>
              <a:t> </a:t>
            </a:r>
            <a:r>
              <a:rPr lang="en-IN" altLang="en-US" sz="2000" b="1" dirty="0">
                <a:latin typeface="Times New Roman" panose="02020603050405020304" pitchFamily="18" charset="0"/>
                <a:cs typeface="Times New Roman" panose="02020603050405020304" pitchFamily="18" charset="0"/>
              </a:rPr>
              <a:t>(Driver MVT)</a:t>
            </a:r>
            <a:endParaRPr lang="en-US" altLang="en-US" sz="14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560ABF08-5B63-7539-699F-A4A25442B7C6}"/>
              </a:ext>
            </a:extLst>
          </p:cNvPr>
          <p:cNvSpPr txBox="1"/>
          <p:nvPr/>
        </p:nvSpPr>
        <p:spPr>
          <a:xfrm>
            <a:off x="530943" y="2511189"/>
            <a:ext cx="8121444" cy="3360985"/>
          </a:xfrm>
          <a:prstGeom prst="rect">
            <a:avLst/>
          </a:prstGeom>
          <a:noFill/>
        </p:spPr>
        <p:txBody>
          <a:bodyPr wrap="square">
            <a:spAutoFit/>
          </a:bodyPr>
          <a:lstStyle/>
          <a:p>
            <a:pPr marL="342900" indent="-342900" algn="just">
              <a:lnSpc>
                <a:spcPct val="150000"/>
              </a:lnSpc>
              <a:buFont typeface="Arial" panose="020B0604020202020204" pitchFamily="34" charset="0"/>
              <a:buChar char="•"/>
              <a:defRPr/>
            </a:pPr>
            <a:r>
              <a:rPr lang="en-IN" sz="2000" dirty="0">
                <a:solidFill>
                  <a:srgbClr val="000000"/>
                </a:solidFill>
                <a:latin typeface="Times New Roman" panose="02020603050405020304" pitchFamily="18" charset="0"/>
                <a:cs typeface="Times New Roman" panose="02020603050405020304" pitchFamily="18" charset="0"/>
              </a:rPr>
              <a:t>The aim of the project is to </a:t>
            </a:r>
            <a:r>
              <a:rPr lang="en-US" sz="2000" dirty="0">
                <a:latin typeface="Times New Roman" panose="02020603050405020304" pitchFamily="18" charset="0"/>
                <a:cs typeface="Times New Roman" panose="02020603050405020304" pitchFamily="18" charset="0"/>
              </a:rPr>
              <a:t>evaluate his/her activity in the cabin using deep learning models to estimate the driver’s health state.</a:t>
            </a:r>
          </a:p>
          <a:p>
            <a:pPr marL="285750" indent="-285750" algn="just" eaLnBrk="1" fontAlgn="auto" hangingPunct="1">
              <a:lnSpc>
                <a:spcPct val="150000"/>
              </a:lnSpc>
              <a:spcAft>
                <a:spcPts val="0"/>
              </a:spcAft>
              <a:buFont typeface="Arial" panose="020B0604020202020204" pitchFamily="34" charset="0"/>
              <a:buChar char="•"/>
              <a:defRPr/>
            </a:pPr>
            <a:r>
              <a:rPr lang="en-US" sz="2000" dirty="0">
                <a:solidFill>
                  <a:srgbClr val="000000"/>
                </a:solidFill>
                <a:latin typeface="Times New Roman" panose="02020603050405020304" pitchFamily="18" charset="0"/>
                <a:cs typeface="Times New Roman" panose="02020603050405020304" pitchFamily="18" charset="0"/>
              </a:rPr>
              <a:t>Achieved 16.375 bpm per minute, RMSE  19.5 bpm on heart rate,</a:t>
            </a:r>
            <a:r>
              <a:rPr lang="en-US" sz="2400" dirty="0">
                <a:solidFill>
                  <a:srgbClr val="000000"/>
                </a:solidFill>
                <a:latin typeface="Arial" panose="020B0604020202020204" pitchFamily="34" charset="0"/>
              </a:rPr>
              <a:t> </a:t>
            </a:r>
            <a:r>
              <a:rPr lang="en-US" sz="2000" dirty="0">
                <a:solidFill>
                  <a:srgbClr val="000000"/>
                </a:solidFill>
                <a:latin typeface="Times New Roman" panose="02020603050405020304" pitchFamily="18" charset="0"/>
                <a:cs typeface="Times New Roman" panose="02020603050405020304" pitchFamily="18" charset="0"/>
              </a:rPr>
              <a:t>and r</a:t>
            </a:r>
            <a:r>
              <a:rPr lang="en-US" sz="2000" dirty="0">
                <a:latin typeface="Times New Roman" panose="02020603050405020304" pitchFamily="18" charset="0"/>
                <a:cs typeface="Times New Roman" panose="02020603050405020304" pitchFamily="18" charset="0"/>
              </a:rPr>
              <a:t>espiratory rate works feasibly when the car is at low speeds.</a:t>
            </a:r>
          </a:p>
          <a:p>
            <a:pPr marL="285750" indent="-285750" algn="just" eaLnBrk="1" fontAlgn="auto" hangingPunct="1">
              <a:lnSpc>
                <a:spcPct val="150000"/>
              </a:lnSpc>
              <a:spcAft>
                <a:spcPts val="0"/>
              </a:spcAft>
              <a:buFont typeface="Arial" panose="020B0604020202020204" pitchFamily="34" charset="0"/>
              <a:buChar char="•"/>
              <a:defRPr/>
            </a:pPr>
            <a:r>
              <a:rPr lang="en-US" sz="2000" b="0" i="0" u="none" strike="noStrike" dirty="0">
                <a:solidFill>
                  <a:srgbClr val="000000"/>
                </a:solidFill>
                <a:effectLst/>
                <a:latin typeface="Times New Roman" panose="02020603050405020304" pitchFamily="18" charset="0"/>
              </a:rPr>
              <a:t>Collected dynamic data set.. 1506 videos from 9 drivers (7 male, 2 female), 5.1M frames, 36 hours total</a:t>
            </a:r>
            <a:endParaRPr lang="en-US" sz="2000" dirty="0">
              <a:latin typeface="Times New Roman" panose="02020603050405020304" pitchFamily="18" charset="0"/>
              <a:cs typeface="Times New Roman" panose="02020603050405020304" pitchFamily="18" charset="0"/>
            </a:endParaRPr>
          </a:p>
          <a:p>
            <a:pPr marL="285750" indent="-285750" algn="just" eaLnBrk="1" fontAlgn="auto" hangingPunct="1">
              <a:lnSpc>
                <a:spcPct val="150000"/>
              </a:lnSpc>
              <a:spcAft>
                <a:spcPts val="0"/>
              </a:spcAft>
              <a:buFont typeface="Arial" panose="020B0604020202020204" pitchFamily="34" charset="0"/>
              <a:buChar char="•"/>
              <a:defRPr/>
            </a:pPr>
            <a:r>
              <a:rPr lang="en-US" sz="2000" dirty="0">
                <a:solidFill>
                  <a:srgbClr val="000000"/>
                </a:solidFill>
                <a:latin typeface="Times New Roman" panose="02020603050405020304" pitchFamily="18" charset="0"/>
              </a:rPr>
              <a:t>Evaluation mainly with one DL algorithm (MTTS-CAN).</a:t>
            </a:r>
            <a:endParaRPr lang="en-US" sz="2000" dirty="0">
              <a:highlight>
                <a:srgbClr val="FFFF00"/>
              </a:highlight>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GITAM-GST-CSE\2024-25\Capstone-Project\GITAM-newlogo.jpeg">
            <a:extLst>
              <a:ext uri="{FF2B5EF4-FFF2-40B4-BE49-F238E27FC236}">
                <a16:creationId xmlns:a16="http://schemas.microsoft.com/office/drawing/2014/main" id="{538CD55F-4305-2735-5F95-1C06E60A4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3">
            <a:extLst>
              <a:ext uri="{FF2B5EF4-FFF2-40B4-BE49-F238E27FC236}">
                <a16:creationId xmlns:a16="http://schemas.microsoft.com/office/drawing/2014/main" id="{D31D992D-616C-5050-3D67-EA9E3D0DBAFB}"/>
              </a:ext>
            </a:extLst>
          </p:cNvPr>
          <p:cNvSpPr>
            <a:spLocks noChangeArrowheads="1"/>
          </p:cNvSpPr>
          <p:nvPr/>
        </p:nvSpPr>
        <p:spPr bwMode="auto">
          <a:xfrm>
            <a:off x="2493963" y="307975"/>
            <a:ext cx="41560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graphicFrame>
        <p:nvGraphicFramePr>
          <p:cNvPr id="7" name="Table 6">
            <a:extLst>
              <a:ext uri="{FF2B5EF4-FFF2-40B4-BE49-F238E27FC236}">
                <a16:creationId xmlns:a16="http://schemas.microsoft.com/office/drawing/2014/main" id="{F20113CB-FAC3-F426-CFB9-C02C509DAB9F}"/>
              </a:ext>
            </a:extLst>
          </p:cNvPr>
          <p:cNvGraphicFramePr>
            <a:graphicFrameLocks noGrp="1"/>
          </p:cNvGraphicFramePr>
          <p:nvPr>
            <p:extLst>
              <p:ext uri="{D42A27DB-BD31-4B8C-83A1-F6EECF244321}">
                <p14:modId xmlns:p14="http://schemas.microsoft.com/office/powerpoint/2010/main" val="1031851285"/>
              </p:ext>
            </p:extLst>
          </p:nvPr>
        </p:nvGraphicFramePr>
        <p:xfrm>
          <a:off x="296863" y="1471613"/>
          <a:ext cx="8550275" cy="4884737"/>
        </p:xfrm>
        <a:graphic>
          <a:graphicData uri="http://schemas.openxmlformats.org/drawingml/2006/table">
            <a:tbl>
              <a:tblPr firstRow="1" firstCol="1" bandRow="1"/>
              <a:tblGrid>
                <a:gridCol w="635122">
                  <a:extLst>
                    <a:ext uri="{9D8B030D-6E8A-4147-A177-3AD203B41FA5}">
                      <a16:colId xmlns:a16="http://schemas.microsoft.com/office/drawing/2014/main" val="20000"/>
                    </a:ext>
                  </a:extLst>
                </a:gridCol>
                <a:gridCol w="1119735">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gridCol w="1728192">
                  <a:extLst>
                    <a:ext uri="{9D8B030D-6E8A-4147-A177-3AD203B41FA5}">
                      <a16:colId xmlns:a16="http://schemas.microsoft.com/office/drawing/2014/main" val="20004"/>
                    </a:ext>
                  </a:extLst>
                </a:gridCol>
                <a:gridCol w="1970882">
                  <a:extLst>
                    <a:ext uri="{9D8B030D-6E8A-4147-A177-3AD203B41FA5}">
                      <a16:colId xmlns:a16="http://schemas.microsoft.com/office/drawing/2014/main" val="20005"/>
                    </a:ext>
                  </a:extLst>
                </a:gridCol>
              </a:tblGrid>
              <a:tr h="1379318">
                <a:tc>
                  <a:txBody>
                    <a:bodyPr/>
                    <a:lstStyle/>
                    <a:p>
                      <a:pPr algn="ctr">
                        <a:lnSpc>
                          <a:spcPct val="150000"/>
                        </a:lnSpc>
                        <a:spcAft>
                          <a:spcPts val="0"/>
                        </a:spcAft>
                      </a:pPr>
                      <a:r>
                        <a:rPr lang="en-US" sz="2000" b="1" dirty="0">
                          <a:effectLst/>
                          <a:latin typeface="Times New Roman" pitchFamily="18" charset="0"/>
                          <a:ea typeface="Calibri"/>
                          <a:cs typeface="Times New Roman" pitchFamily="18" charset="0"/>
                        </a:rPr>
                        <a:t>S. No.</a:t>
                      </a:r>
                      <a:endParaRPr lang="en-IN" sz="2000" b="1" dirty="0">
                        <a:effectLst/>
                        <a:latin typeface="Times New Roman" pitchFamily="18" charset="0"/>
                        <a:ea typeface="Calibri"/>
                        <a:cs typeface="Times New Roman" pitchFamily="18" charset="0"/>
                      </a:endParaRPr>
                    </a:p>
                  </a:txBody>
                  <a:tcPr marL="68583" marR="685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Paper Details</a:t>
                      </a:r>
                      <a:endParaRPr lang="en-IN" sz="2000" b="1">
                        <a:effectLst/>
                        <a:latin typeface="Times New Roman" pitchFamily="18" charset="0"/>
                        <a:ea typeface="Calibri"/>
                        <a:cs typeface="Times New Roman" pitchFamily="18" charset="0"/>
                      </a:endParaRPr>
                    </a:p>
                  </a:txBody>
                  <a:tcPr marL="68583" marR="685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Dataset</a:t>
                      </a:r>
                    </a:p>
                    <a:p>
                      <a:pPr algn="ctr">
                        <a:lnSpc>
                          <a:spcPct val="150000"/>
                        </a:lnSpc>
                        <a:spcAft>
                          <a:spcPts val="0"/>
                        </a:spcAft>
                      </a:pPr>
                      <a:endParaRPr lang="en-IN" sz="2000" b="1">
                        <a:effectLst/>
                        <a:latin typeface="Times New Roman" pitchFamily="18" charset="0"/>
                        <a:ea typeface="Calibri"/>
                        <a:cs typeface="Times New Roman" pitchFamily="18" charset="0"/>
                      </a:endParaRPr>
                    </a:p>
                  </a:txBody>
                  <a:tcPr marL="68583" marR="685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rtl="0" eaLnBrk="1" fontAlgn="t" latinLnBrk="0" hangingPunct="1">
                        <a:lnSpc>
                          <a:spcPct val="150000"/>
                        </a:lnSpc>
                        <a:buNone/>
                      </a:pPr>
                      <a:r>
                        <a:rPr lang="en-US" sz="2000" b="1" i="0" u="none" strike="noStrike"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Techniques/Algorithms</a:t>
                      </a:r>
                      <a:r>
                        <a:rPr lang="en-US" sz="2000" b="1" i="0" u="none" strike="noStrike" kern="1200" baseline="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Used</a:t>
                      </a:r>
                      <a:endParaRPr lang="en-US" sz="1800" b="0" i="0" u="none" strike="noStrike">
                        <a:effectLst/>
                        <a:latin typeface="Arial" panose="020B0604020202020204" pitchFamily="34" charset="0"/>
                      </a:endParaRPr>
                    </a:p>
                  </a:txBody>
                  <a:tcPr marL="68575" marR="68575" marT="76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rtl="0" eaLnBrk="1" fontAlgn="t" latinLnBrk="0" hangingPunct="1">
                        <a:lnSpc>
                          <a:spcPct val="150000"/>
                        </a:lnSpc>
                        <a:buNone/>
                      </a:pPr>
                      <a:r>
                        <a:rPr lang="en-IN" sz="2000" b="1" i="0" u="none" strike="noStrike" kern="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Result</a:t>
                      </a:r>
                      <a:endParaRPr lang="en-IN" sz="1800" b="0" i="0" u="none" strike="noStrike">
                        <a:effectLst/>
                        <a:latin typeface="Arial" panose="020B0604020202020204" pitchFamily="34" charset="0"/>
                      </a:endParaRPr>
                    </a:p>
                  </a:txBody>
                  <a:tcPr marL="68575" marR="68575" marT="76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IN" sz="2000" b="1" dirty="0">
                          <a:effectLst/>
                          <a:latin typeface="Times New Roman" pitchFamily="18" charset="0"/>
                          <a:ea typeface="Calibri"/>
                          <a:cs typeface="Times New Roman" pitchFamily="18" charset="0"/>
                        </a:rPr>
                        <a:t>Research Gap</a:t>
                      </a:r>
                    </a:p>
                  </a:txBody>
                  <a:tcPr marL="68583" marR="685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05419">
                <a:tc>
                  <a:txBody>
                    <a:bodyPr/>
                    <a:lstStyle/>
                    <a:p>
                      <a:pPr algn="ctr">
                        <a:lnSpc>
                          <a:spcPct val="150000"/>
                        </a:lnSpc>
                        <a:spcAft>
                          <a:spcPts val="0"/>
                        </a:spcAft>
                      </a:pPr>
                      <a:r>
                        <a:rPr lang="en-US" sz="1600" b="1" dirty="0">
                          <a:effectLst/>
                          <a:latin typeface="Times New Roman" pitchFamily="18" charset="0"/>
                          <a:ea typeface="Calibri"/>
                          <a:cs typeface="Times New Roman" pitchFamily="18" charset="0"/>
                        </a:rPr>
                        <a:t> 1</a:t>
                      </a:r>
                      <a:endParaRPr lang="en-IN" sz="1600" dirty="0">
                        <a:effectLst/>
                        <a:latin typeface="Times New Roman" pitchFamily="18" charset="0"/>
                        <a:ea typeface="Calibri"/>
                        <a:cs typeface="Times New Roman" pitchFamily="18" charset="0"/>
                      </a:endParaRPr>
                    </a:p>
                  </a:txBody>
                  <a:tcPr marL="68583" marR="685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altLang="en-US" sz="1600" b="0">
                          <a:latin typeface="Times New Roman" panose="02020603050405020304" pitchFamily="18" charset="0"/>
                          <a:cs typeface="Times New Roman" panose="02020603050405020304" pitchFamily="18" charset="0"/>
                        </a:rPr>
                        <a:t>In-cabin dataset for </a:t>
                      </a:r>
                      <a:endParaRPr lang="en-IN" sz="1600" b="0" i="0" u="none" strike="noStrike">
                        <a:solidFill>
                          <a:srgbClr val="000000"/>
                        </a:solidFill>
                        <a:effectLst/>
                        <a:latin typeface="Times New Roman" panose="02020603050405020304" pitchFamily="18" charset="0"/>
                      </a:endParaRPr>
                    </a:p>
                    <a:p>
                      <a:pPr algn="just" rtl="0" fontAlgn="t">
                        <a:buNone/>
                      </a:pPr>
                      <a:r>
                        <a:rPr lang="en-IN" altLang="en-US" sz="1600" b="0">
                          <a:latin typeface="Times New Roman" panose="02020603050405020304" pitchFamily="18" charset="0"/>
                          <a:cs typeface="Times New Roman" panose="02020603050405020304" pitchFamily="18" charset="0"/>
                        </a:rPr>
                        <a:t>Driver MVT, by</a:t>
                      </a:r>
                    </a:p>
                    <a:p>
                      <a:pPr marL="0" marR="0" lvl="0" indent="0" algn="just" defTabSz="914400" rtl="0" eaLnBrk="1" fontAlgn="t" latinLnBrk="0" hangingPunct="1">
                        <a:lnSpc>
                          <a:spcPct val="100000"/>
                        </a:lnSpc>
                        <a:spcBef>
                          <a:spcPts val="0"/>
                        </a:spcBef>
                        <a:spcAft>
                          <a:spcPts val="0"/>
                        </a:spcAft>
                        <a:buClrTx/>
                        <a:buSzTx/>
                        <a:buFontTx/>
                        <a:buNone/>
                        <a:tabLst/>
                        <a:defRPr/>
                      </a:pPr>
                      <a:r>
                        <a:rPr lang="en-IN" sz="1600" b="0" i="0" u="none" strike="noStrike">
                          <a:solidFill>
                            <a:srgbClr val="000000"/>
                          </a:solidFill>
                          <a:effectLst/>
                          <a:latin typeface="Times New Roman" panose="02020603050405020304" pitchFamily="18" charset="0"/>
                        </a:rPr>
                        <a:t>Walaa Othman, Nikolay Shilov,</a:t>
                      </a:r>
                    </a:p>
                    <a:p>
                      <a:pPr algn="just" rtl="0" fontAlgn="t">
                        <a:buNone/>
                      </a:pPr>
                      <a:r>
                        <a:rPr lang="en-IN" sz="1600" b="0" i="0" u="none" strike="noStrike">
                          <a:solidFill>
                            <a:srgbClr val="000000"/>
                          </a:solidFill>
                          <a:effectLst/>
                          <a:latin typeface="Times New Roman" panose="02020603050405020304" pitchFamily="18" charset="0"/>
                        </a:rPr>
                        <a:t> [2022]</a:t>
                      </a:r>
                      <a:endParaRPr lang="en-IN" sz="1600">
                        <a:effectLst/>
                      </a:endParaRPr>
                    </a:p>
                  </a:txBody>
                  <a:tcPr marL="68575" marR="68575" marT="45705" marB="457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sz="1600" b="0" i="0" u="none" strike="noStrike">
                          <a:solidFill>
                            <a:srgbClr val="000000"/>
                          </a:solidFill>
                          <a:effectLst/>
                          <a:latin typeface="Times New Roman" panose="02020603050405020304" pitchFamily="18" charset="0"/>
                        </a:rPr>
                        <a:t>Dynamic data set.</a:t>
                      </a:r>
                      <a:endParaRPr lang="en-US" sz="1600">
                        <a:effectLst/>
                      </a:endParaRPr>
                    </a:p>
                    <a:p>
                      <a:pPr algn="just" rtl="0" fontAlgn="t">
                        <a:buNone/>
                      </a:pPr>
                      <a:r>
                        <a:rPr lang="en-US" sz="1600" b="0" i="0" u="none" strike="noStrike">
                          <a:solidFill>
                            <a:srgbClr val="000000"/>
                          </a:solidFill>
                          <a:effectLst/>
                          <a:latin typeface="Times New Roman" panose="02020603050405020304" pitchFamily="18" charset="0"/>
                        </a:rPr>
                        <a:t>1506 videos from 9 drivers (7 male, 2 female), 5.1M frames, 36 hours total</a:t>
                      </a:r>
                      <a:endParaRPr lang="en-US" sz="1600">
                        <a:effectLst/>
                      </a:endParaRPr>
                    </a:p>
                  </a:txBody>
                  <a:tcPr marL="68575" marR="68575" marT="45705" marB="457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rtl="0" eaLnBrk="1" fontAlgn="base" latinLnBrk="0" hangingPunct="1">
                        <a:buClrTx/>
                        <a:buSzPts val="1600"/>
                        <a:buFont typeface="Arial" panose="020B0604020202020204" pitchFamily="34" charset="0"/>
                        <a:buNone/>
                      </a:pPr>
                      <a:r>
                        <a:rPr lang="en-US" sz="1600" b="0" i="0" u="none" strike="noStrike" kern="1200">
                          <a:solidFill>
                            <a:srgbClr val="000000"/>
                          </a:solidFill>
                          <a:effectLst/>
                          <a:latin typeface="Times New Roman" panose="02020603050405020304" pitchFamily="18" charset="0"/>
                          <a:cs typeface="Times New Roman" panose="02020603050405020304" pitchFamily="18" charset="0"/>
                        </a:rPr>
                        <a:t>MTTS-CAN (Multi-Task Temporal Shift Convolutional Attention Network). </a:t>
                      </a:r>
                      <a:endParaRPr lang="en-US" sz="1600" b="0" i="0" u="none" strike="noStrike" kern="1200">
                        <a:solidFill>
                          <a:schemeClr val="tx1"/>
                        </a:solidFill>
                        <a:effectLst/>
                        <a:latin typeface="Arial" panose="020B0604020202020204" pitchFamily="34" charset="0"/>
                        <a:cs typeface="+mn-cs"/>
                      </a:endParaRPr>
                    </a:p>
                    <a:p>
                      <a:pPr marL="0" indent="0" algn="just" rtl="0" eaLnBrk="1" fontAlgn="base" latinLnBrk="0" hangingPunct="1">
                        <a:buClrTx/>
                        <a:buSzPts val="1600"/>
                        <a:buFont typeface="Arial" panose="020B0604020202020204" pitchFamily="34" charset="0"/>
                        <a:buNone/>
                      </a:pPr>
                      <a:endParaRPr lang="en-US" sz="1600" b="0" i="0" u="none" strike="noStrike" kern="1200">
                        <a:solidFill>
                          <a:srgbClr val="000000"/>
                        </a:solidFill>
                        <a:effectLst/>
                        <a:latin typeface="Times New Roman" panose="02020603050405020304" pitchFamily="18" charset="0"/>
                        <a:cs typeface="Times New Roman" panose="02020603050405020304" pitchFamily="18" charset="0"/>
                      </a:endParaRPr>
                    </a:p>
                    <a:p>
                      <a:pPr marL="0" indent="0" algn="just" rtl="0" eaLnBrk="1" fontAlgn="base" latinLnBrk="0" hangingPunct="1">
                        <a:buClrTx/>
                        <a:buSzPts val="1600"/>
                        <a:buFont typeface="Arial" panose="020B0604020202020204" pitchFamily="34" charset="0"/>
                        <a:buNone/>
                      </a:pPr>
                      <a:r>
                        <a:rPr lang="en-US" sz="1600" b="0" i="0" u="none" strike="noStrike" kern="1200">
                          <a:solidFill>
                            <a:srgbClr val="000000"/>
                          </a:solidFill>
                          <a:effectLst/>
                          <a:latin typeface="Times New Roman" panose="02020603050405020304" pitchFamily="18" charset="0"/>
                          <a:cs typeface="Times New Roman" panose="02020603050405020304" pitchFamily="18" charset="0"/>
                        </a:rPr>
                        <a:t>Open Pose, Self low optical flow.</a:t>
                      </a:r>
                      <a:endParaRPr lang="en-US" sz="1800" b="0" i="0" u="none" strike="noStrike">
                        <a:effectLst/>
                        <a:latin typeface="Arial" panose="020B0604020202020204" pitchFamily="34" charset="0"/>
                      </a:endParaRPr>
                    </a:p>
                  </a:txBody>
                  <a:tcPr marL="68575" marR="68575" marT="45705" marB="457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rtl="0" eaLnBrk="1" fontAlgn="t" latinLnBrk="0" hangingPunct="1">
                        <a:buNone/>
                      </a:pPr>
                      <a:r>
                        <a:rPr lang="en-US" sz="1600" b="0" i="0" u="none" strike="noStrike" kern="1200" dirty="0">
                          <a:solidFill>
                            <a:srgbClr val="000000"/>
                          </a:solidFill>
                          <a:effectLst/>
                          <a:latin typeface="Times New Roman" panose="02020603050405020304" pitchFamily="18" charset="0"/>
                          <a:cs typeface="Times New Roman" panose="02020603050405020304" pitchFamily="18" charset="0"/>
                        </a:rPr>
                        <a:t>MTTS-CAN-Mean Average Error (MAE) 16.375 bpm, RMSE  19.5 bpm on heart rate,</a:t>
                      </a:r>
                      <a:endParaRPr lang="en-US" sz="1800" b="0" i="0" u="none" strike="noStrike" dirty="0">
                        <a:effectLst/>
                        <a:latin typeface="Arial" panose="020B0604020202020204" pitchFamily="34" charset="0"/>
                      </a:endParaRPr>
                    </a:p>
                    <a:p>
                      <a:pPr marL="0" algn="just" rtl="0" eaLnBrk="1" fontAlgn="t" latinLnBrk="0" hangingPunct="1">
                        <a:buNone/>
                      </a:pPr>
                      <a:r>
                        <a:rPr lang="en-US" sz="1600" b="0" i="0" u="none" strike="noStrike" kern="1200" dirty="0">
                          <a:solidFill>
                            <a:srgbClr val="000000"/>
                          </a:solidFill>
                          <a:effectLst/>
                          <a:latin typeface="Times New Roman" panose="02020603050405020304" pitchFamily="18" charset="0"/>
                          <a:cs typeface="Times New Roman" panose="02020603050405020304" pitchFamily="18" charset="0"/>
                        </a:rPr>
                        <a:t>Respiratory rate estimation is feasible when the car speed is less than 3 km/h.</a:t>
                      </a:r>
                      <a:endParaRPr lang="en-US" sz="1800" b="0" i="0" u="none" strike="noStrike" dirty="0">
                        <a:effectLst/>
                        <a:latin typeface="Arial" panose="020B0604020202020204" pitchFamily="34" charset="0"/>
                      </a:endParaRPr>
                    </a:p>
                  </a:txBody>
                  <a:tcPr marL="68575" marR="68575" marT="45705" marB="457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base">
                        <a:buFont typeface="Arial" panose="020B0604020202020204" pitchFamily="34" charset="0"/>
                        <a:buNone/>
                      </a:pPr>
                      <a:endParaRPr lang="en-US" sz="1600" b="0" i="0" u="none" strike="noStrike" dirty="0">
                        <a:solidFill>
                          <a:srgbClr val="000000"/>
                        </a:solidFill>
                        <a:effectLst/>
                        <a:latin typeface="Times New Roman" panose="02020603050405020304" pitchFamily="18" charset="0"/>
                      </a:endParaRPr>
                    </a:p>
                    <a:p>
                      <a:pPr algn="just" rtl="0" fontAlgn="base">
                        <a:buFont typeface="Arial" panose="020B0604020202020204" pitchFamily="34" charset="0"/>
                        <a:buChar char="•"/>
                      </a:pPr>
                      <a:r>
                        <a:rPr lang="en-US" sz="1600" b="0" i="0" u="none" strike="noStrike" dirty="0">
                          <a:solidFill>
                            <a:srgbClr val="000000"/>
                          </a:solidFill>
                          <a:effectLst/>
                          <a:latin typeface="Times New Roman" panose="02020603050405020304" pitchFamily="18" charset="0"/>
                        </a:rPr>
                        <a:t>A small number of participants (only 9 drivers, all from St. Petersburg, Russia).</a:t>
                      </a:r>
                    </a:p>
                    <a:p>
                      <a:pPr algn="just" rtl="0" fontAlgn="base">
                        <a:buFont typeface="Arial" panose="020B0604020202020204" pitchFamily="34" charset="0"/>
                        <a:buNone/>
                      </a:pPr>
                      <a:endParaRPr lang="en-US" sz="1600" b="0" i="0" u="none" strike="noStrike" dirty="0">
                        <a:solidFill>
                          <a:srgbClr val="000000"/>
                        </a:solidFill>
                        <a:effectLst/>
                        <a:latin typeface="Times New Roman" panose="02020603050405020304" pitchFamily="18" charset="0"/>
                      </a:endParaRPr>
                    </a:p>
                    <a:p>
                      <a:pPr algn="just" rtl="0" fontAlgn="base">
                        <a:buFont typeface="Arial" panose="020B0604020202020204" pitchFamily="34" charset="0"/>
                        <a:buChar char="•"/>
                      </a:pPr>
                      <a:r>
                        <a:rPr lang="en-US" sz="1600" b="0" i="0" u="none" strike="noStrike" dirty="0">
                          <a:solidFill>
                            <a:srgbClr val="000000"/>
                          </a:solidFill>
                          <a:effectLst/>
                          <a:latin typeface="Times New Roman" panose="02020603050405020304" pitchFamily="18" charset="0"/>
                        </a:rPr>
                        <a:t>Evaluation mainly with one DL algorithm (MTTS-CAN).</a:t>
                      </a:r>
                      <a:endParaRPr lang="en-US" sz="1600" dirty="0">
                        <a:effectLst/>
                      </a:endParaRPr>
                    </a:p>
                  </a:txBody>
                  <a:tcPr marL="68575" marR="68575" marT="45705" marB="457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4363" name="Rectangle 2">
            <a:extLst>
              <a:ext uri="{FF2B5EF4-FFF2-40B4-BE49-F238E27FC236}">
                <a16:creationId xmlns:a16="http://schemas.microsoft.com/office/drawing/2014/main" id="{4A1F9B00-B30F-7BD3-1526-A39E045B92C9}"/>
              </a:ext>
            </a:extLst>
          </p:cNvPr>
          <p:cNvSpPr>
            <a:spLocks noChangeArrowheads="1"/>
          </p:cNvSpPr>
          <p:nvPr/>
        </p:nvSpPr>
        <p:spPr bwMode="auto">
          <a:xfrm>
            <a:off x="4081463" y="957263"/>
            <a:ext cx="981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a:latin typeface="Times New Roman" panose="02020603050405020304" pitchFamily="18" charset="0"/>
                <a:ea typeface="Calibri" panose="020F0502020204030204" pitchFamily="34" charset="0"/>
                <a:cs typeface="Times New Roman" panose="02020603050405020304" pitchFamily="18" charset="0"/>
              </a:rPr>
              <a:t>Table 1</a:t>
            </a:r>
            <a:endParaRPr lang="en-US" altLang="en-US" sz="1100" b="1">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362" name="Picture 2" descr="D:\GITAM-GST-CSE\2024-25\Capstone-Project\GITAM-newlogo.jpeg">
            <a:extLst>
              <a:ext uri="{FF2B5EF4-FFF2-40B4-BE49-F238E27FC236}">
                <a16:creationId xmlns:a16="http://schemas.microsoft.com/office/drawing/2014/main" id="{641D80E1-1BB8-61D7-1FF4-9BE15E28C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a:extLst>
              <a:ext uri="{FF2B5EF4-FFF2-40B4-BE49-F238E27FC236}">
                <a16:creationId xmlns:a16="http://schemas.microsoft.com/office/drawing/2014/main" id="{66B00AFA-69BB-72BB-4961-C52A1D46F61B}"/>
              </a:ext>
            </a:extLst>
          </p:cNvPr>
          <p:cNvSpPr>
            <a:spLocks noChangeArrowheads="1"/>
          </p:cNvSpPr>
          <p:nvPr/>
        </p:nvSpPr>
        <p:spPr bwMode="auto">
          <a:xfrm>
            <a:off x="353961" y="819404"/>
            <a:ext cx="8445909" cy="96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Research Paper -2</a:t>
            </a:r>
            <a:endParaRPr lang="en-US" altLang="en-US" sz="2000" dirty="0">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None/>
            </a:pPr>
            <a:r>
              <a:rPr lang="en-US" altLang="en-US" sz="2000" b="1" dirty="0">
                <a:latin typeface="Times New Roman" panose="02020603050405020304" pitchFamily="18" charset="0"/>
                <a:cs typeface="Times New Roman" panose="02020603050405020304" pitchFamily="18" charset="0"/>
              </a:rPr>
              <a:t>In-Cabin Monitoring System using 4-D Radar</a:t>
            </a:r>
            <a:endParaRPr lang="en-US" altLang="en-US" sz="14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364" name="TextBox 4">
            <a:extLst>
              <a:ext uri="{FF2B5EF4-FFF2-40B4-BE49-F238E27FC236}">
                <a16:creationId xmlns:a16="http://schemas.microsoft.com/office/drawing/2014/main" id="{7AEBA1AE-552F-6EA6-4618-1D9B9D50FB4B}"/>
              </a:ext>
            </a:extLst>
          </p:cNvPr>
          <p:cNvSpPr txBox="1">
            <a:spLocks noChangeArrowheads="1"/>
          </p:cNvSpPr>
          <p:nvPr/>
        </p:nvSpPr>
        <p:spPr bwMode="auto">
          <a:xfrm>
            <a:off x="353961" y="1843227"/>
            <a:ext cx="8445910" cy="4197944"/>
          </a:xfrm>
          <a:prstGeom prst="rect">
            <a:avLst/>
          </a:prstGeom>
          <a:noFill/>
          <a:ln>
            <a:noFill/>
          </a:ln>
        </p:spPr>
        <p:txBody>
          <a:bodyPr wrap="square">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The In-cabin monitoring systems for infant/pet presence detection to prevent hot car death, enhance seat belt reminders, and alert emergency services in the event of a crash, which can report how many passengers are in the vehicle</a:t>
            </a:r>
            <a:r>
              <a:rPr lang="en-US" altLang="en-US" sz="1600" dirty="0">
                <a:latin typeface="Times New Roman" panose="02020603050405020304" pitchFamily="18" charset="0"/>
                <a:cs typeface="Times New Roman" panose="02020603050405020304" pitchFamily="18" charset="0"/>
              </a:rPr>
              <a:t>. </a:t>
            </a:r>
          </a:p>
          <a:p>
            <a:pPr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4D-Radar and deep learning (2D-CNN, LSTM) are used to detect the passengers accurately.</a:t>
            </a:r>
            <a:endParaRPr lang="en-IN" altLang="en-US" sz="2000" dirty="0">
              <a:latin typeface="Times New Roman" panose="02020603050405020304" pitchFamily="18" charset="0"/>
              <a:cs typeface="Times New Roman" panose="02020603050405020304" pitchFamily="18" charset="0"/>
            </a:endParaRPr>
          </a:p>
          <a:p>
            <a:pPr algn="just" eaLnBrk="1" hangingPunct="1">
              <a:lnSpc>
                <a:spcPct val="150000"/>
              </a:lnSpc>
              <a:spcBef>
                <a:spcPct val="0"/>
              </a:spcBef>
              <a:defRPr/>
            </a:pPr>
            <a:r>
              <a:rPr lang="en-US" altLang="en-US" sz="2000" dirty="0">
                <a:solidFill>
                  <a:srgbClr val="000000"/>
                </a:solidFill>
                <a:latin typeface="Times New Roman" panose="02020603050405020304" pitchFamily="18" charset="0"/>
                <a:cs typeface="Times New Roman" panose="02020603050405020304" pitchFamily="18" charset="0"/>
              </a:rPr>
              <a:t>Collected dataset from 4 different cars with real adults, children, and infants 780 different scenarios were recorded.</a:t>
            </a:r>
          </a:p>
          <a:p>
            <a:pPr algn="just" eaLnBrk="1" hangingPunct="1">
              <a:lnSpc>
                <a:spcPct val="150000"/>
              </a:lnSpc>
              <a:spcBef>
                <a:spcPct val="0"/>
              </a:spcBef>
              <a:defRPr/>
            </a:pPr>
            <a:r>
              <a:rPr lang="en-US" sz="2000" dirty="0">
                <a:solidFill>
                  <a:srgbClr val="000000"/>
                </a:solidFill>
                <a:latin typeface="Times New Roman" panose="02020603050405020304" pitchFamily="18" charset="0"/>
                <a:cs typeface="Times New Roman" panose="02020603050405020304" pitchFamily="18" charset="0"/>
              </a:rPr>
              <a:t>Achieved p</a:t>
            </a:r>
            <a:r>
              <a:rPr lang="en-US" sz="2000" dirty="0">
                <a:solidFill>
                  <a:srgbClr val="000000"/>
                </a:solidFill>
                <a:latin typeface="Times New Roman" panose="02020603050405020304" pitchFamily="18" charset="0"/>
              </a:rPr>
              <a:t>assenger occupancy 95%, Passenger counting and seating location - 89%, Infant children detection - 85%, Overall classification-74%.</a:t>
            </a:r>
            <a:endParaRPr lang="en-US" sz="2000" dirty="0"/>
          </a:p>
        </p:txBody>
      </p:sp>
      <p:sp>
        <p:nvSpPr>
          <p:cNvPr id="15365" name="Rectangle 3">
            <a:extLst>
              <a:ext uri="{FF2B5EF4-FFF2-40B4-BE49-F238E27FC236}">
                <a16:creationId xmlns:a16="http://schemas.microsoft.com/office/drawing/2014/main" id="{B7D1F745-4548-F3DD-9127-433A8FD3479F}"/>
              </a:ext>
            </a:extLst>
          </p:cNvPr>
          <p:cNvSpPr>
            <a:spLocks noChangeArrowheads="1"/>
          </p:cNvSpPr>
          <p:nvPr/>
        </p:nvSpPr>
        <p:spPr bwMode="auto">
          <a:xfrm>
            <a:off x="2492375" y="374650"/>
            <a:ext cx="41576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D:\GITAM-GST-CSE\2024-25\Capstone-Project\GITAM-newlogo.jpeg">
            <a:extLst>
              <a:ext uri="{FF2B5EF4-FFF2-40B4-BE49-F238E27FC236}">
                <a16:creationId xmlns:a16="http://schemas.microsoft.com/office/drawing/2014/main" id="{F86C2DE2-A98D-66E5-356D-31A48DED82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a:extLst>
              <a:ext uri="{FF2B5EF4-FFF2-40B4-BE49-F238E27FC236}">
                <a16:creationId xmlns:a16="http://schemas.microsoft.com/office/drawing/2014/main" id="{840070DD-1F2B-B5C2-D593-1125263C7FBA}"/>
              </a:ext>
            </a:extLst>
          </p:cNvPr>
          <p:cNvSpPr>
            <a:spLocks noChangeArrowheads="1"/>
          </p:cNvSpPr>
          <p:nvPr/>
        </p:nvSpPr>
        <p:spPr bwMode="auto">
          <a:xfrm>
            <a:off x="2493963" y="260350"/>
            <a:ext cx="4156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graphicFrame>
        <p:nvGraphicFramePr>
          <p:cNvPr id="7" name="Table 6">
            <a:extLst>
              <a:ext uri="{FF2B5EF4-FFF2-40B4-BE49-F238E27FC236}">
                <a16:creationId xmlns:a16="http://schemas.microsoft.com/office/drawing/2014/main" id="{593C6D1B-FCEC-0597-6B7B-8D9D270233DE}"/>
              </a:ext>
            </a:extLst>
          </p:cNvPr>
          <p:cNvGraphicFramePr>
            <a:graphicFrameLocks noGrp="1"/>
          </p:cNvGraphicFramePr>
          <p:nvPr>
            <p:extLst>
              <p:ext uri="{D42A27DB-BD31-4B8C-83A1-F6EECF244321}">
                <p14:modId xmlns:p14="http://schemas.microsoft.com/office/powerpoint/2010/main" val="3408582175"/>
              </p:ext>
            </p:extLst>
          </p:nvPr>
        </p:nvGraphicFramePr>
        <p:xfrm>
          <a:off x="287338" y="1200150"/>
          <a:ext cx="8569326" cy="5569333"/>
        </p:xfrm>
        <a:graphic>
          <a:graphicData uri="http://schemas.openxmlformats.org/drawingml/2006/table">
            <a:tbl>
              <a:tblPr firstRow="1" firstCol="1" bandRow="1"/>
              <a:tblGrid>
                <a:gridCol w="591893">
                  <a:extLst>
                    <a:ext uri="{9D8B030D-6E8A-4147-A177-3AD203B41FA5}">
                      <a16:colId xmlns:a16="http://schemas.microsoft.com/office/drawing/2014/main" val="20000"/>
                    </a:ext>
                  </a:extLst>
                </a:gridCol>
                <a:gridCol w="1172489">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872208">
                  <a:extLst>
                    <a:ext uri="{9D8B030D-6E8A-4147-A177-3AD203B41FA5}">
                      <a16:colId xmlns:a16="http://schemas.microsoft.com/office/drawing/2014/main" val="20003"/>
                    </a:ext>
                  </a:extLst>
                </a:gridCol>
                <a:gridCol w="1652246">
                  <a:extLst>
                    <a:ext uri="{9D8B030D-6E8A-4147-A177-3AD203B41FA5}">
                      <a16:colId xmlns:a16="http://schemas.microsoft.com/office/drawing/2014/main" val="20004"/>
                    </a:ext>
                  </a:extLst>
                </a:gridCol>
                <a:gridCol w="1768322">
                  <a:extLst>
                    <a:ext uri="{9D8B030D-6E8A-4147-A177-3AD203B41FA5}">
                      <a16:colId xmlns:a16="http://schemas.microsoft.com/office/drawing/2014/main" val="20005"/>
                    </a:ext>
                  </a:extLst>
                </a:gridCol>
              </a:tblGrid>
              <a:tr h="1332655">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S. No.</a:t>
                      </a:r>
                      <a:endParaRPr lang="en-IN" sz="2000" b="1">
                        <a:effectLst/>
                        <a:latin typeface="Times New Roman" pitchFamily="18" charset="0"/>
                        <a:ea typeface="Calibri"/>
                        <a:cs typeface="Times New Roman" pitchFamily="18" charset="0"/>
                      </a:endParaRPr>
                    </a:p>
                  </a:txBody>
                  <a:tcPr marL="68591" marR="685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Paper Details</a:t>
                      </a:r>
                      <a:endParaRPr lang="en-IN" sz="2000" b="1">
                        <a:effectLst/>
                        <a:latin typeface="Times New Roman" pitchFamily="18" charset="0"/>
                        <a:ea typeface="Calibri"/>
                        <a:cs typeface="Times New Roman" pitchFamily="18" charset="0"/>
                      </a:endParaRPr>
                    </a:p>
                  </a:txBody>
                  <a:tcPr marL="68591" marR="685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dirty="0">
                          <a:effectLst/>
                          <a:latin typeface="Times New Roman" pitchFamily="18" charset="0"/>
                          <a:ea typeface="Calibri"/>
                          <a:cs typeface="Times New Roman" pitchFamily="18" charset="0"/>
                        </a:rPr>
                        <a:t>Dataset</a:t>
                      </a:r>
                    </a:p>
                    <a:p>
                      <a:pPr algn="ctr">
                        <a:lnSpc>
                          <a:spcPct val="150000"/>
                        </a:lnSpc>
                        <a:spcAft>
                          <a:spcPts val="0"/>
                        </a:spcAft>
                      </a:pPr>
                      <a:endParaRPr lang="en-IN" sz="2000" b="1" dirty="0">
                        <a:effectLst/>
                        <a:latin typeface="Times New Roman" pitchFamily="18" charset="0"/>
                        <a:ea typeface="Calibri"/>
                        <a:cs typeface="Times New Roman" pitchFamily="18" charset="0"/>
                      </a:endParaRPr>
                    </a:p>
                  </a:txBody>
                  <a:tcPr marL="68591" marR="685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Techniques/</a:t>
                      </a:r>
                    </a:p>
                    <a:p>
                      <a:pPr algn="ctr">
                        <a:lnSpc>
                          <a:spcPct val="150000"/>
                        </a:lnSpc>
                        <a:spcAft>
                          <a:spcPts val="0"/>
                        </a:spcAft>
                      </a:pPr>
                      <a:r>
                        <a:rPr lang="en-US" sz="2000" b="1">
                          <a:effectLst/>
                          <a:latin typeface="Times New Roman" pitchFamily="18" charset="0"/>
                          <a:ea typeface="Calibri"/>
                          <a:cs typeface="Times New Roman" pitchFamily="18" charset="0"/>
                        </a:rPr>
                        <a:t>Algorithms</a:t>
                      </a:r>
                      <a:r>
                        <a:rPr lang="en-US" sz="2000" b="1" baseline="0">
                          <a:effectLst/>
                          <a:latin typeface="Times New Roman" pitchFamily="18" charset="0"/>
                          <a:ea typeface="Calibri"/>
                          <a:cs typeface="Times New Roman" pitchFamily="18" charset="0"/>
                        </a:rPr>
                        <a:t> Used</a:t>
                      </a:r>
                      <a:endParaRPr lang="en-IN" sz="2000" b="1">
                        <a:effectLst/>
                        <a:latin typeface="Times New Roman" pitchFamily="18" charset="0"/>
                        <a:ea typeface="Calibri"/>
                        <a:cs typeface="Times New Roman" pitchFamily="18" charset="0"/>
                      </a:endParaRPr>
                    </a:p>
                  </a:txBody>
                  <a:tcPr marL="68591" marR="685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Result</a:t>
                      </a:r>
                      <a:endParaRPr lang="en-IN" sz="2000" b="1">
                        <a:effectLst/>
                        <a:latin typeface="Times New Roman" pitchFamily="18" charset="0"/>
                        <a:ea typeface="Calibri"/>
                        <a:cs typeface="Times New Roman" pitchFamily="18" charset="0"/>
                      </a:endParaRPr>
                    </a:p>
                  </a:txBody>
                  <a:tcPr marL="68591" marR="685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IN" sz="2000" b="1" dirty="0">
                          <a:effectLst/>
                          <a:latin typeface="Times New Roman" pitchFamily="18" charset="0"/>
                          <a:ea typeface="Calibri"/>
                          <a:cs typeface="Times New Roman" pitchFamily="18" charset="0"/>
                        </a:rPr>
                        <a:t>Research </a:t>
                      </a:r>
                    </a:p>
                    <a:p>
                      <a:pPr algn="ctr">
                        <a:lnSpc>
                          <a:spcPct val="150000"/>
                        </a:lnSpc>
                        <a:spcAft>
                          <a:spcPts val="0"/>
                        </a:spcAft>
                      </a:pPr>
                      <a:r>
                        <a:rPr lang="en-IN" sz="2000" b="1" dirty="0">
                          <a:effectLst/>
                          <a:latin typeface="Times New Roman" pitchFamily="18" charset="0"/>
                          <a:ea typeface="Calibri"/>
                          <a:cs typeface="Times New Roman" pitchFamily="18" charset="0"/>
                        </a:rPr>
                        <a:t>Gap</a:t>
                      </a:r>
                    </a:p>
                  </a:txBody>
                  <a:tcPr marL="68591" marR="685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88332">
                <a:tc>
                  <a:txBody>
                    <a:bodyPr/>
                    <a:lstStyle/>
                    <a:p>
                      <a:pPr algn="ctr" rtl="0" fontAlgn="t">
                        <a:buNone/>
                      </a:pPr>
                      <a:r>
                        <a:rPr lang="en-IN" sz="1600" b="1" i="0" u="none" strike="noStrike" dirty="0">
                          <a:solidFill>
                            <a:srgbClr val="000000"/>
                          </a:solidFill>
                          <a:effectLst/>
                          <a:latin typeface="Times New Roman" panose="02020603050405020304" pitchFamily="18" charset="0"/>
                        </a:rPr>
                        <a:t>2</a:t>
                      </a:r>
                      <a:endParaRPr lang="en-IN" sz="1600" b="1" dirty="0">
                        <a:effectLst/>
                      </a:endParaRPr>
                    </a:p>
                  </a:txBody>
                  <a:tcPr marL="68583" marR="68583" marT="45699" marB="456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altLang="en-US" sz="1600" b="0" dirty="0">
                          <a:latin typeface="Times New Roman" panose="02020603050405020304" pitchFamily="18" charset="0"/>
                          <a:cs typeface="Times New Roman" panose="02020603050405020304" pitchFamily="18" charset="0"/>
                        </a:rPr>
                        <a:t>In-cabin monitoring using 4-D radar, </a:t>
                      </a:r>
                    </a:p>
                    <a:p>
                      <a:pPr algn="just" rtl="0" fontAlgn="t">
                        <a:buNone/>
                      </a:pPr>
                      <a:r>
                        <a:rPr lang="en-US" altLang="en-US" sz="1600" b="0" dirty="0">
                          <a:latin typeface="Times New Roman" panose="02020603050405020304" pitchFamily="18" charset="0"/>
                          <a:cs typeface="Times New Roman" panose="02020603050405020304" pitchFamily="18" charset="0"/>
                        </a:rPr>
                        <a:t>by </a:t>
                      </a:r>
                      <a:r>
                        <a:rPr lang="en-IN" sz="1600" b="0" i="0" u="none" strike="noStrike" dirty="0">
                          <a:solidFill>
                            <a:srgbClr val="000000"/>
                          </a:solidFill>
                          <a:effectLst/>
                          <a:latin typeface="Times New Roman" panose="02020603050405020304" pitchFamily="18" charset="0"/>
                        </a:rPr>
                        <a:t>George Shaker, and Members of IEEE [2023].</a:t>
                      </a:r>
                      <a:endParaRPr lang="en-IN" sz="1600" dirty="0">
                        <a:effectLst/>
                      </a:endParaRPr>
                    </a:p>
                  </a:txBody>
                  <a:tcPr marL="68583" marR="68583" marT="45699" marB="456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sz="1600" b="0" i="0" u="none" strike="noStrike">
                          <a:solidFill>
                            <a:srgbClr val="000000"/>
                          </a:solidFill>
                          <a:effectLst/>
                          <a:latin typeface="Times New Roman" panose="02020603050405020304" pitchFamily="18" charset="0"/>
                        </a:rPr>
                        <a:t>Created a customized, real-world dataset using radar.     </a:t>
                      </a:r>
                    </a:p>
                    <a:p>
                      <a:pPr algn="just" rtl="0" fontAlgn="t">
                        <a:buNone/>
                      </a:pPr>
                      <a:r>
                        <a:rPr lang="en-US" sz="1600" b="0" i="0" u="none" strike="noStrike">
                          <a:solidFill>
                            <a:srgbClr val="000000"/>
                          </a:solidFill>
                          <a:effectLst/>
                          <a:latin typeface="Times New Roman" panose="02020603050405020304" pitchFamily="18" charset="0"/>
                        </a:rPr>
                        <a:t>     </a:t>
                      </a:r>
                      <a:endParaRPr lang="en-US" sz="1600">
                        <a:effectLst/>
                      </a:endParaRPr>
                    </a:p>
                    <a:p>
                      <a:pPr algn="just" rtl="0" fontAlgn="t">
                        <a:buNone/>
                      </a:pPr>
                      <a:r>
                        <a:rPr lang="en-US" sz="1600" b="0" i="0" u="none" strike="noStrike">
                          <a:solidFill>
                            <a:srgbClr val="000000"/>
                          </a:solidFill>
                          <a:effectLst/>
                          <a:latin typeface="Times New Roman" panose="02020603050405020304" pitchFamily="18" charset="0"/>
                        </a:rPr>
                        <a:t>Collected dataset from 4 different cars with real adults, children, and infants.    </a:t>
                      </a:r>
                      <a:endParaRPr lang="en-US" sz="1600">
                        <a:effectLst/>
                      </a:endParaRPr>
                    </a:p>
                    <a:p>
                      <a:pPr algn="just" rtl="0" fontAlgn="t">
                        <a:buNone/>
                      </a:pPr>
                      <a:r>
                        <a:rPr lang="en-US" sz="1600" b="0" i="0" u="none" strike="noStrike">
                          <a:solidFill>
                            <a:srgbClr val="000000"/>
                          </a:solidFill>
                          <a:effectLst/>
                          <a:latin typeface="Times New Roman" panose="02020603050405020304" pitchFamily="18" charset="0"/>
                        </a:rPr>
                        <a:t>                        </a:t>
                      </a:r>
                      <a:endParaRPr lang="en-US" sz="1600">
                        <a:effectLst/>
                      </a:endParaRPr>
                    </a:p>
                    <a:p>
                      <a:pPr algn="just" rtl="0" fontAlgn="t">
                        <a:buNone/>
                      </a:pPr>
                      <a:r>
                        <a:rPr lang="en-US" sz="1600" b="0" i="0" u="none" strike="noStrike">
                          <a:solidFill>
                            <a:srgbClr val="000000"/>
                          </a:solidFill>
                          <a:effectLst/>
                          <a:latin typeface="Times New Roman" panose="02020603050405020304" pitchFamily="18" charset="0"/>
                        </a:rPr>
                        <a:t>A total of 780 different scenarios were recorded.</a:t>
                      </a:r>
                    </a:p>
                  </a:txBody>
                  <a:tcPr marL="68583" marR="68583" marT="45699" marB="456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base">
                        <a:buFont typeface="Arial" panose="020B0604020202020204" pitchFamily="34" charset="0"/>
                        <a:buChar char="•"/>
                      </a:pPr>
                      <a:r>
                        <a:rPr lang="en-US" sz="1600" b="0" i="0" u="none" strike="noStrike">
                          <a:solidFill>
                            <a:srgbClr val="000000"/>
                          </a:solidFill>
                          <a:effectLst/>
                          <a:latin typeface="Times New Roman" panose="02020603050405020304" pitchFamily="18" charset="0"/>
                        </a:rPr>
                        <a:t>2-D CNN-LSTM model performs best in predicting.</a:t>
                      </a:r>
                    </a:p>
                    <a:p>
                      <a:pPr algn="just" rtl="0" fontAlgn="base">
                        <a:buFont typeface="Arial" panose="020B0604020202020204" pitchFamily="34" charset="0"/>
                        <a:buChar char="•"/>
                      </a:pPr>
                      <a:r>
                        <a:rPr lang="en-US" sz="1600" b="0" i="0" u="none" strike="noStrike">
                          <a:solidFill>
                            <a:srgbClr val="000000"/>
                          </a:solidFill>
                          <a:effectLst/>
                          <a:latin typeface="Times New Roman" panose="02020603050405020304" pitchFamily="18" charset="0"/>
                        </a:rPr>
                        <a:t>Datasets, as it uses both feature extraction methods from the CNN and temporal features from the LSTM.</a:t>
                      </a:r>
                    </a:p>
                    <a:p>
                      <a:pPr algn="just" rtl="0" fontAlgn="base">
                        <a:buFont typeface="Arial" panose="020B0604020202020204" pitchFamily="34" charset="0"/>
                        <a:buChar char="•"/>
                      </a:pPr>
                      <a:r>
                        <a:rPr lang="en-US" sz="1600" b="0" i="0" u="none" strike="noStrike">
                          <a:solidFill>
                            <a:srgbClr val="000000"/>
                          </a:solidFill>
                          <a:effectLst/>
                          <a:latin typeface="Times New Roman" panose="02020603050405020304" pitchFamily="18" charset="0"/>
                        </a:rPr>
                        <a:t>4-D radar could be used to monitor both the front and rear seat passengers at the same time.    </a:t>
                      </a:r>
                    </a:p>
                  </a:txBody>
                  <a:tcPr marL="68583" marR="68583" marT="45699" marB="456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sz="1600" b="0" i="0" u="none" strike="noStrike" dirty="0">
                          <a:solidFill>
                            <a:srgbClr val="000000"/>
                          </a:solidFill>
                          <a:effectLst/>
                          <a:latin typeface="Times New Roman" panose="02020603050405020304" pitchFamily="18" charset="0"/>
                        </a:rPr>
                        <a:t>Passenger occupancy in the car is more than 95%.                            </a:t>
                      </a:r>
                    </a:p>
                    <a:p>
                      <a:pPr algn="just" rtl="0" fontAlgn="t">
                        <a:buNone/>
                      </a:pPr>
                      <a:r>
                        <a:rPr lang="en-US" sz="1600" b="0" i="0" u="none" strike="noStrike" dirty="0">
                          <a:solidFill>
                            <a:srgbClr val="000000"/>
                          </a:solidFill>
                          <a:effectLst/>
                          <a:latin typeface="Times New Roman" panose="02020603050405020304" pitchFamily="18" charset="0"/>
                        </a:rPr>
                        <a:t>Passenger counting and seating location - 89%.</a:t>
                      </a:r>
                      <a:endParaRPr lang="en-US" sz="1600" dirty="0">
                        <a:effectLst/>
                      </a:endParaRPr>
                    </a:p>
                    <a:p>
                      <a:pPr algn="just" rtl="0" fontAlgn="t">
                        <a:buNone/>
                      </a:pPr>
                      <a:r>
                        <a:rPr lang="en-US" sz="1600" b="0" i="0" u="none" strike="noStrike" dirty="0">
                          <a:solidFill>
                            <a:srgbClr val="000000"/>
                          </a:solidFill>
                          <a:effectLst/>
                          <a:latin typeface="Times New Roman" panose="02020603050405020304" pitchFamily="18" charset="0"/>
                        </a:rPr>
                        <a:t>                            </a:t>
                      </a:r>
                    </a:p>
                    <a:p>
                      <a:pPr algn="just" rtl="0" fontAlgn="t">
                        <a:buNone/>
                      </a:pPr>
                      <a:r>
                        <a:rPr lang="en-US" sz="1600" b="0" i="0" u="none" strike="noStrike" dirty="0">
                          <a:solidFill>
                            <a:srgbClr val="000000"/>
                          </a:solidFill>
                          <a:effectLst/>
                          <a:latin typeface="Times New Roman" panose="02020603050405020304" pitchFamily="18" charset="0"/>
                        </a:rPr>
                        <a:t>Infant children detection - 85% </a:t>
                      </a:r>
                      <a:endParaRPr lang="en-US" sz="1600" dirty="0">
                        <a:effectLst/>
                      </a:endParaRPr>
                    </a:p>
                    <a:p>
                      <a:pPr algn="just" rtl="0" fontAlgn="t">
                        <a:buNone/>
                      </a:pPr>
                      <a:r>
                        <a:rPr lang="en-US" sz="1600" b="0" i="0" u="none" strike="noStrike" dirty="0">
                          <a:solidFill>
                            <a:srgbClr val="000000"/>
                          </a:solidFill>
                          <a:effectLst/>
                          <a:latin typeface="Times New Roman"/>
                        </a:rPr>
                        <a:t>                            Overall classification-74%.</a:t>
                      </a:r>
                      <a:endParaRPr lang="en-US" sz="1600" dirty="0">
                        <a:effectLst/>
                        <a:latin typeface="Times New Roman"/>
                      </a:endParaRPr>
                    </a:p>
                  </a:txBody>
                  <a:tcPr marL="68583" marR="68583" marT="45699" marB="456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base">
                        <a:buFont typeface="Arial" panose="020B0604020202020204" pitchFamily="34" charset="0"/>
                        <a:buChar char="•"/>
                      </a:pPr>
                      <a:r>
                        <a:rPr lang="en-US" sz="1600" b="0" i="0" u="none" strike="noStrike" dirty="0">
                          <a:solidFill>
                            <a:srgbClr val="000000"/>
                          </a:solidFill>
                          <a:effectLst/>
                          <a:latin typeface="Times New Roman" panose="02020603050405020304" pitchFamily="18" charset="0"/>
                        </a:rPr>
                        <a:t>Only tested on 5-seater cars, not in vans/SUVs.  </a:t>
                      </a:r>
                    </a:p>
                    <a:p>
                      <a:pPr marL="457200" algn="just" rtl="0" fontAlgn="t">
                        <a:buNone/>
                      </a:pPr>
                      <a:r>
                        <a:rPr lang="en-US" sz="1600" b="0" i="0" u="none" strike="noStrike" dirty="0">
                          <a:solidFill>
                            <a:srgbClr val="000000"/>
                          </a:solidFill>
                          <a:effectLst/>
                          <a:latin typeface="Times New Roman" panose="02020603050405020304" pitchFamily="18" charset="0"/>
                        </a:rPr>
                        <a:t>                     </a:t>
                      </a:r>
                      <a:endParaRPr lang="en-US" sz="1600" dirty="0">
                        <a:effectLst/>
                      </a:endParaRPr>
                    </a:p>
                    <a:p>
                      <a:pPr algn="just" rtl="0" fontAlgn="base">
                        <a:buFont typeface="Arial" panose="020B0604020202020204" pitchFamily="34" charset="0"/>
                        <a:buChar char="•"/>
                      </a:pPr>
                      <a:r>
                        <a:rPr lang="en-US" sz="1600" b="0" i="0" u="none" strike="noStrike" dirty="0">
                          <a:solidFill>
                            <a:srgbClr val="000000"/>
                          </a:solidFill>
                          <a:effectLst/>
                          <a:latin typeface="Times New Roman" panose="02020603050405020304" pitchFamily="18" charset="0"/>
                        </a:rPr>
                        <a:t>Accuracy for adult vs. child classification needs more improvement.</a:t>
                      </a:r>
                    </a:p>
                    <a:p>
                      <a:pPr algn="just" fontAlgn="t">
                        <a:buNone/>
                      </a:pPr>
                      <a:br>
                        <a:rPr lang="en-US" sz="1600" dirty="0">
                          <a:effectLst/>
                        </a:rPr>
                      </a:br>
                      <a:br>
                        <a:rPr lang="en-US" sz="1600" dirty="0">
                          <a:effectLst/>
                        </a:rPr>
                      </a:br>
                      <a:br>
                        <a:rPr lang="en-US" sz="1600" dirty="0">
                          <a:effectLst/>
                        </a:rPr>
                      </a:br>
                      <a:endParaRPr lang="en-US" sz="1600" dirty="0">
                        <a:effectLst/>
                      </a:endParaRPr>
                    </a:p>
                  </a:txBody>
                  <a:tcPr marL="68583" marR="68583" marT="45699" marB="456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411" name="Rectangle 2">
            <a:extLst>
              <a:ext uri="{FF2B5EF4-FFF2-40B4-BE49-F238E27FC236}">
                <a16:creationId xmlns:a16="http://schemas.microsoft.com/office/drawing/2014/main" id="{1D3DEA5C-8D68-312E-163E-167F48668CE0}"/>
              </a:ext>
            </a:extLst>
          </p:cNvPr>
          <p:cNvSpPr>
            <a:spLocks noChangeArrowheads="1"/>
          </p:cNvSpPr>
          <p:nvPr/>
        </p:nvSpPr>
        <p:spPr bwMode="auto">
          <a:xfrm>
            <a:off x="3992563" y="823913"/>
            <a:ext cx="9794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a:latin typeface="Times New Roman" panose="02020603050405020304" pitchFamily="18" charset="0"/>
                <a:ea typeface="Calibri" panose="020F0502020204030204" pitchFamily="34" charset="0"/>
                <a:cs typeface="Times New Roman" panose="02020603050405020304" pitchFamily="18" charset="0"/>
              </a:rPr>
              <a:t>Table 2</a:t>
            </a:r>
            <a:endParaRPr lang="en-US" altLang="en-US" sz="1100" b="1">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410" name="Picture 2" descr="D:\GITAM-GST-CSE\2024-25\Capstone-Project\GITAM-newlogo.jpeg">
            <a:extLst>
              <a:ext uri="{FF2B5EF4-FFF2-40B4-BE49-F238E27FC236}">
                <a16:creationId xmlns:a16="http://schemas.microsoft.com/office/drawing/2014/main" id="{DBD5E487-962E-F6A3-FCFA-39262E5A88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a:extLst>
              <a:ext uri="{FF2B5EF4-FFF2-40B4-BE49-F238E27FC236}">
                <a16:creationId xmlns:a16="http://schemas.microsoft.com/office/drawing/2014/main" id="{268ACFCE-6525-0EB0-DC07-4510F4010E05}"/>
              </a:ext>
            </a:extLst>
          </p:cNvPr>
          <p:cNvSpPr>
            <a:spLocks noChangeArrowheads="1"/>
          </p:cNvSpPr>
          <p:nvPr/>
        </p:nvSpPr>
        <p:spPr bwMode="auto">
          <a:xfrm>
            <a:off x="560440" y="683802"/>
            <a:ext cx="8052618" cy="1483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Research Paper -3</a:t>
            </a:r>
            <a:endParaRPr lang="en-US" altLang="en-US"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In-Cabin Monitoring Framework for Autonomous Vehicles in Public Transportation</a:t>
            </a:r>
            <a:endParaRPr lang="en-US" altLang="en-US" sz="2000" dirty="0">
              <a:latin typeface="Times New Roman" panose="02020603050405020304" pitchFamily="18" charset="0"/>
              <a:cs typeface="Times New Roman" panose="02020603050405020304" pitchFamily="18" charset="0"/>
            </a:endParaRPr>
          </a:p>
        </p:txBody>
      </p:sp>
      <p:sp>
        <p:nvSpPr>
          <p:cNvPr id="17412" name="TextBox 4">
            <a:extLst>
              <a:ext uri="{FF2B5EF4-FFF2-40B4-BE49-F238E27FC236}">
                <a16:creationId xmlns:a16="http://schemas.microsoft.com/office/drawing/2014/main" id="{5C193773-F717-4E0A-A4BC-2B6EF359E450}"/>
              </a:ext>
            </a:extLst>
          </p:cNvPr>
          <p:cNvSpPr txBox="1">
            <a:spLocks noChangeArrowheads="1"/>
          </p:cNvSpPr>
          <p:nvPr/>
        </p:nvSpPr>
        <p:spPr bwMode="auto">
          <a:xfrm>
            <a:off x="560439" y="2059251"/>
            <a:ext cx="8052619" cy="3914983"/>
          </a:xfrm>
          <a:prstGeom prst="rect">
            <a:avLst/>
          </a:prstGeom>
          <a:noFill/>
          <a:ln>
            <a:noFill/>
          </a:ln>
        </p:spPr>
        <p:txBody>
          <a:bodyPr wrap="square">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defRPr/>
            </a:pPr>
            <a:r>
              <a:rPr lang="en-US" altLang="en-US" sz="2000" dirty="0">
                <a:latin typeface="Times New Roman" panose="02020603050405020304" pitchFamily="18" charset="0"/>
                <a:cs typeface="Times New Roman" panose="02020603050405020304" pitchFamily="18" charset="0"/>
              </a:rPr>
              <a:t>Develop a smart in-cabin monitoring system using visual (RGB, depth) and audio sensors.</a:t>
            </a:r>
          </a:p>
          <a:p>
            <a:pPr algn="just">
              <a:lnSpc>
                <a:spcPct val="150000"/>
              </a:lnSpc>
              <a:defRPr/>
            </a:pPr>
            <a:r>
              <a:rPr lang="en-US" altLang="en-US" sz="2000" dirty="0">
                <a:latin typeface="Times New Roman" panose="02020603050405020304" pitchFamily="18" charset="0"/>
                <a:cs typeface="Times New Roman" panose="02020603050405020304" pitchFamily="18" charset="0"/>
              </a:rPr>
              <a:t>Ensure real-time passenger safety and security by detecting abnormal events.</a:t>
            </a:r>
            <a:endParaRPr lang="en-IN" altLang="en-US" sz="2000" dirty="0">
              <a:latin typeface="Times New Roman" panose="02020603050405020304" pitchFamily="18" charset="0"/>
              <a:cs typeface="Times New Roman" panose="02020603050405020304" pitchFamily="18" charset="0"/>
            </a:endParaRPr>
          </a:p>
          <a:p>
            <a:pPr algn="just">
              <a:lnSpc>
                <a:spcPct val="150000"/>
              </a:lnSpc>
              <a:defRPr/>
            </a:pPr>
            <a:r>
              <a:rPr lang="en-IN"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Collected dynamic dataset, NTU RGB for abnormal/normal events, and</a:t>
            </a:r>
            <a:r>
              <a:rPr lang="en-IN" sz="2000" dirty="0">
                <a:latin typeface="Times New Roman" panose="02020603050405020304" pitchFamily="18" charset="0"/>
                <a:ea typeface="Tahoma" panose="020B0604030504040204" pitchFamily="34" charset="0"/>
                <a:cs typeface="Times New Roman" panose="02020603050405020304" pitchFamily="18" charset="0"/>
              </a:rPr>
              <a:t> </a:t>
            </a:r>
            <a:r>
              <a:rPr lang="en-IN" sz="2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Custom Dataset for known/unknown passengers</a:t>
            </a:r>
            <a:r>
              <a:rPr lang="en-IN" sz="2000" dirty="0">
                <a:latin typeface="Times New Roman" panose="02020603050405020304" pitchFamily="18" charset="0"/>
                <a:ea typeface="Tahoma" panose="020B0604030504040204" pitchFamily="34" charset="0"/>
                <a:cs typeface="Times New Roman" panose="02020603050405020304" pitchFamily="18" charset="0"/>
              </a:rPr>
              <a:t>.</a:t>
            </a:r>
          </a:p>
          <a:p>
            <a:pPr algn="just">
              <a:lnSpc>
                <a:spcPct val="150000"/>
              </a:lnSpc>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Achieved </a:t>
            </a:r>
            <a:r>
              <a:rPr lang="en-US" sz="2000" dirty="0">
                <a:latin typeface="Times New Roman" panose="02020603050405020304" pitchFamily="18" charset="0"/>
                <a:ea typeface="Tahoma" panose="020B0604030504040204" pitchFamily="34" charset="0"/>
                <a:cs typeface="Times New Roman" panose="02020603050405020304" pitchFamily="18" charset="0"/>
              </a:rPr>
              <a:t>accuracy in video abnormal event detection is 95.2%, Audio abnormal event detection is 91.82%, Facial identification is 74.52%.</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7413" name="Rectangle 3">
            <a:extLst>
              <a:ext uri="{FF2B5EF4-FFF2-40B4-BE49-F238E27FC236}">
                <a16:creationId xmlns:a16="http://schemas.microsoft.com/office/drawing/2014/main" id="{8C8B4430-162B-C1BC-A0DD-B6AF736ABD3E}"/>
              </a:ext>
            </a:extLst>
          </p:cNvPr>
          <p:cNvSpPr>
            <a:spLocks noChangeArrowheads="1"/>
          </p:cNvSpPr>
          <p:nvPr/>
        </p:nvSpPr>
        <p:spPr bwMode="auto">
          <a:xfrm>
            <a:off x="2492375" y="374650"/>
            <a:ext cx="41576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dirty="0">
                <a:solidFill>
                  <a:srgbClr val="0070C0"/>
                </a:solidFill>
                <a:latin typeface="Times New Roman" panose="02020603050405020304" pitchFamily="18" charset="0"/>
                <a:cs typeface="Times New Roman" panose="02020603050405020304" pitchFamily="18" charset="0"/>
              </a:rPr>
              <a:t>Literature Survey…</a:t>
            </a:r>
            <a:r>
              <a:rPr lang="en-IN" altLang="en-US" sz="2800" b="1" dirty="0" err="1">
                <a:solidFill>
                  <a:srgbClr val="0070C0"/>
                </a:solidFill>
                <a:latin typeface="Times New Roman" panose="02020603050405020304" pitchFamily="18" charset="0"/>
                <a:cs typeface="Times New Roman" panose="02020603050405020304" pitchFamily="18" charset="0"/>
              </a:rPr>
              <a:t>contd</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D:\GITAM-GST-CSE\2024-25\Capstone-Project\GITAM-newlogo.jpeg">
            <a:extLst>
              <a:ext uri="{FF2B5EF4-FFF2-40B4-BE49-F238E27FC236}">
                <a16:creationId xmlns:a16="http://schemas.microsoft.com/office/drawing/2014/main" id="{030034DF-F1D3-9863-DF33-33CA0862F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Rectangle 3">
            <a:extLst>
              <a:ext uri="{FF2B5EF4-FFF2-40B4-BE49-F238E27FC236}">
                <a16:creationId xmlns:a16="http://schemas.microsoft.com/office/drawing/2014/main" id="{4BFD0D14-5A85-E258-1070-6A1910FEFAE1}"/>
              </a:ext>
            </a:extLst>
          </p:cNvPr>
          <p:cNvSpPr>
            <a:spLocks noChangeArrowheads="1"/>
          </p:cNvSpPr>
          <p:nvPr/>
        </p:nvSpPr>
        <p:spPr bwMode="auto">
          <a:xfrm>
            <a:off x="2493963" y="454025"/>
            <a:ext cx="4156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sp>
        <p:nvSpPr>
          <p:cNvPr id="18436" name="Rectangle 2">
            <a:extLst>
              <a:ext uri="{FF2B5EF4-FFF2-40B4-BE49-F238E27FC236}">
                <a16:creationId xmlns:a16="http://schemas.microsoft.com/office/drawing/2014/main" id="{0416861D-48B9-9E37-364A-C2B134557B50}"/>
              </a:ext>
            </a:extLst>
          </p:cNvPr>
          <p:cNvSpPr>
            <a:spLocks noChangeArrowheads="1"/>
          </p:cNvSpPr>
          <p:nvPr/>
        </p:nvSpPr>
        <p:spPr bwMode="auto">
          <a:xfrm>
            <a:off x="3995738" y="977900"/>
            <a:ext cx="9794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a:latin typeface="Times New Roman" panose="02020603050405020304" pitchFamily="18" charset="0"/>
                <a:ea typeface="Calibri" panose="020F0502020204030204" pitchFamily="34" charset="0"/>
                <a:cs typeface="Times New Roman" panose="02020603050405020304" pitchFamily="18" charset="0"/>
              </a:rPr>
              <a:t>Table 3</a:t>
            </a:r>
            <a:endParaRPr lang="en-US" altLang="en-US" sz="1100" b="1">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99629F1E-323F-0039-CC8D-FC0CB91518FF}"/>
              </a:ext>
            </a:extLst>
          </p:cNvPr>
          <p:cNvGraphicFramePr>
            <a:graphicFrameLocks noGrp="1"/>
          </p:cNvGraphicFramePr>
          <p:nvPr>
            <p:extLst>
              <p:ext uri="{D42A27DB-BD31-4B8C-83A1-F6EECF244321}">
                <p14:modId xmlns:p14="http://schemas.microsoft.com/office/powerpoint/2010/main" val="1474534380"/>
              </p:ext>
            </p:extLst>
          </p:nvPr>
        </p:nvGraphicFramePr>
        <p:xfrm>
          <a:off x="338138" y="1377950"/>
          <a:ext cx="8467722" cy="5079406"/>
        </p:xfrm>
        <a:graphic>
          <a:graphicData uri="http://schemas.openxmlformats.org/drawingml/2006/table">
            <a:tbl>
              <a:tblPr firstRow="1" bandRow="1">
                <a:tableStyleId>{5940675A-B579-460E-94D1-54222C63F5DA}</a:tableStyleId>
              </a:tblPr>
              <a:tblGrid>
                <a:gridCol w="532300">
                  <a:extLst>
                    <a:ext uri="{9D8B030D-6E8A-4147-A177-3AD203B41FA5}">
                      <a16:colId xmlns:a16="http://schemas.microsoft.com/office/drawing/2014/main" val="20000"/>
                    </a:ext>
                  </a:extLst>
                </a:gridCol>
                <a:gridCol w="1345224">
                  <a:extLst>
                    <a:ext uri="{9D8B030D-6E8A-4147-A177-3AD203B41FA5}">
                      <a16:colId xmlns:a16="http://schemas.microsoft.com/office/drawing/2014/main" val="20001"/>
                    </a:ext>
                  </a:extLst>
                </a:gridCol>
                <a:gridCol w="1550298">
                  <a:extLst>
                    <a:ext uri="{9D8B030D-6E8A-4147-A177-3AD203B41FA5}">
                      <a16:colId xmlns:a16="http://schemas.microsoft.com/office/drawing/2014/main" val="20002"/>
                    </a:ext>
                  </a:extLst>
                </a:gridCol>
                <a:gridCol w="1497603">
                  <a:extLst>
                    <a:ext uri="{9D8B030D-6E8A-4147-A177-3AD203B41FA5}">
                      <a16:colId xmlns:a16="http://schemas.microsoft.com/office/drawing/2014/main" val="20003"/>
                    </a:ext>
                  </a:extLst>
                </a:gridCol>
                <a:gridCol w="1518127">
                  <a:extLst>
                    <a:ext uri="{9D8B030D-6E8A-4147-A177-3AD203B41FA5}">
                      <a16:colId xmlns:a16="http://schemas.microsoft.com/office/drawing/2014/main" val="20004"/>
                    </a:ext>
                  </a:extLst>
                </a:gridCol>
                <a:gridCol w="2024170">
                  <a:extLst>
                    <a:ext uri="{9D8B030D-6E8A-4147-A177-3AD203B41FA5}">
                      <a16:colId xmlns:a16="http://schemas.microsoft.com/office/drawing/2014/main" val="20005"/>
                    </a:ext>
                  </a:extLst>
                </a:gridCol>
              </a:tblGrid>
              <a:tr h="1330366">
                <a:tc>
                  <a:txBody>
                    <a:bodyPr/>
                    <a:lstStyle/>
                    <a:p>
                      <a:pPr algn="ctr">
                        <a:lnSpc>
                          <a:spcPct val="150000"/>
                        </a:lnSpc>
                        <a:spcAft>
                          <a:spcPts val="0"/>
                        </a:spcAft>
                      </a:pPr>
                      <a:r>
                        <a:rPr lang="en-US" sz="2000" b="1" dirty="0">
                          <a:effectLst/>
                          <a:latin typeface="Times New Roman"/>
                          <a:ea typeface="Tahoma"/>
                          <a:cs typeface="Times New Roman"/>
                        </a:rPr>
                        <a:t>S.</a:t>
                      </a:r>
                    </a:p>
                    <a:p>
                      <a:pPr algn="ctr">
                        <a:lnSpc>
                          <a:spcPct val="150000"/>
                        </a:lnSpc>
                        <a:spcAft>
                          <a:spcPts val="0"/>
                        </a:spcAft>
                      </a:pPr>
                      <a:r>
                        <a:rPr lang="en-US" sz="2000" b="1" dirty="0">
                          <a:effectLst/>
                          <a:latin typeface="Times New Roman"/>
                          <a:ea typeface="Tahoma"/>
                          <a:cs typeface="Times New Roman"/>
                        </a:rPr>
                        <a:t>No.</a:t>
                      </a:r>
                      <a:endParaRPr lang="en-IN" sz="2000" b="1" dirty="0">
                        <a:effectLst/>
                        <a:latin typeface="Times New Roman"/>
                        <a:ea typeface="Tahoma"/>
                        <a:cs typeface="Times New Roman"/>
                      </a:endParaRPr>
                    </a:p>
                  </a:txBody>
                  <a:tcPr marL="68613" marR="68613" marT="0" marB="0"/>
                </a:tc>
                <a:tc>
                  <a:txBody>
                    <a:bodyPr/>
                    <a:lstStyle/>
                    <a:p>
                      <a:pPr algn="ctr">
                        <a:lnSpc>
                          <a:spcPct val="150000"/>
                        </a:lnSpc>
                        <a:spcAft>
                          <a:spcPts val="0"/>
                        </a:spcAft>
                      </a:pPr>
                      <a:r>
                        <a:rPr lang="en-US" sz="2000" b="1">
                          <a:effectLst/>
                          <a:latin typeface="Times New Roman"/>
                          <a:ea typeface="Tahoma"/>
                          <a:cs typeface="Times New Roman"/>
                        </a:rPr>
                        <a:t>Paper Details</a:t>
                      </a:r>
                      <a:endParaRPr lang="en-IN" sz="2000" b="1">
                        <a:effectLst/>
                        <a:latin typeface="Times New Roman"/>
                        <a:ea typeface="Tahoma"/>
                        <a:cs typeface="Times New Roman"/>
                      </a:endParaRPr>
                    </a:p>
                  </a:txBody>
                  <a:tcPr marL="68613" marR="68613" marT="0" marB="0"/>
                </a:tc>
                <a:tc>
                  <a:txBody>
                    <a:bodyPr/>
                    <a:lstStyle/>
                    <a:p>
                      <a:pPr algn="ctr">
                        <a:lnSpc>
                          <a:spcPct val="150000"/>
                        </a:lnSpc>
                        <a:spcAft>
                          <a:spcPts val="0"/>
                        </a:spcAft>
                      </a:pPr>
                      <a:r>
                        <a:rPr lang="en-US" sz="2000" b="1">
                          <a:effectLst/>
                          <a:latin typeface="Times New Roman"/>
                          <a:ea typeface="Tahoma"/>
                          <a:cs typeface="Times New Roman"/>
                        </a:rPr>
                        <a:t>Dataset</a:t>
                      </a:r>
                    </a:p>
                  </a:txBody>
                  <a:tcPr marL="68613" marR="68613" marT="0" marB="0"/>
                </a:tc>
                <a:tc>
                  <a:txBody>
                    <a:bodyPr/>
                    <a:lstStyle/>
                    <a:p>
                      <a:pPr algn="ctr">
                        <a:lnSpc>
                          <a:spcPct val="150000"/>
                        </a:lnSpc>
                        <a:spcAft>
                          <a:spcPts val="0"/>
                        </a:spcAft>
                      </a:pPr>
                      <a:r>
                        <a:rPr lang="en-US" sz="2000" b="1">
                          <a:effectLst/>
                          <a:latin typeface="Times New Roman"/>
                          <a:ea typeface="Tahoma"/>
                          <a:cs typeface="Times New Roman"/>
                        </a:rPr>
                        <a:t>Techniques/</a:t>
                      </a:r>
                    </a:p>
                    <a:p>
                      <a:pPr algn="ctr">
                        <a:lnSpc>
                          <a:spcPct val="150000"/>
                        </a:lnSpc>
                        <a:spcAft>
                          <a:spcPts val="0"/>
                        </a:spcAft>
                      </a:pPr>
                      <a:r>
                        <a:rPr lang="en-US" sz="2000" b="1">
                          <a:effectLst/>
                          <a:latin typeface="Times New Roman"/>
                          <a:ea typeface="Tahoma"/>
                          <a:cs typeface="Times New Roman"/>
                        </a:rPr>
                        <a:t>Algorithms</a:t>
                      </a:r>
                      <a:r>
                        <a:rPr lang="en-US" sz="2000" b="1" baseline="0">
                          <a:effectLst/>
                          <a:latin typeface="Times New Roman"/>
                          <a:ea typeface="Tahoma"/>
                          <a:cs typeface="Times New Roman"/>
                        </a:rPr>
                        <a:t> Used</a:t>
                      </a:r>
                      <a:endParaRPr lang="en-IN" sz="2000" b="1">
                        <a:effectLst/>
                        <a:latin typeface="Times New Roman"/>
                        <a:ea typeface="Tahoma"/>
                        <a:cs typeface="Times New Roman"/>
                      </a:endParaRPr>
                    </a:p>
                  </a:txBody>
                  <a:tcPr marL="68613" marR="68613" marT="0" marB="0"/>
                </a:tc>
                <a:tc>
                  <a:txBody>
                    <a:bodyPr/>
                    <a:lstStyle/>
                    <a:p>
                      <a:pPr algn="ctr">
                        <a:lnSpc>
                          <a:spcPct val="150000"/>
                        </a:lnSpc>
                        <a:spcAft>
                          <a:spcPts val="0"/>
                        </a:spcAft>
                      </a:pPr>
                      <a:r>
                        <a:rPr lang="en-US" sz="2000" b="1">
                          <a:effectLst/>
                          <a:latin typeface="Times New Roman"/>
                          <a:ea typeface="Tahoma"/>
                          <a:cs typeface="Times New Roman"/>
                        </a:rPr>
                        <a:t>Result</a:t>
                      </a:r>
                      <a:endParaRPr lang="en-IN" sz="2000" b="1">
                        <a:effectLst/>
                        <a:latin typeface="Times New Roman"/>
                        <a:ea typeface="Tahoma"/>
                        <a:cs typeface="Times New Roman"/>
                      </a:endParaRPr>
                    </a:p>
                  </a:txBody>
                  <a:tcPr marL="68613" marR="68613" marT="0" marB="0"/>
                </a:tc>
                <a:tc>
                  <a:txBody>
                    <a:bodyPr/>
                    <a:lstStyle/>
                    <a:p>
                      <a:pPr algn="ctr">
                        <a:lnSpc>
                          <a:spcPct val="150000"/>
                        </a:lnSpc>
                        <a:spcAft>
                          <a:spcPts val="0"/>
                        </a:spcAft>
                      </a:pPr>
                      <a:r>
                        <a:rPr lang="en-IN" sz="2000" b="1" dirty="0">
                          <a:effectLst/>
                          <a:latin typeface="Times New Roman"/>
                          <a:ea typeface="Tahoma"/>
                          <a:cs typeface="Times New Roman"/>
                        </a:rPr>
                        <a:t>Research </a:t>
                      </a:r>
                    </a:p>
                    <a:p>
                      <a:pPr algn="ctr">
                        <a:lnSpc>
                          <a:spcPct val="150000"/>
                        </a:lnSpc>
                        <a:spcAft>
                          <a:spcPts val="0"/>
                        </a:spcAft>
                      </a:pPr>
                      <a:r>
                        <a:rPr lang="en-IN" sz="2000" b="1" dirty="0">
                          <a:effectLst/>
                          <a:latin typeface="Times New Roman"/>
                          <a:ea typeface="Tahoma"/>
                          <a:cs typeface="Times New Roman"/>
                        </a:rPr>
                        <a:t>Gap</a:t>
                      </a:r>
                    </a:p>
                  </a:txBody>
                  <a:tcPr marL="68613" marR="68613" marT="0" marB="0"/>
                </a:tc>
                <a:extLst>
                  <a:ext uri="{0D108BD9-81ED-4DB2-BD59-A6C34878D82A}">
                    <a16:rowId xmlns:a16="http://schemas.microsoft.com/office/drawing/2014/main" val="10000"/>
                  </a:ext>
                </a:extLst>
              </a:tr>
              <a:tr h="3725003">
                <a:tc>
                  <a:txBody>
                    <a:bodyPr/>
                    <a:lstStyle/>
                    <a:p>
                      <a:pPr algn="ctr" fontAlgn="t">
                        <a:buNone/>
                      </a:pPr>
                      <a:r>
                        <a:rPr lang="en-US" sz="1600" b="1" dirty="0">
                          <a:effectLst/>
                          <a:latin typeface="Times New Roman"/>
                          <a:ea typeface="Tahoma"/>
                          <a:cs typeface="Times New Roman"/>
                        </a:rPr>
                        <a:t>3</a:t>
                      </a:r>
                      <a:endParaRPr lang="en-IN" sz="1600" b="1" dirty="0">
                        <a:effectLst/>
                        <a:latin typeface="Times New Roman"/>
                        <a:ea typeface="Tahoma"/>
                        <a:cs typeface="Times New Roman"/>
                      </a:endParaRPr>
                    </a:p>
                  </a:txBody>
                  <a:tcPr marL="68613" marR="68613"/>
                </a:tc>
                <a:tc>
                  <a:txBody>
                    <a:bodyPr/>
                    <a:lstStyle/>
                    <a:p>
                      <a:pPr algn="just" rtl="0"/>
                      <a:r>
                        <a:rPr lang="en-US" sz="1600" b="0" u="none" strike="noStrike" kern="1200" dirty="0">
                          <a:solidFill>
                            <a:schemeClr val="tx1"/>
                          </a:solidFill>
                          <a:effectLst/>
                          <a:latin typeface="Times New Roman"/>
                          <a:ea typeface="Tahoma"/>
                          <a:cs typeface="Times New Roman"/>
                        </a:rPr>
                        <a:t>In-Cabin Monitoring Framework for Autonomous Vehicles (public </a:t>
                      </a:r>
                      <a:r>
                        <a:rPr lang="en-US" sz="1600" b="0" u="none" strike="noStrike" kern="1200" dirty="0" err="1">
                          <a:solidFill>
                            <a:schemeClr val="tx1"/>
                          </a:solidFill>
                          <a:effectLst/>
                          <a:latin typeface="Times New Roman"/>
                          <a:ea typeface="Tahoma"/>
                          <a:cs typeface="Times New Roman"/>
                        </a:rPr>
                        <a:t>transportationby</a:t>
                      </a:r>
                      <a:br>
                        <a:rPr lang="en-US" sz="1600" dirty="0">
                          <a:latin typeface="Times New Roman"/>
                          <a:ea typeface="Tahoma"/>
                          <a:cs typeface="Times New Roman"/>
                        </a:rPr>
                      </a:br>
                      <a:r>
                        <a:rPr lang="en-IN" sz="1600" b="0" u="none" strike="noStrike" dirty="0">
                          <a:solidFill>
                            <a:srgbClr val="000000"/>
                          </a:solidFill>
                          <a:effectLst/>
                          <a:latin typeface="Times New Roman"/>
                          <a:ea typeface="Tahoma"/>
                          <a:cs typeface="Times New Roman"/>
                        </a:rPr>
                        <a:t>Antonios Lalas, and members [2025]</a:t>
                      </a:r>
                      <a:endParaRPr lang="en-IN" sz="1600" dirty="0">
                        <a:effectLst/>
                        <a:latin typeface="Times New Roman"/>
                        <a:ea typeface="Tahoma"/>
                        <a:cs typeface="Times New Roman"/>
                      </a:endParaRPr>
                    </a:p>
                    <a:p>
                      <a:pPr algn="just" fontAlgn="t">
                        <a:buNone/>
                      </a:pPr>
                      <a:br>
                        <a:rPr lang="en-IN" sz="1600" dirty="0">
                          <a:effectLst/>
                          <a:latin typeface="Times New Roman"/>
                          <a:ea typeface="Tahoma"/>
                          <a:cs typeface="Times New Roman"/>
                        </a:rPr>
                      </a:br>
                      <a:endParaRPr lang="en-IN" sz="1600" dirty="0">
                        <a:effectLst/>
                        <a:latin typeface="Times New Roman"/>
                        <a:ea typeface="Tahoma"/>
                        <a:cs typeface="Times New Roman"/>
                      </a:endParaRPr>
                    </a:p>
                  </a:txBody>
                  <a:tcPr marL="68613" marR="68613"/>
                </a:tc>
                <a:tc>
                  <a:txBody>
                    <a:bodyPr/>
                    <a:lstStyle/>
                    <a:p>
                      <a:pPr algn="just" rtl="0" fontAlgn="t">
                        <a:buNone/>
                      </a:pPr>
                      <a:r>
                        <a:rPr lang="en-IN" sz="1600" b="0" u="none" strike="noStrike">
                          <a:solidFill>
                            <a:srgbClr val="000000"/>
                          </a:solidFill>
                          <a:effectLst/>
                          <a:latin typeface="Times New Roman"/>
                          <a:ea typeface="Tahoma"/>
                          <a:cs typeface="Times New Roman"/>
                        </a:rPr>
                        <a:t>Dynamic    </a:t>
                      </a:r>
                    </a:p>
                    <a:p>
                      <a:pPr algn="just" rtl="0" fontAlgn="t">
                        <a:buNone/>
                      </a:pPr>
                      <a:r>
                        <a:rPr lang="en-IN" sz="1600" b="0" u="none" strike="noStrike">
                          <a:solidFill>
                            <a:srgbClr val="000000"/>
                          </a:solidFill>
                          <a:effectLst/>
                          <a:latin typeface="Times New Roman"/>
                          <a:ea typeface="Tahoma"/>
                          <a:cs typeface="Times New Roman"/>
                        </a:rPr>
                        <a:t>dataset,</a:t>
                      </a:r>
                      <a:endParaRPr lang="en-IN" sz="1600">
                        <a:effectLst/>
                        <a:latin typeface="Times New Roman"/>
                        <a:ea typeface="Tahoma"/>
                        <a:cs typeface="Times New Roman"/>
                      </a:endParaRPr>
                    </a:p>
                    <a:p>
                      <a:pPr algn="just" rtl="0" fontAlgn="t">
                        <a:buNone/>
                      </a:pPr>
                      <a:r>
                        <a:rPr lang="en-IN" sz="1600" b="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NTU RGB, 20 video segments (3 sec each) of abnormal/normal events</a:t>
                      </a:r>
                      <a:endParaRPr lang="en-IN" sz="1600">
                        <a:effectLst/>
                        <a:latin typeface="Times New Roman" panose="02020603050405020304" pitchFamily="18" charset="0"/>
                        <a:ea typeface="Tahoma" panose="020B0604030504040204" pitchFamily="34" charset="0"/>
                        <a:cs typeface="Times New Roman" panose="02020603050405020304" pitchFamily="18" charset="0"/>
                      </a:endParaRPr>
                    </a:p>
                    <a:p>
                      <a:pPr algn="just" fontAlgn="t">
                        <a:buNone/>
                      </a:pPr>
                      <a:endParaRPr lang="en-IN" sz="1600">
                        <a:effectLst/>
                        <a:latin typeface="Times New Roman" panose="02020603050405020304" pitchFamily="18" charset="0"/>
                        <a:ea typeface="Tahoma" panose="020B0604030504040204" pitchFamily="34" charset="0"/>
                        <a:cs typeface="Times New Roman" panose="02020603050405020304" pitchFamily="18" charset="0"/>
                      </a:endParaRPr>
                    </a:p>
                    <a:p>
                      <a:pPr algn="just" rtl="0" fontAlgn="t">
                        <a:buNone/>
                      </a:pPr>
                      <a:r>
                        <a:rPr lang="en-IN" sz="1600" b="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Custom Dataset,</a:t>
                      </a:r>
                      <a:endParaRPr lang="en-IN" sz="1600">
                        <a:effectLst/>
                        <a:latin typeface="Times New Roman" panose="02020603050405020304" pitchFamily="18" charset="0"/>
                        <a:ea typeface="Tahoma" panose="020B0604030504040204" pitchFamily="34" charset="0"/>
                        <a:cs typeface="Times New Roman" panose="02020603050405020304" pitchFamily="18" charset="0"/>
                      </a:endParaRPr>
                    </a:p>
                    <a:p>
                      <a:pPr algn="just" rtl="0" fontAlgn="t">
                        <a:buNone/>
                      </a:pPr>
                      <a:r>
                        <a:rPr lang="en-IN" sz="1600" b="0" u="none" strike="noStrike">
                          <a:solidFill>
                            <a:srgbClr val="000000"/>
                          </a:solidFill>
                          <a:effectLst/>
                          <a:latin typeface="Times New Roman"/>
                          <a:ea typeface="Tahoma"/>
                          <a:cs typeface="Times New Roman"/>
                        </a:rPr>
                        <a:t>25 video segments (3 sec each) of known/unknown passengers.</a:t>
                      </a:r>
                      <a:br>
                        <a:rPr lang="en-IN" sz="1600" b="0" u="none" strike="noStrike">
                          <a:solidFill>
                            <a:srgbClr val="000000"/>
                          </a:solidFill>
                          <a:effectLst/>
                          <a:latin typeface="Times New Roman"/>
                          <a:ea typeface="Tahoma"/>
                          <a:cs typeface="Times New Roman"/>
                        </a:rPr>
                      </a:br>
                      <a:endParaRPr lang="en-IN" sz="1600">
                        <a:effectLst/>
                        <a:latin typeface="Times New Roman"/>
                        <a:ea typeface="Tahoma"/>
                        <a:cs typeface="Times New Roman"/>
                      </a:endParaRPr>
                    </a:p>
                  </a:txBody>
                  <a:tcPr marL="68613" marR="68613"/>
                </a:tc>
                <a:tc>
                  <a:txBody>
                    <a:bodyPr/>
                    <a:lstStyle/>
                    <a:p>
                      <a:pPr algn="just" rtl="0" fontAlgn="base">
                        <a:buFont typeface="Arial" panose="020B0604020202020204" pitchFamily="34" charset="0"/>
                        <a:buChar char="•"/>
                      </a:pPr>
                      <a:r>
                        <a:rPr lang="en-IN" sz="1600" dirty="0">
                          <a:latin typeface="Times New Roman"/>
                          <a:ea typeface="Tahoma"/>
                          <a:cs typeface="Times New Roman"/>
                        </a:rPr>
                        <a:t>LSTM-based pose classification.</a:t>
                      </a:r>
                    </a:p>
                    <a:p>
                      <a:pPr algn="just" rtl="0" fontAlgn="base">
                        <a:buFont typeface="Arial" panose="020B0604020202020204" pitchFamily="34" charset="0"/>
                        <a:buChar char="•"/>
                      </a:pPr>
                      <a:r>
                        <a:rPr lang="en-IN" sz="1600" b="0" u="none" strike="noStrike" dirty="0">
                          <a:solidFill>
                            <a:srgbClr val="0D0D0D"/>
                          </a:solidFill>
                          <a:effectLst/>
                          <a:latin typeface="Times New Roman"/>
                          <a:ea typeface="Tahoma"/>
                          <a:cs typeface="Times New Roman"/>
                        </a:rPr>
                        <a:t>Spatiotemporal autoencoders</a:t>
                      </a:r>
                    </a:p>
                    <a:p>
                      <a:pPr algn="just" rtl="0" fontAlgn="base">
                        <a:buFont typeface="Arial" panose="020B0604020202020204" pitchFamily="34" charset="0"/>
                        <a:buChar char="•"/>
                      </a:pPr>
                      <a:r>
                        <a:rPr lang="en-IN" sz="1600" b="0" u="none" strike="noStrike" dirty="0">
                          <a:solidFill>
                            <a:srgbClr val="0D0D0D"/>
                          </a:solidFill>
                          <a:effectLst/>
                          <a:latin typeface="Times New Roman"/>
                          <a:ea typeface="Tahoma"/>
                          <a:cs typeface="Times New Roman"/>
                        </a:rPr>
                        <a:t>Dual-stream </a:t>
                      </a:r>
                      <a:r>
                        <a:rPr lang="en-IN" sz="1600" b="0" u="none" strike="noStrike" dirty="0" err="1">
                          <a:solidFill>
                            <a:srgbClr val="0D0D0D"/>
                          </a:solidFill>
                          <a:effectLst/>
                          <a:latin typeface="Times New Roman"/>
                          <a:ea typeface="Tahoma"/>
                          <a:cs typeface="Times New Roman"/>
                        </a:rPr>
                        <a:t>SlowFast</a:t>
                      </a:r>
                      <a:r>
                        <a:rPr lang="en-IN" sz="1600" b="0" u="none" strike="noStrike" dirty="0">
                          <a:solidFill>
                            <a:srgbClr val="0D0D0D"/>
                          </a:solidFill>
                          <a:effectLst/>
                          <a:latin typeface="Times New Roman"/>
                          <a:ea typeface="Tahoma"/>
                          <a:cs typeface="Times New Roman"/>
                        </a:rPr>
                        <a:t> model for action recognition</a:t>
                      </a:r>
                    </a:p>
                    <a:p>
                      <a:pPr algn="just" rtl="0" fontAlgn="base">
                        <a:buFont typeface="Arial" panose="020B0604020202020204" pitchFamily="34" charset="0"/>
                        <a:buChar char="•"/>
                      </a:pPr>
                      <a:r>
                        <a:rPr lang="en-IN" sz="1600" b="0" u="none" strike="noStrike" dirty="0">
                          <a:solidFill>
                            <a:srgbClr val="000000"/>
                          </a:solidFill>
                          <a:effectLst/>
                          <a:latin typeface="Times New Roman"/>
                          <a:ea typeface="Tahoma"/>
                          <a:cs typeface="Times New Roman"/>
                        </a:rPr>
                        <a:t>DenseNet-121 CNN</a:t>
                      </a:r>
                    </a:p>
                    <a:p>
                      <a:pPr algn="just" rtl="0" fontAlgn="base">
                        <a:spcAft>
                          <a:spcPts val="800"/>
                        </a:spcAft>
                        <a:buFont typeface="Arial" panose="020B0604020202020204" pitchFamily="34" charset="0"/>
                        <a:buChar char="•"/>
                      </a:pPr>
                      <a:r>
                        <a:rPr lang="en-IN" sz="1600" b="0" u="none" strike="noStrike" dirty="0" err="1">
                          <a:solidFill>
                            <a:srgbClr val="000000"/>
                          </a:solidFill>
                          <a:effectLst/>
                          <a:latin typeface="Times New Roman"/>
                          <a:ea typeface="Tahoma"/>
                          <a:cs typeface="Times New Roman"/>
                        </a:rPr>
                        <a:t>ArcFace</a:t>
                      </a:r>
                      <a:r>
                        <a:rPr lang="en-IN" sz="1600" b="0" u="none" strike="noStrike" dirty="0">
                          <a:solidFill>
                            <a:srgbClr val="000000"/>
                          </a:solidFill>
                          <a:effectLst/>
                          <a:latin typeface="Times New Roman"/>
                          <a:ea typeface="Tahoma"/>
                          <a:cs typeface="Times New Roman"/>
                        </a:rPr>
                        <a:t> with </a:t>
                      </a:r>
                      <a:r>
                        <a:rPr lang="en-IN" sz="1600" b="0" u="none" strike="noStrike" dirty="0" err="1">
                          <a:solidFill>
                            <a:srgbClr val="000000"/>
                          </a:solidFill>
                          <a:effectLst/>
                          <a:latin typeface="Times New Roman"/>
                          <a:ea typeface="Tahoma"/>
                          <a:cs typeface="Times New Roman"/>
                        </a:rPr>
                        <a:t>xCos</a:t>
                      </a:r>
                      <a:r>
                        <a:rPr lang="en-IN" sz="1600" b="0" u="none" strike="noStrike" dirty="0">
                          <a:solidFill>
                            <a:srgbClr val="000000"/>
                          </a:solidFill>
                          <a:effectLst/>
                          <a:latin typeface="Times New Roman"/>
                          <a:ea typeface="Tahoma"/>
                          <a:cs typeface="Times New Roman"/>
                        </a:rPr>
                        <a:t> attention module.</a:t>
                      </a:r>
                      <a:endParaRPr lang="en-IN" sz="1600" b="0" i="0" u="none" strike="noStrike" dirty="0">
                        <a:solidFill>
                          <a:srgbClr val="000000"/>
                        </a:solidFill>
                        <a:effectLst/>
                        <a:latin typeface="Times New Roman"/>
                        <a:ea typeface="Tahoma"/>
                        <a:cs typeface="Times New Roman"/>
                      </a:endParaRPr>
                    </a:p>
                  </a:txBody>
                  <a:tcPr marL="68613" marR="68613"/>
                </a:tc>
                <a:tc>
                  <a:txBody>
                    <a:bodyPr/>
                    <a:lstStyle/>
                    <a:p>
                      <a:pPr algn="just" rtl="0" fontAlgn="t">
                        <a:buNone/>
                      </a:pPr>
                      <a:r>
                        <a:rPr lang="en-IN" sz="1600" b="0" u="none" strike="noStrike" dirty="0">
                          <a:solidFill>
                            <a:srgbClr val="000000"/>
                          </a:solidFill>
                          <a:effectLst/>
                          <a:latin typeface="Times New Roman"/>
                          <a:ea typeface="Tahoma"/>
                          <a:cs typeface="Times New Roman"/>
                        </a:rPr>
                        <a:t>Video abnormal event detection: Accuracy 95.2%, F1 0.97.</a:t>
                      </a:r>
                    </a:p>
                    <a:p>
                      <a:pPr algn="just" rtl="0" fontAlgn="t">
                        <a:buNone/>
                      </a:pPr>
                      <a:endParaRPr lang="en-IN" sz="1600" dirty="0">
                        <a:effectLst/>
                        <a:latin typeface="Times New Roman" panose="02020603050405020304" pitchFamily="18" charset="0"/>
                        <a:ea typeface="Tahoma" panose="020B0604030504040204" pitchFamily="34" charset="0"/>
                        <a:cs typeface="Times New Roman" panose="02020603050405020304" pitchFamily="18" charset="0"/>
                      </a:endParaRPr>
                    </a:p>
                    <a:p>
                      <a:pPr algn="just" rtl="0" fontAlgn="t">
                        <a:buNone/>
                      </a:pPr>
                      <a:r>
                        <a:rPr lang="en-IN" sz="1600" b="0" u="none" strike="noStrike" dirty="0">
                          <a:solidFill>
                            <a:srgbClr val="000000"/>
                          </a:solidFill>
                          <a:effectLst/>
                          <a:latin typeface="Times New Roman"/>
                          <a:ea typeface="Tahoma"/>
                          <a:cs typeface="Times New Roman"/>
                        </a:rPr>
                        <a:t>Audio abnormal event detection: F1 score 88.74% and  91.82%.</a:t>
                      </a:r>
                      <a:br>
                        <a:rPr lang="en-IN" sz="1600" dirty="0">
                          <a:effectLst/>
                          <a:latin typeface="Times New Roman"/>
                          <a:ea typeface="Tahoma"/>
                          <a:cs typeface="Times New Roman"/>
                        </a:rPr>
                      </a:br>
                      <a:endParaRPr lang="en-IN" sz="1600" dirty="0">
                        <a:effectLst/>
                        <a:latin typeface="Times New Roman"/>
                        <a:ea typeface="Tahoma"/>
                        <a:cs typeface="Times New Roman"/>
                      </a:endParaRPr>
                    </a:p>
                    <a:p>
                      <a:pPr algn="just" rtl="0" fontAlgn="t">
                        <a:buNone/>
                      </a:pPr>
                      <a:r>
                        <a:rPr lang="en-IN" sz="1600" b="0" u="none" strike="noStrike" dirty="0">
                          <a:solidFill>
                            <a:srgbClr val="000000"/>
                          </a:solidFill>
                          <a:effectLst/>
                          <a:latin typeface="Times New Roman"/>
                          <a:ea typeface="Tahoma"/>
                          <a:cs typeface="Times New Roman"/>
                        </a:rPr>
                        <a:t>Facial identification:</a:t>
                      </a:r>
                      <a:r>
                        <a:rPr lang="en-IN" sz="1600" b="0" u="none" strike="noStrike" dirty="0">
                          <a:solidFill>
                            <a:srgbClr val="0D0D0D"/>
                          </a:solidFill>
                          <a:effectLst/>
                          <a:latin typeface="Times New Roman"/>
                          <a:ea typeface="Tahoma"/>
                          <a:cs typeface="Times New Roman"/>
                        </a:rPr>
                        <a:t> </a:t>
                      </a:r>
                      <a:r>
                        <a:rPr lang="en-IN" sz="1600" b="0" u="none" strike="noStrike" dirty="0">
                          <a:solidFill>
                            <a:srgbClr val="000000"/>
                          </a:solidFill>
                          <a:effectLst/>
                          <a:latin typeface="Times New Roman"/>
                          <a:ea typeface="Tahoma"/>
                          <a:cs typeface="Times New Roman"/>
                        </a:rPr>
                        <a:t>Accuracy-74.52%.</a:t>
                      </a:r>
                      <a:endParaRPr lang="en-IN" sz="1600" dirty="0">
                        <a:effectLst/>
                        <a:latin typeface="Times New Roman"/>
                        <a:ea typeface="Tahoma"/>
                        <a:cs typeface="Times New Roman"/>
                      </a:endParaRPr>
                    </a:p>
                  </a:txBody>
                  <a:tcPr marL="68613" marR="68613"/>
                </a:tc>
                <a:tc>
                  <a:txBody>
                    <a:bodyPr/>
                    <a:lstStyle/>
                    <a:p>
                      <a:pPr algn="just" rtl="0" fontAlgn="base">
                        <a:buFont typeface="Arial" panose="020B0604020202020204" pitchFamily="34" charset="0"/>
                        <a:buChar char="•"/>
                      </a:pPr>
                      <a:r>
                        <a:rPr lang="en-US" sz="1600" b="0" u="none" strike="noStrike" dirty="0">
                          <a:solidFill>
                            <a:srgbClr val="000000"/>
                          </a:solidFill>
                          <a:effectLst/>
                          <a:latin typeface="Times New Roman"/>
                          <a:ea typeface="Tahoma"/>
                          <a:cs typeface="Times New Roman"/>
                        </a:rPr>
                        <a:t>Privacy concerns for facial capture; </a:t>
                      </a:r>
                      <a:r>
                        <a:rPr lang="en-IN" sz="1600" dirty="0">
                          <a:latin typeface="Times New Roman"/>
                          <a:ea typeface="Tahoma"/>
                          <a:cs typeface="Times New Roman"/>
                        </a:rPr>
                        <a:t>anonymization needed</a:t>
                      </a:r>
                      <a:r>
                        <a:rPr lang="en-US" sz="1600" b="0" u="none" strike="noStrike" dirty="0">
                          <a:solidFill>
                            <a:srgbClr val="000000"/>
                          </a:solidFill>
                          <a:effectLst/>
                          <a:latin typeface="Times New Roman"/>
                          <a:ea typeface="Tahoma"/>
                          <a:cs typeface="Times New Roman"/>
                        </a:rPr>
                        <a:t>.</a:t>
                      </a:r>
                    </a:p>
                    <a:p>
                      <a:pPr algn="just" rtl="0" fontAlgn="base">
                        <a:buFont typeface="Arial" panose="020B0604020202020204" pitchFamily="34" charset="0"/>
                        <a:buChar char="•"/>
                      </a:pPr>
                      <a:r>
                        <a:rPr lang="en-US" sz="1600" b="0" u="none" strike="noStrike" dirty="0">
                          <a:solidFill>
                            <a:srgbClr val="000000"/>
                          </a:solidFill>
                          <a:effectLst/>
                          <a:latin typeface="Times New Roman"/>
                          <a:ea typeface="Tahoma"/>
                          <a:cs typeface="Times New Roman"/>
                        </a:rPr>
                        <a:t>Current scope limited to onboard monitoring only.</a:t>
                      </a:r>
                    </a:p>
                    <a:p>
                      <a:pPr algn="just" rtl="0" fontAlgn="base">
                        <a:buFont typeface="Arial" panose="020B0604020202020204" pitchFamily="34" charset="0"/>
                        <a:buChar char="•"/>
                      </a:pPr>
                      <a:r>
                        <a:rPr lang="en-US" sz="1600" b="0" u="none" strike="noStrike" dirty="0">
                          <a:solidFill>
                            <a:srgbClr val="000000"/>
                          </a:solidFill>
                          <a:effectLst/>
                          <a:latin typeface="Times New Roman"/>
                          <a:ea typeface="Tahoma"/>
                          <a:cs typeface="Times New Roman"/>
                        </a:rPr>
                        <a:t>Slight performance degradation in radially oriented fisheye images for passenger counting</a:t>
                      </a:r>
                    </a:p>
                    <a:p>
                      <a:pPr algn="just" rtl="0" fontAlgn="base">
                        <a:spcAft>
                          <a:spcPts val="800"/>
                        </a:spcAft>
                        <a:buFont typeface="Arial" panose="020B0604020202020204" pitchFamily="34" charset="0"/>
                        <a:buChar char="•"/>
                      </a:pPr>
                      <a:r>
                        <a:rPr lang="en-US" sz="1600" b="0" u="none" strike="noStrike" dirty="0">
                          <a:solidFill>
                            <a:srgbClr val="000000"/>
                          </a:solidFill>
                          <a:effectLst/>
                          <a:latin typeface="Times New Roman"/>
                          <a:ea typeface="Tahoma"/>
                          <a:cs typeface="Times New Roman"/>
                        </a:rPr>
                        <a:t>Better needed for scalability across large fleets.</a:t>
                      </a:r>
                      <a:endParaRPr lang="en-US" sz="1600" b="0" i="0" u="none" strike="noStrike" dirty="0">
                        <a:solidFill>
                          <a:srgbClr val="000000"/>
                        </a:solidFill>
                        <a:effectLst/>
                        <a:latin typeface="Times New Roman"/>
                        <a:ea typeface="Tahoma"/>
                        <a:cs typeface="Times New Roman"/>
                      </a:endParaRPr>
                    </a:p>
                  </a:txBody>
                  <a:tcPr marL="68613" marR="68613"/>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554" name="Picture 2" descr="D:\GITAM-GST-CSE\2024-25\Capstone-Project\GITAM-newlogo.jpeg">
            <a:extLst>
              <a:ext uri="{FF2B5EF4-FFF2-40B4-BE49-F238E27FC236}">
                <a16:creationId xmlns:a16="http://schemas.microsoft.com/office/drawing/2014/main" id="{75BB39A2-0613-28B8-1606-C4F781E23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2">
            <a:extLst>
              <a:ext uri="{FF2B5EF4-FFF2-40B4-BE49-F238E27FC236}">
                <a16:creationId xmlns:a16="http://schemas.microsoft.com/office/drawing/2014/main" id="{E9EF40DD-D1A7-AEEF-F093-5237B6C43920}"/>
              </a:ext>
            </a:extLst>
          </p:cNvPr>
          <p:cNvSpPr>
            <a:spLocks noChangeArrowheads="1"/>
          </p:cNvSpPr>
          <p:nvPr/>
        </p:nvSpPr>
        <p:spPr bwMode="auto">
          <a:xfrm>
            <a:off x="471948" y="1089571"/>
            <a:ext cx="82296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fontAlgn="t">
              <a:lnSpc>
                <a:spcPct val="150000"/>
              </a:lnSpc>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Research Paper -4</a:t>
            </a:r>
            <a:endParaRPr lang="en-US" altLang="en-US" sz="2000" dirty="0">
              <a:latin typeface="Times New Roman" panose="02020603050405020304" pitchFamily="18" charset="0"/>
              <a:cs typeface="Times New Roman" panose="02020603050405020304" pitchFamily="18" charset="0"/>
            </a:endParaRPr>
          </a:p>
          <a:p>
            <a:pPr algn="just" fontAlgn="t">
              <a:lnSpc>
                <a:spcPct val="150000"/>
              </a:lnSpc>
              <a:buFont typeface="Arial" panose="020B0604020202020204" pitchFamily="34" charset="0"/>
              <a:buNone/>
            </a:pPr>
            <a:r>
              <a:rPr lang="en-US" altLang="en-US" sz="2000" b="1" dirty="0">
                <a:solidFill>
                  <a:srgbClr val="000000"/>
                </a:solidFill>
                <a:latin typeface="Times New Roman" panose="02020603050405020304" pitchFamily="18" charset="0"/>
              </a:rPr>
              <a:t>In-Cabin monitoring system for an autonomous vehicle</a:t>
            </a:r>
            <a:endParaRPr lang="en-US" altLang="en-US" sz="2000" b="1" dirty="0"/>
          </a:p>
        </p:txBody>
      </p:sp>
      <p:sp>
        <p:nvSpPr>
          <p:cNvPr id="23556" name="TextBox 4">
            <a:extLst>
              <a:ext uri="{FF2B5EF4-FFF2-40B4-BE49-F238E27FC236}">
                <a16:creationId xmlns:a16="http://schemas.microsoft.com/office/drawing/2014/main" id="{E5646CEB-5A8B-B4BB-4C2A-1B9798C88399}"/>
              </a:ext>
            </a:extLst>
          </p:cNvPr>
          <p:cNvSpPr txBox="1">
            <a:spLocks noChangeArrowheads="1"/>
          </p:cNvSpPr>
          <p:nvPr/>
        </p:nvSpPr>
        <p:spPr bwMode="auto">
          <a:xfrm>
            <a:off x="471948" y="2276872"/>
            <a:ext cx="8229599" cy="3853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pPr>
            <a:r>
              <a:rPr lang="en-US" altLang="en-US" sz="2000" dirty="0">
                <a:latin typeface="Times New Roman" panose="02020603050405020304" pitchFamily="18" charset="0"/>
                <a:cs typeface="Times New Roman" panose="02020603050405020304" pitchFamily="18" charset="0"/>
              </a:rPr>
              <a:t>AI-based In-Cabin Monitoring System (IMS) for level 4 and 5 autonomous vehicles (AVs) to ensure safety, security, surveillance, and privacy inside the vehicle when no human is present.</a:t>
            </a:r>
          </a:p>
          <a:p>
            <a:pPr algn="just">
              <a:lnSpc>
                <a:spcPct val="150000"/>
              </a:lnSpc>
            </a:pPr>
            <a:r>
              <a:rPr lang="en-US" altLang="en-US" sz="2000" dirty="0">
                <a:latin typeface="Times New Roman" panose="02020603050405020304" pitchFamily="18" charset="0"/>
                <a:cs typeface="Times New Roman" panose="02020603050405020304" pitchFamily="18" charset="0"/>
              </a:rPr>
              <a:t>Achieves best results of 95% for seat occupancy, 89% for passenger counting and seat location, 95% for child detection(infant).</a:t>
            </a:r>
            <a:r>
              <a:rPr lang="en-US" sz="2000" dirty="0">
                <a:latin typeface="Times New Roman" panose="02020603050405020304" pitchFamily="18" charset="0"/>
                <a:cs typeface="Times New Roman" panose="02020603050405020304" pitchFamily="18" charset="0"/>
              </a:rPr>
              <a:t> </a:t>
            </a:r>
          </a:p>
          <a:p>
            <a:pPr algn="just">
              <a:lnSpc>
                <a:spcPct val="150000"/>
              </a:lnSpc>
            </a:pPr>
            <a:r>
              <a:rPr lang="en-US" sz="2000" dirty="0">
                <a:latin typeface="Times New Roman" panose="02020603050405020304" pitchFamily="18" charset="0"/>
                <a:cs typeface="Times New Roman" panose="02020603050405020304" pitchFamily="18" charset="0"/>
              </a:rPr>
              <a:t>Dataset Created with 333,100 frames across 32 videos. Used for training object/occupant recognition.</a:t>
            </a:r>
          </a:p>
          <a:p>
            <a:pPr algn="just">
              <a:lnSpc>
                <a:spcPct val="150000"/>
              </a:lnSpc>
              <a:spcBef>
                <a:spcPct val="0"/>
              </a:spcBef>
            </a:pPr>
            <a:endParaRPr lang="en-US" altLang="en-US" sz="2000" dirty="0">
              <a:solidFill>
                <a:srgbClr val="000000"/>
              </a:solidFill>
              <a:latin typeface="Times New Roman" panose="02020603050405020304" pitchFamily="18" charset="0"/>
              <a:cs typeface="Times New Roman" panose="02020603050405020304" pitchFamily="18" charset="0"/>
            </a:endParaRPr>
          </a:p>
        </p:txBody>
      </p:sp>
      <p:sp>
        <p:nvSpPr>
          <p:cNvPr id="23557" name="Rectangle 3">
            <a:extLst>
              <a:ext uri="{FF2B5EF4-FFF2-40B4-BE49-F238E27FC236}">
                <a16:creationId xmlns:a16="http://schemas.microsoft.com/office/drawing/2014/main" id="{15176512-7A5A-29E1-C129-8FA1BAFCE3AA}"/>
              </a:ext>
            </a:extLst>
          </p:cNvPr>
          <p:cNvSpPr>
            <a:spLocks noChangeArrowheads="1"/>
          </p:cNvSpPr>
          <p:nvPr/>
        </p:nvSpPr>
        <p:spPr bwMode="auto">
          <a:xfrm>
            <a:off x="2487613" y="366713"/>
            <a:ext cx="4156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GITAM-GST-CSE\2024-25\Capstone-Project\GITAM-newlogo.jpeg">
            <a:extLst>
              <a:ext uri="{FF2B5EF4-FFF2-40B4-BE49-F238E27FC236}">
                <a16:creationId xmlns:a16="http://schemas.microsoft.com/office/drawing/2014/main" id="{12DCCA96-40D3-5650-59AB-B05BE3925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3">
            <a:extLst>
              <a:ext uri="{FF2B5EF4-FFF2-40B4-BE49-F238E27FC236}">
                <a16:creationId xmlns:a16="http://schemas.microsoft.com/office/drawing/2014/main" id="{06B1EB55-FB04-1E17-CE5D-07D69485B526}"/>
              </a:ext>
            </a:extLst>
          </p:cNvPr>
          <p:cNvSpPr>
            <a:spLocks noChangeArrowheads="1"/>
          </p:cNvSpPr>
          <p:nvPr/>
        </p:nvSpPr>
        <p:spPr bwMode="auto">
          <a:xfrm>
            <a:off x="2493963" y="398463"/>
            <a:ext cx="41560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graphicFrame>
        <p:nvGraphicFramePr>
          <p:cNvPr id="7" name="Table 6">
            <a:extLst>
              <a:ext uri="{FF2B5EF4-FFF2-40B4-BE49-F238E27FC236}">
                <a16:creationId xmlns:a16="http://schemas.microsoft.com/office/drawing/2014/main" id="{317D2FAC-1FD9-D504-AF69-3E1207A8240B}"/>
              </a:ext>
            </a:extLst>
          </p:cNvPr>
          <p:cNvGraphicFramePr>
            <a:graphicFrameLocks noGrp="1"/>
          </p:cNvGraphicFramePr>
          <p:nvPr>
            <p:extLst>
              <p:ext uri="{D42A27DB-BD31-4B8C-83A1-F6EECF244321}">
                <p14:modId xmlns:p14="http://schemas.microsoft.com/office/powerpoint/2010/main" val="3187085558"/>
              </p:ext>
            </p:extLst>
          </p:nvPr>
        </p:nvGraphicFramePr>
        <p:xfrm>
          <a:off x="468313" y="1412875"/>
          <a:ext cx="8207375" cy="4776788"/>
        </p:xfrm>
        <a:graphic>
          <a:graphicData uri="http://schemas.openxmlformats.org/drawingml/2006/table">
            <a:tbl>
              <a:tblPr firstRow="1" firstCol="1" bandRow="1"/>
              <a:tblGrid>
                <a:gridCol w="553526">
                  <a:extLst>
                    <a:ext uri="{9D8B030D-6E8A-4147-A177-3AD203B41FA5}">
                      <a16:colId xmlns:a16="http://schemas.microsoft.com/office/drawing/2014/main" val="20000"/>
                    </a:ext>
                  </a:extLst>
                </a:gridCol>
                <a:gridCol w="1174342">
                  <a:extLst>
                    <a:ext uri="{9D8B030D-6E8A-4147-A177-3AD203B41FA5}">
                      <a16:colId xmlns:a16="http://schemas.microsoft.com/office/drawing/2014/main" val="20001"/>
                    </a:ext>
                  </a:extLst>
                </a:gridCol>
                <a:gridCol w="1439890">
                  <a:extLst>
                    <a:ext uri="{9D8B030D-6E8A-4147-A177-3AD203B41FA5}">
                      <a16:colId xmlns:a16="http://schemas.microsoft.com/office/drawing/2014/main" val="20002"/>
                    </a:ext>
                  </a:extLst>
                </a:gridCol>
                <a:gridCol w="1511885">
                  <a:extLst>
                    <a:ext uri="{9D8B030D-6E8A-4147-A177-3AD203B41FA5}">
                      <a16:colId xmlns:a16="http://schemas.microsoft.com/office/drawing/2014/main" val="20003"/>
                    </a:ext>
                  </a:extLst>
                </a:gridCol>
                <a:gridCol w="1943852">
                  <a:extLst>
                    <a:ext uri="{9D8B030D-6E8A-4147-A177-3AD203B41FA5}">
                      <a16:colId xmlns:a16="http://schemas.microsoft.com/office/drawing/2014/main" val="20004"/>
                    </a:ext>
                  </a:extLst>
                </a:gridCol>
                <a:gridCol w="1583880">
                  <a:extLst>
                    <a:ext uri="{9D8B030D-6E8A-4147-A177-3AD203B41FA5}">
                      <a16:colId xmlns:a16="http://schemas.microsoft.com/office/drawing/2014/main" val="20005"/>
                    </a:ext>
                  </a:extLst>
                </a:gridCol>
              </a:tblGrid>
              <a:tr h="1316970">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S. No.</a:t>
                      </a:r>
                      <a:endParaRPr lang="en-IN" sz="2000" b="1">
                        <a:effectLst/>
                        <a:latin typeface="Times New Roman" pitchFamily="18" charset="0"/>
                        <a:ea typeface="Calibri"/>
                        <a:cs typeface="Times New Roman" pitchFamily="18" charset="0"/>
                      </a:endParaRPr>
                    </a:p>
                  </a:txBody>
                  <a:tcPr marL="68587" marR="68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Paper Details</a:t>
                      </a:r>
                      <a:endParaRPr lang="en-IN" sz="2000" b="1">
                        <a:effectLst/>
                        <a:latin typeface="Times New Roman" pitchFamily="18" charset="0"/>
                        <a:ea typeface="Calibri"/>
                        <a:cs typeface="Times New Roman" pitchFamily="18" charset="0"/>
                      </a:endParaRPr>
                    </a:p>
                  </a:txBody>
                  <a:tcPr marL="68587" marR="68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Dataset</a:t>
                      </a:r>
                    </a:p>
                    <a:p>
                      <a:pPr algn="ctr">
                        <a:lnSpc>
                          <a:spcPct val="150000"/>
                        </a:lnSpc>
                        <a:spcAft>
                          <a:spcPts val="0"/>
                        </a:spcAft>
                      </a:pPr>
                      <a:endParaRPr lang="en-IN" sz="2000" b="1">
                        <a:effectLst/>
                        <a:latin typeface="Times New Roman" pitchFamily="18" charset="0"/>
                        <a:ea typeface="Calibri"/>
                        <a:cs typeface="Times New Roman" pitchFamily="18" charset="0"/>
                      </a:endParaRPr>
                    </a:p>
                  </a:txBody>
                  <a:tcPr marL="68587" marR="68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Techniques/</a:t>
                      </a:r>
                    </a:p>
                    <a:p>
                      <a:pPr algn="ctr">
                        <a:lnSpc>
                          <a:spcPct val="150000"/>
                        </a:lnSpc>
                        <a:spcAft>
                          <a:spcPts val="0"/>
                        </a:spcAft>
                      </a:pPr>
                      <a:r>
                        <a:rPr lang="en-US" sz="2000" b="1">
                          <a:effectLst/>
                          <a:latin typeface="Times New Roman" pitchFamily="18" charset="0"/>
                          <a:ea typeface="Calibri"/>
                          <a:cs typeface="Times New Roman" pitchFamily="18" charset="0"/>
                        </a:rPr>
                        <a:t>Algorithms</a:t>
                      </a:r>
                      <a:r>
                        <a:rPr lang="en-US" sz="2000" b="1" baseline="0">
                          <a:effectLst/>
                          <a:latin typeface="Times New Roman" pitchFamily="18" charset="0"/>
                          <a:ea typeface="Calibri"/>
                          <a:cs typeface="Times New Roman" pitchFamily="18" charset="0"/>
                        </a:rPr>
                        <a:t> Used</a:t>
                      </a:r>
                      <a:endParaRPr lang="en-IN" sz="2000" b="1">
                        <a:effectLst/>
                        <a:latin typeface="Times New Roman" pitchFamily="18" charset="0"/>
                        <a:ea typeface="Calibri"/>
                        <a:cs typeface="Times New Roman" pitchFamily="18" charset="0"/>
                      </a:endParaRPr>
                    </a:p>
                  </a:txBody>
                  <a:tcPr marL="68587" marR="68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Result</a:t>
                      </a:r>
                      <a:endParaRPr lang="en-IN" sz="2000" b="1">
                        <a:effectLst/>
                        <a:latin typeface="Times New Roman" pitchFamily="18" charset="0"/>
                        <a:ea typeface="Calibri"/>
                        <a:cs typeface="Times New Roman" pitchFamily="18" charset="0"/>
                      </a:endParaRPr>
                    </a:p>
                  </a:txBody>
                  <a:tcPr marL="68587" marR="68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IN" sz="2000" b="1" dirty="0">
                          <a:effectLst/>
                          <a:latin typeface="Times New Roman" pitchFamily="18" charset="0"/>
                          <a:ea typeface="Calibri"/>
                          <a:cs typeface="Times New Roman" pitchFamily="18" charset="0"/>
                        </a:rPr>
                        <a:t>Research </a:t>
                      </a:r>
                    </a:p>
                    <a:p>
                      <a:pPr algn="ctr">
                        <a:lnSpc>
                          <a:spcPct val="150000"/>
                        </a:lnSpc>
                        <a:spcAft>
                          <a:spcPts val="0"/>
                        </a:spcAft>
                      </a:pPr>
                      <a:r>
                        <a:rPr lang="en-IN" sz="2000" b="1" dirty="0">
                          <a:effectLst/>
                          <a:latin typeface="Times New Roman" pitchFamily="18" charset="0"/>
                          <a:ea typeface="Calibri"/>
                          <a:cs typeface="Times New Roman" pitchFamily="18" charset="0"/>
                        </a:rPr>
                        <a:t>Gap</a:t>
                      </a:r>
                    </a:p>
                  </a:txBody>
                  <a:tcPr marL="68587" marR="68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59818">
                <a:tc>
                  <a:txBody>
                    <a:bodyPr/>
                    <a:lstStyle/>
                    <a:p>
                      <a:pPr algn="ctr" rtl="0" fontAlgn="t">
                        <a:buNone/>
                      </a:pPr>
                      <a:r>
                        <a:rPr lang="en-US" sz="1600" b="1" i="0" u="none" strike="noStrike" dirty="0">
                          <a:solidFill>
                            <a:srgbClr val="000000"/>
                          </a:solidFill>
                          <a:effectLst/>
                          <a:latin typeface="Times New Roman" panose="02020603050405020304" pitchFamily="18" charset="0"/>
                        </a:rPr>
                        <a:t>4</a:t>
                      </a:r>
                      <a:endParaRPr lang="en-IN" sz="1600" b="1" dirty="0">
                        <a:effectLst/>
                      </a:endParaRPr>
                    </a:p>
                  </a:txBody>
                  <a:tcPr marL="68579" marR="68579" marT="45731" marB="4573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sz="1600" b="0" i="0" u="none" strike="noStrike">
                          <a:solidFill>
                            <a:srgbClr val="000000"/>
                          </a:solidFill>
                          <a:effectLst/>
                          <a:latin typeface="Times New Roman" panose="02020603050405020304" pitchFamily="18" charset="0"/>
                        </a:rPr>
                        <a:t>In-Cabin monitoring system for an autonomous vehicle.</a:t>
                      </a:r>
                      <a:endParaRPr lang="en-US" sz="1600">
                        <a:effectLst/>
                      </a:endParaRPr>
                    </a:p>
                  </a:txBody>
                  <a:tcPr marL="68579" marR="68579" marT="45731" marB="4573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base"/>
                      <a:r>
                        <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rPr>
                        <a:t>Created with 333,100 frames across 32 videos.</a:t>
                      </a:r>
                    </a:p>
                    <a:p>
                      <a:pPr algn="just" rtl="0" fontAlgn="base"/>
                      <a:endPar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endParaRPr>
                    </a:p>
                    <a:p>
                      <a:pPr algn="just" rtl="0" fontAlgn="base"/>
                      <a:r>
                        <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rPr>
                        <a:t>Used for training object/occupant recognition.</a:t>
                      </a:r>
                    </a:p>
                    <a:p>
                      <a:pPr algn="just" rtl="0" fontAlgn="base"/>
                      <a:endPar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endParaRPr>
                    </a:p>
                    <a:p>
                      <a:pPr algn="just" rtl="0" fontAlgn="base"/>
                      <a:endParaRPr lang="en-US" sz="1400" b="0" i="0" u="none" strike="noStrike" kern="1200">
                        <a:solidFill>
                          <a:schemeClr val="tx1"/>
                        </a:solidFill>
                        <a:effectLst/>
                        <a:latin typeface="Times New Roman" panose="02020603050405020304" pitchFamily="18" charset="0"/>
                        <a:ea typeface="+mn-ea"/>
                        <a:cs typeface="Times New Roman" panose="02020603050405020304" pitchFamily="18" charset="0"/>
                      </a:endParaRPr>
                    </a:p>
                  </a:txBody>
                  <a:tcPr marL="68579" marR="68579" marT="45731" marB="4573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base"/>
                      <a:r>
                        <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rPr>
                        <a:t>A Single AI-powered camera monitors the entire cabin.</a:t>
                      </a:r>
                    </a:p>
                    <a:p>
                      <a:pPr algn="just" rtl="0" fontAlgn="base"/>
                      <a:endPar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endParaRPr>
                    </a:p>
                    <a:p>
                      <a:pPr algn="just" rtl="0" fontAlgn="base"/>
                      <a:r>
                        <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rPr>
                        <a:t>Rooftop position chosen for coverage; front-facing cameras activated only in irregular situations.</a:t>
                      </a:r>
                    </a:p>
                  </a:txBody>
                  <a:tcPr marL="50799" marR="50799" marT="50813" marB="5081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600" b="0" i="0" u="none" strike="noStrike" kern="1200" baseline="0">
                          <a:solidFill>
                            <a:schemeClr val="tx1"/>
                          </a:solidFill>
                          <a:latin typeface="Times New Roman" panose="02020603050405020304" pitchFamily="18" charset="0"/>
                          <a:ea typeface="+mn-ea"/>
                          <a:cs typeface="Times New Roman" panose="02020603050405020304" pitchFamily="18" charset="0"/>
                        </a:rPr>
                        <a:t>Comparison of different models accuracy in Yolov2 is 84.54%, Yolov3 is  87.64%, R-CNN is 87.74%, Tiny-yolo is 96.03%.</a:t>
                      </a:r>
                    </a:p>
                    <a:p>
                      <a:pPr algn="just"/>
                      <a:endParaRPr lang="en-IN" sz="1600" b="0" i="0" u="none" strike="noStrike" kern="1200" baseline="0">
                        <a:solidFill>
                          <a:schemeClr val="tx1"/>
                        </a:solidFill>
                        <a:effectLst/>
                        <a:latin typeface="Times New Roman" panose="02020603050405020304" pitchFamily="18" charset="0"/>
                        <a:ea typeface="+mn-ea"/>
                        <a:cs typeface="Times New Roman" panose="02020603050405020304" pitchFamily="18" charset="0"/>
                      </a:endParaRPr>
                    </a:p>
                    <a:p>
                      <a:pPr algn="just"/>
                      <a:r>
                        <a:rPr lang="en-US" sz="1600" b="0" i="0" u="none" strike="noStrike" kern="1200">
                          <a:solidFill>
                            <a:schemeClr val="tx1"/>
                          </a:solidFill>
                          <a:effectLst/>
                          <a:latin typeface="Times New Roman" panose="02020603050405020304" pitchFamily="18" charset="0"/>
                          <a:ea typeface="+mn-ea"/>
                          <a:cs typeface="Times New Roman" panose="02020603050405020304" pitchFamily="18" charset="0"/>
                        </a:rPr>
                        <a:t>The setup works well for both private self-driving cars and shared/public ones.</a:t>
                      </a:r>
                      <a:endParaRPr lang="en-US" sz="1200">
                        <a:effectLst/>
                        <a:latin typeface="Times New Roman" panose="02020603050405020304" pitchFamily="18" charset="0"/>
                        <a:cs typeface="Times New Roman" panose="02020603050405020304" pitchFamily="18" charset="0"/>
                      </a:endParaRPr>
                    </a:p>
                  </a:txBody>
                  <a:tcPr marL="50799" marR="50799" marT="50813" marB="5081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base">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Limited dataset diversity and camera coverage.</a:t>
                      </a:r>
                    </a:p>
                    <a:p>
                      <a:pPr algn="just" rtl="0" fontAlgn="base">
                        <a:buFont typeface="Arial" panose="020B0604020202020204" pitchFamily="34" charset="0"/>
                        <a:buNone/>
                      </a:pP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rtl="0" fontAlgn="base">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No monitoring beyond the vehicle cabin.</a:t>
                      </a:r>
                    </a:p>
                  </a:txBody>
                  <a:tcPr marL="50799" marR="50799" marT="50813" marB="5081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603" name="Rectangle 2">
            <a:extLst>
              <a:ext uri="{FF2B5EF4-FFF2-40B4-BE49-F238E27FC236}">
                <a16:creationId xmlns:a16="http://schemas.microsoft.com/office/drawing/2014/main" id="{19B6B423-A081-EE09-3F98-5DF7EBA61238}"/>
              </a:ext>
            </a:extLst>
          </p:cNvPr>
          <p:cNvSpPr>
            <a:spLocks noChangeArrowheads="1"/>
          </p:cNvSpPr>
          <p:nvPr/>
        </p:nvSpPr>
        <p:spPr bwMode="auto">
          <a:xfrm>
            <a:off x="4081866" y="935008"/>
            <a:ext cx="9802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dirty="0">
                <a:latin typeface="Times New Roman" panose="02020603050405020304" pitchFamily="18" charset="0"/>
                <a:ea typeface="Calibri" panose="020F0502020204030204" pitchFamily="34" charset="0"/>
                <a:cs typeface="Times New Roman" panose="02020603050405020304" pitchFamily="18" charset="0"/>
              </a:rPr>
              <a:t>Table 4</a:t>
            </a:r>
            <a:endParaRPr lang="en-US" altLang="en-US" sz="11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602" name="Picture 2" descr="D:\GITAM-GST-CSE\2024-25\Capstone-Project\GITAM-newlogo.jpeg">
            <a:extLst>
              <a:ext uri="{FF2B5EF4-FFF2-40B4-BE49-F238E27FC236}">
                <a16:creationId xmlns:a16="http://schemas.microsoft.com/office/drawing/2014/main" id="{0685D5BD-D711-B9BB-2B48-5111424CB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2">
            <a:extLst>
              <a:ext uri="{FF2B5EF4-FFF2-40B4-BE49-F238E27FC236}">
                <a16:creationId xmlns:a16="http://schemas.microsoft.com/office/drawing/2014/main" id="{516F1EFC-9012-9AFB-4458-841D9FF21EE8}"/>
              </a:ext>
            </a:extLst>
          </p:cNvPr>
          <p:cNvSpPr>
            <a:spLocks noChangeArrowheads="1"/>
          </p:cNvSpPr>
          <p:nvPr/>
        </p:nvSpPr>
        <p:spPr bwMode="auto">
          <a:xfrm>
            <a:off x="481780" y="944525"/>
            <a:ext cx="8141109"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fontAlgn="t">
              <a:lnSpc>
                <a:spcPct val="150000"/>
              </a:lnSpc>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Research Paper -5</a:t>
            </a:r>
            <a:endParaRPr lang="en-US" altLang="en-US" sz="2000" dirty="0">
              <a:latin typeface="Times New Roman" panose="02020603050405020304" pitchFamily="18" charset="0"/>
              <a:cs typeface="Times New Roman" panose="02020603050405020304" pitchFamily="18" charset="0"/>
            </a:endParaRPr>
          </a:p>
          <a:p>
            <a:pPr algn="just" fontAlgn="t">
              <a:lnSpc>
                <a:spcPct val="150000"/>
              </a:lnSpc>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Towards In-Cabin Monitoring: A Preliminary Study on Sensor Data Collection and Analysis</a:t>
            </a:r>
          </a:p>
        </p:txBody>
      </p:sp>
      <p:sp>
        <p:nvSpPr>
          <p:cNvPr id="25604" name="TextBox 4">
            <a:extLst>
              <a:ext uri="{FF2B5EF4-FFF2-40B4-BE49-F238E27FC236}">
                <a16:creationId xmlns:a16="http://schemas.microsoft.com/office/drawing/2014/main" id="{99987728-EA8B-7224-15ED-0FB94E228856}"/>
              </a:ext>
            </a:extLst>
          </p:cNvPr>
          <p:cNvSpPr txBox="1">
            <a:spLocks noChangeArrowheads="1"/>
          </p:cNvSpPr>
          <p:nvPr/>
        </p:nvSpPr>
        <p:spPr bwMode="auto">
          <a:xfrm>
            <a:off x="481780" y="2492896"/>
            <a:ext cx="8141109" cy="345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pPr>
            <a:r>
              <a:rPr lang="en-US" altLang="en-US" sz="2000" dirty="0">
                <a:latin typeface="Times New Roman" panose="02020603050405020304" pitchFamily="18" charset="0"/>
                <a:cs typeface="Times New Roman" panose="02020603050405020304" pitchFamily="18" charset="0"/>
              </a:rPr>
              <a:t>Aim is to design and evaluate a multi-sensor fusion system for in-cabin driver monitoring.</a:t>
            </a:r>
          </a:p>
          <a:p>
            <a:pPr>
              <a:lnSpc>
                <a:spcPct val="150000"/>
              </a:lnSpc>
            </a:pPr>
            <a:r>
              <a:rPr lang="en-US" altLang="en-US" sz="2000" dirty="0">
                <a:latin typeface="Times New Roman" panose="02020603050405020304" pitchFamily="18" charset="0"/>
                <a:cs typeface="Times New Roman" panose="02020603050405020304" pitchFamily="18" charset="0"/>
              </a:rPr>
              <a:t>Detecting drowsiness and loss of attention while driving.</a:t>
            </a:r>
          </a:p>
          <a:p>
            <a:pPr>
              <a:lnSpc>
                <a:spcPct val="150000"/>
              </a:lnSpc>
            </a:pPr>
            <a:r>
              <a:rPr lang="en-US" altLang="en-US" sz="2000" dirty="0">
                <a:latin typeface="Times New Roman" panose="02020603050405020304" pitchFamily="18" charset="0"/>
                <a:cs typeface="Times New Roman" panose="02020603050405020304" pitchFamily="18" charset="0"/>
              </a:rPr>
              <a:t>Small dataset - only 16 participants, all young adults, lab environment.</a:t>
            </a:r>
            <a:r>
              <a:rPr lang="en-US" sz="2000" b="0" i="0" u="none" strike="noStrike" dirty="0">
                <a:solidFill>
                  <a:srgbClr val="000000"/>
                </a:solidFill>
                <a:effectLst/>
                <a:latin typeface="Times New Roman" panose="02020603050405020304" pitchFamily="18" charset="0"/>
              </a:rPr>
              <a:t> </a:t>
            </a:r>
          </a:p>
          <a:p>
            <a:pPr>
              <a:lnSpc>
                <a:spcPct val="150000"/>
              </a:lnSpc>
            </a:pPr>
            <a:r>
              <a:rPr lang="en-US" sz="2000" b="0" i="0" u="none" strike="noStrike" dirty="0">
                <a:solidFill>
                  <a:srgbClr val="000000"/>
                </a:solidFill>
                <a:effectLst/>
                <a:latin typeface="Times New Roman" panose="02020603050405020304" pitchFamily="18" charset="0"/>
              </a:rPr>
              <a:t>Achieved accuracy up to 98.8% for gesture recognition in smart rings/smartwatches. Some solutions show more than 92% accuracy for drowsiness detection.</a:t>
            </a:r>
            <a:endParaRPr lang="en-US" sz="2000" dirty="0">
              <a:effectLst/>
            </a:endParaRPr>
          </a:p>
        </p:txBody>
      </p:sp>
      <p:sp>
        <p:nvSpPr>
          <p:cNvPr id="25605" name="Rectangle 3">
            <a:extLst>
              <a:ext uri="{FF2B5EF4-FFF2-40B4-BE49-F238E27FC236}">
                <a16:creationId xmlns:a16="http://schemas.microsoft.com/office/drawing/2014/main" id="{D2504A1B-F279-FEF6-5E01-03224F7A7083}"/>
              </a:ext>
            </a:extLst>
          </p:cNvPr>
          <p:cNvSpPr>
            <a:spLocks noChangeArrowheads="1"/>
          </p:cNvSpPr>
          <p:nvPr/>
        </p:nvSpPr>
        <p:spPr bwMode="auto">
          <a:xfrm>
            <a:off x="2487613" y="366713"/>
            <a:ext cx="4156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D:\GITAM-GST-CSE\2024-25\Capstone-Project\GITAM-newlogo.jpeg">
            <a:extLst>
              <a:ext uri="{FF2B5EF4-FFF2-40B4-BE49-F238E27FC236}">
                <a16:creationId xmlns:a16="http://schemas.microsoft.com/office/drawing/2014/main" id="{147F1604-8A36-9343-2B49-AD9AACB97E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3">
            <a:extLst>
              <a:ext uri="{FF2B5EF4-FFF2-40B4-BE49-F238E27FC236}">
                <a16:creationId xmlns:a16="http://schemas.microsoft.com/office/drawing/2014/main" id="{2CF04BD1-6DDB-C31E-B34A-38B8990F17CE}"/>
              </a:ext>
            </a:extLst>
          </p:cNvPr>
          <p:cNvSpPr>
            <a:spLocks noChangeArrowheads="1"/>
          </p:cNvSpPr>
          <p:nvPr/>
        </p:nvSpPr>
        <p:spPr bwMode="auto">
          <a:xfrm>
            <a:off x="2493963" y="357188"/>
            <a:ext cx="4156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IN" altLang="en-US" sz="2800" b="1">
                <a:solidFill>
                  <a:srgbClr val="0070C0"/>
                </a:solidFill>
                <a:latin typeface="Times New Roman" panose="02020603050405020304" pitchFamily="18" charset="0"/>
                <a:cs typeface="Times New Roman" panose="02020603050405020304" pitchFamily="18" charset="0"/>
              </a:rPr>
              <a:t>Literature Survey…contd</a:t>
            </a:r>
          </a:p>
        </p:txBody>
      </p:sp>
      <p:graphicFrame>
        <p:nvGraphicFramePr>
          <p:cNvPr id="7" name="Table 6">
            <a:extLst>
              <a:ext uri="{FF2B5EF4-FFF2-40B4-BE49-F238E27FC236}">
                <a16:creationId xmlns:a16="http://schemas.microsoft.com/office/drawing/2014/main" id="{9E289711-5BDF-726E-50D1-982A981BB808}"/>
              </a:ext>
            </a:extLst>
          </p:cNvPr>
          <p:cNvGraphicFramePr>
            <a:graphicFrameLocks noGrp="1"/>
          </p:cNvGraphicFramePr>
          <p:nvPr>
            <p:extLst>
              <p:ext uri="{D42A27DB-BD31-4B8C-83A1-F6EECF244321}">
                <p14:modId xmlns:p14="http://schemas.microsoft.com/office/powerpoint/2010/main" val="519663770"/>
              </p:ext>
            </p:extLst>
          </p:nvPr>
        </p:nvGraphicFramePr>
        <p:xfrm>
          <a:off x="395288" y="1212850"/>
          <a:ext cx="8353424" cy="4940301"/>
        </p:xfrm>
        <a:graphic>
          <a:graphicData uri="http://schemas.openxmlformats.org/drawingml/2006/table">
            <a:tbl>
              <a:tblPr firstRow="1" firstCol="1" bandRow="1"/>
              <a:tblGrid>
                <a:gridCol w="554281">
                  <a:extLst>
                    <a:ext uri="{9D8B030D-6E8A-4147-A177-3AD203B41FA5}">
                      <a16:colId xmlns:a16="http://schemas.microsoft.com/office/drawing/2014/main" val="20000"/>
                    </a:ext>
                  </a:extLst>
                </a:gridCol>
                <a:gridCol w="1174015">
                  <a:extLst>
                    <a:ext uri="{9D8B030D-6E8A-4147-A177-3AD203B41FA5}">
                      <a16:colId xmlns:a16="http://schemas.microsoft.com/office/drawing/2014/main" val="20001"/>
                    </a:ext>
                  </a:extLst>
                </a:gridCol>
                <a:gridCol w="1152196">
                  <a:extLst>
                    <a:ext uri="{9D8B030D-6E8A-4147-A177-3AD203B41FA5}">
                      <a16:colId xmlns:a16="http://schemas.microsoft.com/office/drawing/2014/main" val="20002"/>
                    </a:ext>
                  </a:extLst>
                </a:gridCol>
                <a:gridCol w="1440245">
                  <a:extLst>
                    <a:ext uri="{9D8B030D-6E8A-4147-A177-3AD203B41FA5}">
                      <a16:colId xmlns:a16="http://schemas.microsoft.com/office/drawing/2014/main" val="20003"/>
                    </a:ext>
                  </a:extLst>
                </a:gridCol>
                <a:gridCol w="1800306">
                  <a:extLst>
                    <a:ext uri="{9D8B030D-6E8A-4147-A177-3AD203B41FA5}">
                      <a16:colId xmlns:a16="http://schemas.microsoft.com/office/drawing/2014/main" val="20004"/>
                    </a:ext>
                  </a:extLst>
                </a:gridCol>
                <a:gridCol w="2232381">
                  <a:extLst>
                    <a:ext uri="{9D8B030D-6E8A-4147-A177-3AD203B41FA5}">
                      <a16:colId xmlns:a16="http://schemas.microsoft.com/office/drawing/2014/main" val="20005"/>
                    </a:ext>
                  </a:extLst>
                </a:gridCol>
              </a:tblGrid>
              <a:tr h="1316799">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S. No.</a:t>
                      </a:r>
                      <a:endParaRPr lang="en-IN" sz="2000" b="1">
                        <a:effectLst/>
                        <a:latin typeface="Times New Roman" pitchFamily="18" charset="0"/>
                        <a:ea typeface="Calibri"/>
                        <a:cs typeface="Times New Roman" pitchFamily="18" charset="0"/>
                      </a:endParaRPr>
                    </a:p>
                  </a:txBody>
                  <a:tcPr marL="68603" marR="68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dirty="0">
                          <a:effectLst/>
                          <a:latin typeface="Times New Roman" pitchFamily="18" charset="0"/>
                          <a:ea typeface="Calibri"/>
                          <a:cs typeface="Times New Roman" pitchFamily="18" charset="0"/>
                        </a:rPr>
                        <a:t>Paper Details</a:t>
                      </a:r>
                      <a:endParaRPr lang="en-IN" sz="2000" b="1" dirty="0">
                        <a:effectLst/>
                        <a:latin typeface="Times New Roman" pitchFamily="18" charset="0"/>
                        <a:ea typeface="Calibri"/>
                        <a:cs typeface="Times New Roman" pitchFamily="18" charset="0"/>
                      </a:endParaRPr>
                    </a:p>
                  </a:txBody>
                  <a:tcPr marL="68603" marR="68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Dataset</a:t>
                      </a:r>
                    </a:p>
                    <a:p>
                      <a:pPr algn="ctr">
                        <a:lnSpc>
                          <a:spcPct val="150000"/>
                        </a:lnSpc>
                        <a:spcAft>
                          <a:spcPts val="0"/>
                        </a:spcAft>
                      </a:pPr>
                      <a:endParaRPr lang="en-IN" sz="2000" b="1">
                        <a:effectLst/>
                        <a:latin typeface="Times New Roman" pitchFamily="18" charset="0"/>
                        <a:ea typeface="Calibri"/>
                        <a:cs typeface="Times New Roman" pitchFamily="18" charset="0"/>
                      </a:endParaRPr>
                    </a:p>
                  </a:txBody>
                  <a:tcPr marL="68603" marR="68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Techniques/</a:t>
                      </a:r>
                    </a:p>
                    <a:p>
                      <a:pPr algn="ctr">
                        <a:lnSpc>
                          <a:spcPct val="150000"/>
                        </a:lnSpc>
                        <a:spcAft>
                          <a:spcPts val="0"/>
                        </a:spcAft>
                      </a:pPr>
                      <a:r>
                        <a:rPr lang="en-US" sz="2000" b="1">
                          <a:effectLst/>
                          <a:latin typeface="Times New Roman" pitchFamily="18" charset="0"/>
                          <a:ea typeface="Calibri"/>
                          <a:cs typeface="Times New Roman" pitchFamily="18" charset="0"/>
                        </a:rPr>
                        <a:t>Algorithms</a:t>
                      </a:r>
                      <a:r>
                        <a:rPr lang="en-US" sz="2000" b="1" baseline="0">
                          <a:effectLst/>
                          <a:latin typeface="Times New Roman" pitchFamily="18" charset="0"/>
                          <a:ea typeface="Calibri"/>
                          <a:cs typeface="Times New Roman" pitchFamily="18" charset="0"/>
                        </a:rPr>
                        <a:t> Used</a:t>
                      </a:r>
                      <a:endParaRPr lang="en-IN" sz="2000" b="1">
                        <a:effectLst/>
                        <a:latin typeface="Times New Roman" pitchFamily="18" charset="0"/>
                        <a:ea typeface="Calibri"/>
                        <a:cs typeface="Times New Roman" pitchFamily="18" charset="0"/>
                      </a:endParaRPr>
                    </a:p>
                  </a:txBody>
                  <a:tcPr marL="68603" marR="68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b="1">
                          <a:effectLst/>
                          <a:latin typeface="Times New Roman" pitchFamily="18" charset="0"/>
                          <a:ea typeface="Calibri"/>
                          <a:cs typeface="Times New Roman" pitchFamily="18" charset="0"/>
                        </a:rPr>
                        <a:t>Result</a:t>
                      </a:r>
                      <a:endParaRPr lang="en-IN" sz="2000" b="1">
                        <a:effectLst/>
                        <a:latin typeface="Times New Roman" pitchFamily="18" charset="0"/>
                        <a:ea typeface="Calibri"/>
                        <a:cs typeface="Times New Roman" pitchFamily="18" charset="0"/>
                      </a:endParaRPr>
                    </a:p>
                  </a:txBody>
                  <a:tcPr marL="68603" marR="68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IN" sz="2000" b="1" dirty="0">
                          <a:effectLst/>
                          <a:latin typeface="Times New Roman" pitchFamily="18" charset="0"/>
                          <a:ea typeface="Calibri"/>
                          <a:cs typeface="Times New Roman" pitchFamily="18" charset="0"/>
                        </a:rPr>
                        <a:t>Research </a:t>
                      </a:r>
                    </a:p>
                    <a:p>
                      <a:pPr algn="ctr">
                        <a:lnSpc>
                          <a:spcPct val="150000"/>
                        </a:lnSpc>
                        <a:spcAft>
                          <a:spcPts val="0"/>
                        </a:spcAft>
                      </a:pPr>
                      <a:r>
                        <a:rPr lang="en-IN" sz="2000" b="1" dirty="0">
                          <a:effectLst/>
                          <a:latin typeface="Times New Roman" pitchFamily="18" charset="0"/>
                          <a:ea typeface="Calibri"/>
                          <a:cs typeface="Times New Roman" pitchFamily="18" charset="0"/>
                        </a:rPr>
                        <a:t>Gap</a:t>
                      </a:r>
                    </a:p>
                  </a:txBody>
                  <a:tcPr marL="68603" marR="686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23501">
                <a:tc>
                  <a:txBody>
                    <a:bodyPr/>
                    <a:lstStyle/>
                    <a:p>
                      <a:pPr algn="ctr" rtl="0" fontAlgn="t">
                        <a:buNone/>
                      </a:pPr>
                      <a:r>
                        <a:rPr lang="en-US" sz="1600" b="1" i="0" u="none" strike="noStrike" dirty="0">
                          <a:solidFill>
                            <a:srgbClr val="000000"/>
                          </a:solidFill>
                          <a:effectLst/>
                          <a:latin typeface="Times New Roman" panose="02020603050405020304" pitchFamily="18" charset="0"/>
                        </a:rPr>
                        <a:t>5</a:t>
                      </a:r>
                      <a:endParaRPr lang="en-IN" sz="1600" b="1" dirty="0">
                        <a:effectLst/>
                      </a:endParaRPr>
                    </a:p>
                  </a:txBody>
                  <a:tcPr marL="68595" marR="68595" marT="45717" marB="457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Towards In-Cabin Monitoring, by</a:t>
                      </a:r>
                    </a:p>
                    <a:p>
                      <a:pPr algn="just"/>
                      <a:r>
                        <a:rPr lang="en-IN" sz="1600" b="0" i="0" kern="1200" dirty="0" err="1">
                          <a:solidFill>
                            <a:schemeClr val="tx1"/>
                          </a:solidFill>
                          <a:effectLst/>
                          <a:latin typeface="Times New Roman" panose="02020603050405020304" pitchFamily="18" charset="0"/>
                          <a:ea typeface="+mn-ea"/>
                          <a:cs typeface="Times New Roman" panose="02020603050405020304" pitchFamily="18" charset="0"/>
                        </a:rPr>
                        <a:t>politecnico</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di Torino, Italy</a:t>
                      </a:r>
                    </a:p>
                    <a:p>
                      <a:pPr algn="just"/>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[2025]</a:t>
                      </a:r>
                      <a:endParaRPr lang="en-IN" sz="1600" dirty="0">
                        <a:effectLst/>
                        <a:latin typeface="Times New Roman" panose="02020603050405020304" pitchFamily="18" charset="0"/>
                        <a:cs typeface="Times New Roman" panose="02020603050405020304" pitchFamily="18" charset="0"/>
                      </a:endParaRPr>
                    </a:p>
                  </a:txBody>
                  <a:tcPr marL="68595" marR="68595" marT="45717" marB="457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sz="1600" b="0" i="0" kern="1200">
                          <a:solidFill>
                            <a:schemeClr val="tx1"/>
                          </a:solidFill>
                          <a:effectLst/>
                          <a:latin typeface="Times New Roman" panose="02020603050405020304" pitchFamily="18" charset="0"/>
                          <a:ea typeface="+mn-ea"/>
                          <a:cs typeface="Times New Roman" panose="02020603050405020304" pitchFamily="18" charset="0"/>
                        </a:rPr>
                        <a:t>Heart rate (HR), respiration rate (RR),</a:t>
                      </a:r>
                    </a:p>
                    <a:p>
                      <a:pPr algn="just" rtl="0" fontAlgn="t">
                        <a:buNone/>
                      </a:pPr>
                      <a:r>
                        <a:rPr lang="en-US" sz="1600" b="0" i="0" kern="1200">
                          <a:solidFill>
                            <a:schemeClr val="tx1"/>
                          </a:solidFill>
                          <a:effectLst/>
                          <a:latin typeface="Times New Roman" panose="02020603050405020304" pitchFamily="18" charset="0"/>
                          <a:ea typeface="+mn-ea"/>
                          <a:cs typeface="Times New Roman" panose="02020603050405020304" pitchFamily="18" charset="0"/>
                        </a:rPr>
                        <a:t>Eye blinking (EB), eye gaze angles (EGA), head movements (HM).</a:t>
                      </a:r>
                      <a:endParaRPr lang="en-US" sz="1400">
                        <a:effectLst/>
                        <a:latin typeface="Times New Roman" panose="02020603050405020304" pitchFamily="18" charset="0"/>
                        <a:cs typeface="Times New Roman" panose="02020603050405020304" pitchFamily="18" charset="0"/>
                      </a:endParaRPr>
                    </a:p>
                  </a:txBody>
                  <a:tcPr marL="68595" marR="68595" marT="45717" marB="457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rtl="0" fontAlgn="t">
                        <a:spcAft>
                          <a:spcPts val="800"/>
                        </a:spcAft>
                        <a:buFont typeface="Arial" panose="020B0604020202020204" pitchFamily="34" charset="0"/>
                        <a:buChar char="•"/>
                      </a:pPr>
                      <a:r>
                        <a:rPr lang="en-IN" sz="1600" b="0" i="0" kern="1200">
                          <a:solidFill>
                            <a:schemeClr val="tx1"/>
                          </a:solidFill>
                          <a:effectLst/>
                          <a:latin typeface="Times New Roman" panose="02020603050405020304" pitchFamily="18" charset="0"/>
                          <a:ea typeface="+mn-ea"/>
                          <a:cs typeface="Times New Roman" panose="02020603050405020304" pitchFamily="18" charset="0"/>
                        </a:rPr>
                        <a:t>MQTT for </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transmission, </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JSON for </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encapsulation, </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MongoDB for </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flexible storage</a:t>
                      </a:r>
                    </a:p>
                    <a:p>
                      <a:pPr marL="285750" indent="-285750" algn="just" rtl="0" fontAlgn="t">
                        <a:spcAft>
                          <a:spcPts val="800"/>
                        </a:spcAft>
                        <a:buFont typeface="Arial" panose="020B0604020202020204" pitchFamily="34" charset="0"/>
                        <a:buChar char="•"/>
                      </a:pPr>
                      <a:r>
                        <a:rPr lang="en-IN" sz="1600" b="0" i="0" kern="1200">
                          <a:solidFill>
                            <a:schemeClr val="tx1"/>
                          </a:solidFill>
                          <a:effectLst/>
                          <a:latin typeface="Times New Roman" panose="02020603050405020304" pitchFamily="18" charset="0"/>
                          <a:ea typeface="+mn-ea"/>
                          <a:cs typeface="Times New Roman" panose="02020603050405020304" pitchFamily="18" charset="0"/>
                        </a:rPr>
                        <a:t>Offline</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preliminary </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fusion </a:t>
                      </a:r>
                    </a:p>
                    <a:p>
                      <a:pPr marL="228600" indent="-228600" algn="just" rtl="0" fontAlgn="t">
                        <a:spcAft>
                          <a:spcPts val="800"/>
                        </a:spcAft>
                        <a:buNone/>
                      </a:pPr>
                      <a:r>
                        <a:rPr lang="en-IN" sz="1600" b="0" i="0" kern="1200">
                          <a:solidFill>
                            <a:schemeClr val="tx1"/>
                          </a:solidFill>
                          <a:effectLst/>
                          <a:latin typeface="Times New Roman" panose="02020603050405020304" pitchFamily="18" charset="0"/>
                          <a:ea typeface="+mn-ea"/>
                          <a:cs typeface="Times New Roman" panose="02020603050405020304" pitchFamily="18" charset="0"/>
                        </a:rPr>
                        <a:t>algorithm.</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8595" marR="68595" marT="45717" marB="457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t">
                        <a:buNone/>
                      </a:pPr>
                      <a:r>
                        <a:rPr lang="en-US" sz="1600" b="0" i="0" u="none" strike="noStrike">
                          <a:solidFill>
                            <a:srgbClr val="000000"/>
                          </a:solidFill>
                          <a:effectLst/>
                          <a:latin typeface="Times New Roman" panose="02020603050405020304" pitchFamily="18" charset="0"/>
                        </a:rPr>
                        <a:t>Accuracy: Up to 98.8% for gesture recognition in smart rings/smartwatches.</a:t>
                      </a:r>
                    </a:p>
                    <a:p>
                      <a:pPr algn="just" fontAlgn="t">
                        <a:buNone/>
                      </a:pPr>
                      <a:endParaRPr lang="en-US" sz="1600">
                        <a:effectLst/>
                      </a:endParaRPr>
                    </a:p>
                    <a:p>
                      <a:pPr algn="just" rtl="0" fontAlgn="t">
                        <a:buNone/>
                      </a:pPr>
                      <a:r>
                        <a:rPr lang="en-US" sz="1600" b="0" i="0" u="none" strike="noStrike">
                          <a:solidFill>
                            <a:srgbClr val="000000"/>
                          </a:solidFill>
                          <a:effectLst/>
                          <a:latin typeface="Times New Roman" panose="02020603050405020304" pitchFamily="18" charset="0"/>
                        </a:rPr>
                        <a:t>Some solutions show more than 92% accuracy for drowsiness detection.</a:t>
                      </a:r>
                      <a:endParaRPr lang="en-US" sz="1600">
                        <a:effectLst/>
                      </a:endParaRPr>
                    </a:p>
                  </a:txBody>
                  <a:tcPr marL="68595" marR="68595" marT="45717" marB="457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Small dataset - only 16 participants, all young adults.</a:t>
                      </a:r>
                    </a:p>
                    <a:p>
                      <a:pPr algn="just" rtl="0" fontAlgn="base">
                        <a:buFont typeface="Arial" panose="020B0604020202020204" pitchFamily="34" charset="0"/>
                        <a:buNone/>
                      </a:pPr>
                      <a:endParaRPr lang="en-US" sz="1600" b="0" i="0" u="none" strike="noStrike" dirty="0">
                        <a:solidFill>
                          <a:srgbClr val="000000"/>
                        </a:solidFill>
                        <a:effectLst/>
                        <a:latin typeface="Times New Roman" panose="02020603050405020304" pitchFamily="18" charset="0"/>
                      </a:endParaRPr>
                    </a:p>
                    <a:p>
                      <a:pPr algn="just" rtl="0"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Radar accuracy is still insufficient.</a:t>
                      </a:r>
                    </a:p>
                    <a:p>
                      <a:pPr algn="just" rtl="0" fontAlgn="base">
                        <a:buFont typeface="Arial" panose="020B0604020202020204" pitchFamily="34" charset="0"/>
                        <a:buNone/>
                      </a:pPr>
                      <a:endParaRPr lang="en-US" sz="1600" b="0" i="0" u="none" strike="noStrike" dirty="0">
                        <a:solidFill>
                          <a:srgbClr val="000000"/>
                        </a:solidFill>
                        <a:effectLst/>
                        <a:latin typeface="Times New Roman" panose="02020603050405020304" pitchFamily="18" charset="0"/>
                      </a:endParaRPr>
                    </a:p>
                    <a:p>
                      <a:pPr algn="just" rtl="0" fontAlgn="base">
                        <a:buFont typeface="Arial" panose="020B0604020202020204" pitchFamily="34" charset="0"/>
                        <a:buChar char="•"/>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Need standardized protocols for integration into commercial vehicles.</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8595" marR="68595" marT="45717" marB="457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6651" name="Rectangle 2">
            <a:extLst>
              <a:ext uri="{FF2B5EF4-FFF2-40B4-BE49-F238E27FC236}">
                <a16:creationId xmlns:a16="http://schemas.microsoft.com/office/drawing/2014/main" id="{39DCA0DE-6440-54E4-FF53-AFDB1BEEB0A5}"/>
              </a:ext>
            </a:extLst>
          </p:cNvPr>
          <p:cNvSpPr>
            <a:spLocks noChangeArrowheads="1"/>
          </p:cNvSpPr>
          <p:nvPr/>
        </p:nvSpPr>
        <p:spPr bwMode="auto">
          <a:xfrm>
            <a:off x="4081866" y="779433"/>
            <a:ext cx="9802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dirty="0">
                <a:latin typeface="Times New Roman" panose="02020603050405020304" pitchFamily="18" charset="0"/>
                <a:ea typeface="Calibri" panose="020F0502020204030204" pitchFamily="34" charset="0"/>
                <a:cs typeface="Times New Roman" panose="02020603050405020304" pitchFamily="18" charset="0"/>
              </a:rPr>
              <a:t>Table 5</a:t>
            </a:r>
            <a:endParaRPr lang="en-US" altLang="en-US" sz="11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D:\GITAM-GST-CSE\2024-25\Capstone-Project\GITAM-newlogo.jpeg">
            <a:extLst>
              <a:ext uri="{FF2B5EF4-FFF2-40B4-BE49-F238E27FC236}">
                <a16:creationId xmlns:a16="http://schemas.microsoft.com/office/drawing/2014/main" id="{CB71F10D-1437-AA85-CDAA-41B2665D5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2">
            <a:extLst>
              <a:ext uri="{FF2B5EF4-FFF2-40B4-BE49-F238E27FC236}">
                <a16:creationId xmlns:a16="http://schemas.microsoft.com/office/drawing/2014/main" id="{D8964E97-B16E-ED33-5994-AC15FB1069CB}"/>
              </a:ext>
            </a:extLst>
          </p:cNvPr>
          <p:cNvSpPr>
            <a:spLocks noChangeArrowheads="1"/>
          </p:cNvSpPr>
          <p:nvPr/>
        </p:nvSpPr>
        <p:spPr bwMode="auto">
          <a:xfrm>
            <a:off x="609600" y="1411578"/>
            <a:ext cx="7993626" cy="2806987"/>
          </a:xfrm>
          <a:prstGeom prst="rect">
            <a:avLst/>
          </a:prstGeom>
          <a:noFill/>
          <a:ln>
            <a:noFill/>
          </a:ln>
        </p:spPr>
        <p:txBody>
          <a:bodyPr wrap="square">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FontTx/>
              <a:buNone/>
              <a:defRPr/>
            </a:pPr>
            <a:r>
              <a:rPr lang="en-US" altLang="en-US" sz="2000" dirty="0">
                <a:latin typeface="Times New Roman" panose="02020603050405020304" pitchFamily="18" charset="0"/>
                <a:cs typeface="Times New Roman" panose="02020603050405020304" pitchFamily="18" charset="0"/>
              </a:rPr>
              <a:t>In autonomous vehicles, if a passenger experiences a sudden medical emergency while traveling, the autonomous system is currently unable to recognize the situation or provide an appropriate response. Autonomous systems lack the capability to monitor passenger health, detect emergencies, and deliver necessary support. This limitation poses a significant risk to passenger safety in </a:t>
            </a:r>
            <a:r>
              <a:rPr lang="en-US" sz="2000" dirty="0">
                <a:latin typeface="Times New Roman" panose="02020603050405020304" pitchFamily="18" charset="0"/>
                <a:cs typeface="Times New Roman" panose="02020603050405020304" pitchFamily="18" charset="0"/>
              </a:rPr>
              <a:t>autonomous vehicle systems.</a:t>
            </a:r>
            <a:endParaRPr lang="en-US" altLang="en-US" sz="2000" b="1" i="1" u="sng" dirty="0">
              <a:latin typeface="Times New Roman" panose="02020603050405020304" pitchFamily="18" charset="0"/>
              <a:cs typeface="Times New Roman" panose="02020603050405020304" pitchFamily="18" charset="0"/>
            </a:endParaRPr>
          </a:p>
        </p:txBody>
      </p:sp>
      <p:sp>
        <p:nvSpPr>
          <p:cNvPr id="29700" name="Title 1">
            <a:extLst>
              <a:ext uri="{FF2B5EF4-FFF2-40B4-BE49-F238E27FC236}">
                <a16:creationId xmlns:a16="http://schemas.microsoft.com/office/drawing/2014/main" id="{8CCDAEE5-A6B5-571D-0B3C-3E5383F77F4E}"/>
              </a:ext>
            </a:extLst>
          </p:cNvPr>
          <p:cNvSpPr>
            <a:spLocks noGrp="1"/>
          </p:cNvSpPr>
          <p:nvPr>
            <p:ph type="title"/>
          </p:nvPr>
        </p:nvSpPr>
        <p:spPr/>
        <p:txBody>
          <a:bodyPr/>
          <a:lstStyle/>
          <a:p>
            <a:r>
              <a:rPr lang="en-US" altLang="en-US" sz="2800" b="1">
                <a:solidFill>
                  <a:srgbClr val="0070C0"/>
                </a:solidFill>
                <a:latin typeface="Times New Roman"/>
                <a:cs typeface="Times New Roman"/>
              </a:rPr>
              <a:t>Problem Statement</a:t>
            </a:r>
            <a:endParaRPr lang="en-IN" altLang="en-US" sz="2800" b="1">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1F8AFE6-048B-915D-B10F-DC1450E7433C}"/>
              </a:ext>
            </a:extLst>
          </p:cNvPr>
          <p:cNvSpPr>
            <a:spLocks noGrp="1"/>
          </p:cNvSpPr>
          <p:nvPr>
            <p:ph type="sldNum" sz="quarter" idx="12"/>
          </p:nvPr>
        </p:nvSpPr>
        <p:spPr/>
        <p:txBody>
          <a:bodyPr/>
          <a:lstStyle/>
          <a:p>
            <a:pPr>
              <a:defRPr/>
            </a:pPr>
            <a:fld id="{15E9D1B8-7EF6-4D9C-8694-90B5BDA32D3D}" type="slidenum">
              <a:rPr lang="en-IN" altLang="en-US" smtClean="0"/>
              <a:pPr>
                <a:defRPr/>
              </a:pPr>
              <a:t>18</a:t>
            </a:fld>
            <a:endParaRPr lang="en-I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0AC216E6-C159-0338-6406-0E3683DDAF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a:extLst>
              <a:ext uri="{FF2B5EF4-FFF2-40B4-BE49-F238E27FC236}">
                <a16:creationId xmlns:a16="http://schemas.microsoft.com/office/drawing/2014/main" id="{B8396849-2945-D675-7E75-F5D3B9AC0CED}"/>
              </a:ext>
            </a:extLst>
          </p:cNvPr>
          <p:cNvSpPr>
            <a:spLocks noChangeArrowheads="1"/>
          </p:cNvSpPr>
          <p:nvPr/>
        </p:nvSpPr>
        <p:spPr bwMode="auto">
          <a:xfrm>
            <a:off x="431800" y="1490663"/>
            <a:ext cx="8280400" cy="3268652"/>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To track the passenger's health using an ECG sensor and a live camera for continuous monitoring.</a:t>
            </a: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To process camera data with help of deep learning models(YoloV8, ResNet, PoseNet, GazeNet) for detecting </a:t>
            </a:r>
            <a:r>
              <a:rPr lang="en-IN" altLang="en-US" sz="2000" dirty="0">
                <a:latin typeface="Times New Roman" panose="02020603050405020304" pitchFamily="18" charset="0"/>
                <a:cs typeface="Times New Roman" panose="02020603050405020304" pitchFamily="18" charset="0"/>
              </a:rPr>
              <a:t>passengers behaviour.</a:t>
            </a:r>
            <a:endParaRPr lang="en-US" altLang="en-US" sz="2000" b="1" i="1" u="sng"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To implement the fusion of camera and sensor data using the Jetson AGX SDK (HPC).</a:t>
            </a: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To validate the system model, need to integrate it into our real buggy. </a:t>
            </a:r>
          </a:p>
        </p:txBody>
      </p:sp>
      <p:sp>
        <p:nvSpPr>
          <p:cNvPr id="31748" name="Title 1">
            <a:extLst>
              <a:ext uri="{FF2B5EF4-FFF2-40B4-BE49-F238E27FC236}">
                <a16:creationId xmlns:a16="http://schemas.microsoft.com/office/drawing/2014/main" id="{F24F3FF3-7B38-414B-6698-EA390802EEE7}"/>
              </a:ext>
            </a:extLst>
          </p:cNvPr>
          <p:cNvSpPr>
            <a:spLocks noGrp="1"/>
          </p:cNvSpPr>
          <p:nvPr>
            <p:ph type="title"/>
          </p:nvPr>
        </p:nvSpPr>
        <p:spPr>
          <a:xfrm>
            <a:off x="482600" y="347663"/>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Objective</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C29341CB-924E-4214-C56C-97DE7E5A05A8}"/>
              </a:ext>
            </a:extLst>
          </p:cNvPr>
          <p:cNvSpPr>
            <a:spLocks noGrp="1"/>
          </p:cNvSpPr>
          <p:nvPr>
            <p:ph type="sldNum" sz="quarter" idx="12"/>
          </p:nvPr>
        </p:nvSpPr>
        <p:spPr/>
        <p:txBody>
          <a:bodyPr/>
          <a:lstStyle/>
          <a:p>
            <a:pPr>
              <a:defRPr/>
            </a:pPr>
            <a:fld id="{15E9D1B8-7EF6-4D9C-8694-90B5BDA32D3D}" type="slidenum">
              <a:rPr lang="en-IN" altLang="en-US" smtClean="0"/>
              <a:pPr>
                <a:defRPr/>
              </a:pPr>
              <a:t>19</a:t>
            </a:fld>
            <a:endParaRPr lang="en-I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D:\GITAM-GST-CSE\2024-25\Capstone-Project\GITAM-newlogo.jpeg">
            <a:extLst>
              <a:ext uri="{FF2B5EF4-FFF2-40B4-BE49-F238E27FC236}">
                <a16:creationId xmlns:a16="http://schemas.microsoft.com/office/drawing/2014/main" id="{73DCE33F-14DA-45C9-DF84-5063AC37DC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4030" y="-15113"/>
            <a:ext cx="2149970" cy="87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itle 1">
            <a:extLst>
              <a:ext uri="{FF2B5EF4-FFF2-40B4-BE49-F238E27FC236}">
                <a16:creationId xmlns:a16="http://schemas.microsoft.com/office/drawing/2014/main" id="{D6F1AD81-B4CA-0D9C-A0A4-9F502CA8F0C8}"/>
              </a:ext>
            </a:extLst>
          </p:cNvPr>
          <p:cNvSpPr>
            <a:spLocks noGrp="1"/>
          </p:cNvSpPr>
          <p:nvPr>
            <p:ph type="title"/>
          </p:nvPr>
        </p:nvSpPr>
        <p:spPr>
          <a:xfrm>
            <a:off x="457200" y="566738"/>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B865EC-C284-57DD-8F35-5FC9E47841E9}"/>
              </a:ext>
            </a:extLst>
          </p:cNvPr>
          <p:cNvSpPr>
            <a:spLocks noGrp="1"/>
          </p:cNvSpPr>
          <p:nvPr>
            <p:ph idx="1"/>
          </p:nvPr>
        </p:nvSpPr>
        <p:spPr>
          <a:xfrm>
            <a:off x="457200" y="1439700"/>
            <a:ext cx="8229600" cy="4784725"/>
          </a:xfrm>
        </p:spPr>
        <p:txBody>
          <a:bodyPr/>
          <a:lstStyle/>
          <a:p>
            <a:pPr marL="0" indent="0" algn="just">
              <a:buFont typeface="Arial" panose="020B0604020202020204" pitchFamily="34" charset="0"/>
              <a:buNone/>
              <a:defRPr/>
            </a:pPr>
            <a:r>
              <a:rPr lang="en-US" b="1" dirty="0">
                <a:latin typeface="Times New Roman"/>
                <a:cs typeface="Times New Roman"/>
              </a:rPr>
              <a:t>TM1 – </a:t>
            </a:r>
            <a:r>
              <a:rPr lang="en-US" sz="2800" dirty="0">
                <a:latin typeface="Times New Roman"/>
                <a:cs typeface="Times New Roman"/>
              </a:rPr>
              <a:t>G S Vikram</a:t>
            </a:r>
          </a:p>
          <a:p>
            <a:pPr marL="0" indent="0" algn="just">
              <a:buNone/>
              <a:defRPr/>
            </a:pPr>
            <a:r>
              <a:rPr lang="en-US" sz="2800" b="1" dirty="0">
                <a:latin typeface="Times New Roman"/>
                <a:cs typeface="Times New Roman"/>
              </a:rPr>
              <a:t>Module - 1 </a:t>
            </a:r>
            <a:endParaRPr lang="en-US" sz="2800" dirty="0">
              <a:latin typeface="Times New Roman"/>
              <a:cs typeface="Times New Roman"/>
            </a:endParaRPr>
          </a:p>
          <a:p>
            <a:pPr algn="just">
              <a:buNone/>
              <a:defRPr/>
            </a:pPr>
            <a:r>
              <a:rPr lang="en-US" sz="2000" b="1" dirty="0">
                <a:latin typeface="Times New Roman" panose="02020603050405020304" pitchFamily="18" charset="0"/>
                <a:ea typeface="Tahoma" panose="020B0604030504040204" pitchFamily="34" charset="0"/>
                <a:cs typeface="Times New Roman" panose="02020603050405020304" pitchFamily="18" charset="0"/>
              </a:rPr>
              <a:t>Data Acquisition</a:t>
            </a:r>
          </a:p>
          <a:p>
            <a:r>
              <a:rPr lang="en-US" sz="2000" dirty="0">
                <a:latin typeface="Times New Roman" panose="02020603050405020304" pitchFamily="18" charset="0"/>
                <a:ea typeface="Tahoma" panose="020B0604030504040204" pitchFamily="34" charset="0"/>
                <a:cs typeface="Times New Roman" panose="02020603050405020304" pitchFamily="18" charset="0"/>
              </a:rPr>
              <a:t>Integrate ECG sensor into smart-band / seatbelt and configure data collection.</a:t>
            </a:r>
          </a:p>
          <a:p>
            <a:r>
              <a:rPr lang="en-US" sz="2000" dirty="0">
                <a:latin typeface="Times New Roman" panose="02020603050405020304" pitchFamily="18" charset="0"/>
                <a:ea typeface="Tahoma" panose="020B0604030504040204" pitchFamily="34" charset="0"/>
                <a:cs typeface="Times New Roman" panose="02020603050405020304" pitchFamily="18" charset="0"/>
              </a:rPr>
              <a:t>Set up the ZED2 camera and capture the live data.</a:t>
            </a:r>
          </a:p>
          <a:p>
            <a:r>
              <a:rPr lang="en-US" sz="2000" dirty="0">
                <a:latin typeface="Times New Roman" panose="02020603050405020304" pitchFamily="18" charset="0"/>
                <a:ea typeface="Tahoma" panose="020B0604030504040204" pitchFamily="34" charset="0"/>
                <a:cs typeface="Times New Roman" panose="02020603050405020304" pitchFamily="18" charset="0"/>
              </a:rPr>
              <a:t>Ensure synchronized data capture from both sensor and camera.</a:t>
            </a:r>
          </a:p>
          <a:p>
            <a:pPr marL="0" indent="0" algn="just">
              <a:buFont typeface="Arial" panose="020B0604020202020204" pitchFamily="34" charset="0"/>
              <a:buNone/>
              <a:defRPr/>
            </a:pPr>
            <a:endParaRPr lang="en-IN" sz="2000" b="1" dirty="0">
              <a:latin typeface="Times New Roman" panose="02020603050405020304" pitchFamily="18" charset="0"/>
              <a:cs typeface="Times New Roman" panose="02020603050405020304" pitchFamily="18" charset="0"/>
            </a:endParaRPr>
          </a:p>
          <a:p>
            <a:pPr marL="0" indent="0" algn="just">
              <a:buNone/>
              <a:defRPr/>
            </a:pPr>
            <a:r>
              <a:rPr lang="en-IN" sz="2000" b="1" dirty="0">
                <a:latin typeface="Times New Roman"/>
                <a:cs typeface="Times New Roman"/>
              </a:rPr>
              <a:t>Group Responsibilities (with All Members)</a:t>
            </a:r>
          </a:p>
          <a:p>
            <a:pPr algn="just">
              <a:buFont typeface="Arial"/>
              <a:buChar char="•"/>
              <a:defRPr/>
            </a:pPr>
            <a:r>
              <a:rPr lang="en-IN" sz="2000" b="1" dirty="0">
                <a:latin typeface="Times New Roman"/>
                <a:ea typeface="+mn-lt"/>
                <a:cs typeface="+mn-lt"/>
              </a:rPr>
              <a:t>Documentation</a:t>
            </a:r>
            <a:r>
              <a:rPr lang="en-IN" sz="2000" dirty="0">
                <a:latin typeface="Times New Roman"/>
                <a:ea typeface="+mn-lt"/>
                <a:cs typeface="+mn-lt"/>
              </a:rPr>
              <a:t> - Project report, user manual, final submission.</a:t>
            </a:r>
            <a:endParaRPr lang="en-IN" sz="2000" dirty="0">
              <a:latin typeface="Times New Roman"/>
              <a:cs typeface="Times New Roman"/>
            </a:endParaRPr>
          </a:p>
          <a:p>
            <a:pPr algn="just">
              <a:buFont typeface="Arial"/>
              <a:buChar char="•"/>
              <a:defRPr/>
            </a:pPr>
            <a:r>
              <a:rPr lang="en-IN" sz="2000" b="1" dirty="0">
                <a:latin typeface="Times New Roman"/>
                <a:ea typeface="+mn-lt"/>
                <a:cs typeface="+mn-lt"/>
              </a:rPr>
              <a:t>Presentation &amp; Evaluation</a:t>
            </a:r>
            <a:r>
              <a:rPr lang="en-IN" sz="2000" dirty="0">
                <a:latin typeface="Times New Roman"/>
                <a:ea typeface="+mn-lt"/>
                <a:cs typeface="+mn-lt"/>
              </a:rPr>
              <a:t> - Slides preparation, final presentation.</a:t>
            </a:r>
            <a:endParaRPr lang="en-IN" sz="2000" dirty="0">
              <a:latin typeface="Times New Roman"/>
              <a:ea typeface="Calibri"/>
              <a:cs typeface="Calibri"/>
            </a:endParaRPr>
          </a:p>
          <a:p>
            <a:pPr algn="just">
              <a:buFont typeface="Arial"/>
              <a:buChar char="•"/>
              <a:defRPr/>
            </a:pPr>
            <a:r>
              <a:rPr lang="en-IN" sz="2000" b="1" dirty="0">
                <a:latin typeface="Times New Roman"/>
                <a:ea typeface="+mn-lt"/>
                <a:cs typeface="+mn-lt"/>
              </a:rPr>
              <a:t>Project Closure</a:t>
            </a:r>
            <a:r>
              <a:rPr lang="en-IN" sz="2000" dirty="0">
                <a:latin typeface="Times New Roman"/>
                <a:ea typeface="+mn-lt"/>
                <a:cs typeface="+mn-lt"/>
              </a:rPr>
              <a:t> - Complete integration, share knowledge.</a:t>
            </a:r>
            <a:endParaRPr lang="en-IN" sz="2000" dirty="0">
              <a:latin typeface="Times New Roman"/>
            </a:endParaRPr>
          </a:p>
        </p:txBody>
      </p:sp>
      <p:sp>
        <p:nvSpPr>
          <p:cNvPr id="2" name="Slide Number Placeholder 1">
            <a:extLst>
              <a:ext uri="{FF2B5EF4-FFF2-40B4-BE49-F238E27FC236}">
                <a16:creationId xmlns:a16="http://schemas.microsoft.com/office/drawing/2014/main" id="{0ACA76BC-766A-0BB0-1E24-6CDD985CD03B}"/>
              </a:ext>
            </a:extLst>
          </p:cNvPr>
          <p:cNvSpPr>
            <a:spLocks noGrp="1"/>
          </p:cNvSpPr>
          <p:nvPr>
            <p:ph type="sldNum" sz="quarter" idx="12"/>
          </p:nvPr>
        </p:nvSpPr>
        <p:spPr/>
        <p:txBody>
          <a:bodyPr/>
          <a:lstStyle/>
          <a:p>
            <a:pPr>
              <a:defRPr/>
            </a:pPr>
            <a:fld id="{15E9D1B8-7EF6-4D9C-8694-90B5BDA32D3D}" type="slidenum">
              <a:rPr lang="en-IN" altLang="en-US" smtClean="0"/>
              <a:pPr>
                <a:defRPr/>
              </a:pPr>
              <a:t>20</a:t>
            </a:fld>
            <a:endParaRPr lang="en-I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D:\GITAM-GST-CSE\2024-25\Capstone-Project\GITAM-newlogo.jpeg">
            <a:extLst>
              <a:ext uri="{FF2B5EF4-FFF2-40B4-BE49-F238E27FC236}">
                <a16:creationId xmlns:a16="http://schemas.microsoft.com/office/drawing/2014/main" id="{5726236E-59C1-8F97-55FB-B2D0C59580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905" y="-15113"/>
            <a:ext cx="2138095" cy="867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itle 1">
            <a:extLst>
              <a:ext uri="{FF2B5EF4-FFF2-40B4-BE49-F238E27FC236}">
                <a16:creationId xmlns:a16="http://schemas.microsoft.com/office/drawing/2014/main" id="{24408DB6-2A9B-B97D-C766-19510A1C36B3}"/>
              </a:ext>
            </a:extLst>
          </p:cNvPr>
          <p:cNvSpPr>
            <a:spLocks noGrp="1"/>
          </p:cNvSpPr>
          <p:nvPr>
            <p:ph type="title"/>
          </p:nvPr>
        </p:nvSpPr>
        <p:spPr>
          <a:xfrm>
            <a:off x="451612" y="594467"/>
            <a:ext cx="8229600" cy="970808"/>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F3D618-8271-98A1-D9C9-6ABAAFE87AA6}"/>
              </a:ext>
            </a:extLst>
          </p:cNvPr>
          <p:cNvSpPr>
            <a:spLocks noGrp="1"/>
          </p:cNvSpPr>
          <p:nvPr>
            <p:ph idx="1"/>
          </p:nvPr>
        </p:nvSpPr>
        <p:spPr>
          <a:xfrm>
            <a:off x="457200" y="1341438"/>
            <a:ext cx="8229600" cy="4784725"/>
          </a:xfrm>
        </p:spPr>
        <p:txBody>
          <a:bodyPr/>
          <a:lstStyle/>
          <a:p>
            <a:pPr marL="0" indent="0" algn="just">
              <a:buFont typeface="Arial" panose="020B0604020202020204" pitchFamily="34" charset="0"/>
              <a:buNone/>
              <a:defRPr/>
            </a:pPr>
            <a:r>
              <a:rPr lang="en-US" b="1" dirty="0">
                <a:latin typeface="Times New Roman" panose="02020603050405020304" pitchFamily="18" charset="0"/>
                <a:cs typeface="Times New Roman" panose="02020603050405020304" pitchFamily="18" charset="0"/>
              </a:rPr>
              <a:t>TM2 – </a:t>
            </a:r>
            <a:r>
              <a:rPr lang="en-US" sz="2800" dirty="0">
                <a:latin typeface="Times New Roman" panose="02020603050405020304" pitchFamily="18" charset="0"/>
                <a:cs typeface="Times New Roman" panose="02020603050405020304" pitchFamily="18" charset="0"/>
              </a:rPr>
              <a:t>K Ramprasad</a:t>
            </a:r>
          </a:p>
          <a:p>
            <a:pPr marL="0" indent="0" algn="just">
              <a:buNone/>
              <a:defRPr/>
            </a:pPr>
            <a:r>
              <a:rPr lang="en-US" sz="2800" b="1" dirty="0">
                <a:latin typeface="Times New Roman"/>
                <a:ea typeface="+mn-lt"/>
                <a:cs typeface="Times New Roman"/>
              </a:rPr>
              <a:t>Module - 2</a:t>
            </a:r>
            <a:r>
              <a:rPr lang="en-US" sz="2800" b="1" dirty="0">
                <a:latin typeface="Times New Roman"/>
                <a:cs typeface="Times New Roman"/>
              </a:rPr>
              <a:t> </a:t>
            </a:r>
            <a:endParaRPr lang="en-US" sz="28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Preprocessing &amp; Filtering</a:t>
            </a:r>
          </a:p>
          <a:p>
            <a:r>
              <a:rPr lang="en-IN" sz="2000" dirty="0">
                <a:latin typeface="Times New Roman" panose="02020603050405020304" pitchFamily="18" charset="0"/>
                <a:cs typeface="Times New Roman" panose="02020603050405020304" pitchFamily="18" charset="0"/>
              </a:rPr>
              <a:t>Implement signal preprocessing (filtering noise from ECG).</a:t>
            </a:r>
          </a:p>
          <a:p>
            <a:r>
              <a:rPr lang="en-IN" sz="2000" dirty="0">
                <a:latin typeface="Times New Roman" panose="02020603050405020304" pitchFamily="18" charset="0"/>
                <a:cs typeface="Times New Roman" panose="02020603050405020304" pitchFamily="18" charset="0"/>
              </a:rPr>
              <a:t>Handle image preprocessing (resizing).</a:t>
            </a:r>
          </a:p>
          <a:p>
            <a:r>
              <a:rPr lang="en-IN" sz="2000" dirty="0">
                <a:latin typeface="Times New Roman" panose="02020603050405020304" pitchFamily="18" charset="0"/>
                <a:cs typeface="Times New Roman" panose="02020603050405020304" pitchFamily="18" charset="0"/>
              </a:rPr>
              <a:t>Prepare cleaned datasets for deep learning models.</a:t>
            </a:r>
          </a:p>
          <a:p>
            <a:pPr marL="0" indent="0" algn="just">
              <a:buFont typeface="Arial" panose="020B0604020202020204" pitchFamily="34" charset="0"/>
              <a:buNone/>
              <a:defRPr/>
            </a:pPr>
            <a:endParaRPr lang="en-US" sz="2000" dirty="0">
              <a:latin typeface="Times New Roman" panose="02020603050405020304" pitchFamily="18" charset="0"/>
              <a:cs typeface="Times New Roman" panose="02020603050405020304" pitchFamily="18" charset="0"/>
            </a:endParaRPr>
          </a:p>
          <a:p>
            <a:pPr marL="0" indent="0" algn="just">
              <a:buNone/>
              <a:defRPr/>
            </a:pPr>
            <a:r>
              <a:rPr lang="en-IN" sz="2000" b="1" dirty="0">
                <a:latin typeface="Times New Roman" panose="02020603050405020304" pitchFamily="18" charset="0"/>
                <a:cs typeface="Times New Roman" panose="02020603050405020304" pitchFamily="18" charset="0"/>
              </a:rPr>
              <a:t>Group Responsibilities (with All Members)</a:t>
            </a:r>
          </a:p>
          <a:p>
            <a:pPr algn="just">
              <a:buFont typeface="Arial"/>
              <a:buChar char="•"/>
              <a:defRPr/>
            </a:pPr>
            <a:r>
              <a:rPr lang="en-IN" sz="2000" b="1" dirty="0">
                <a:latin typeface="Times New Roman" panose="02020603050405020304" pitchFamily="18" charset="0"/>
                <a:ea typeface="+mn-lt"/>
                <a:cs typeface="Times New Roman" panose="02020603050405020304" pitchFamily="18" charset="0"/>
              </a:rPr>
              <a:t>Documentation</a:t>
            </a:r>
            <a:r>
              <a:rPr lang="en-IN" sz="2000" dirty="0">
                <a:latin typeface="Times New Roman" panose="02020603050405020304" pitchFamily="18" charset="0"/>
                <a:ea typeface="+mn-lt"/>
                <a:cs typeface="Times New Roman" panose="02020603050405020304" pitchFamily="18" charset="0"/>
              </a:rPr>
              <a:t> - Project report, user manual, final submission.</a:t>
            </a:r>
            <a:endParaRPr lang="en-IN" sz="2000" dirty="0">
              <a:latin typeface="Times New Roman" panose="02020603050405020304" pitchFamily="18" charset="0"/>
              <a:cs typeface="Times New Roman" panose="02020603050405020304" pitchFamily="18" charset="0"/>
            </a:endParaRPr>
          </a:p>
          <a:p>
            <a:pPr algn="just">
              <a:buFont typeface="Arial"/>
              <a:buChar char="•"/>
              <a:defRPr/>
            </a:pPr>
            <a:r>
              <a:rPr lang="en-IN" sz="2000" b="1" dirty="0">
                <a:latin typeface="Times New Roman" panose="02020603050405020304" pitchFamily="18" charset="0"/>
                <a:ea typeface="+mn-lt"/>
                <a:cs typeface="Times New Roman" panose="02020603050405020304" pitchFamily="18" charset="0"/>
              </a:rPr>
              <a:t>Presentation &amp; Evaluation</a:t>
            </a:r>
            <a:r>
              <a:rPr lang="en-IN" sz="2000" dirty="0">
                <a:latin typeface="Times New Roman" panose="02020603050405020304" pitchFamily="18" charset="0"/>
                <a:ea typeface="+mn-lt"/>
                <a:cs typeface="Times New Roman" panose="02020603050405020304" pitchFamily="18" charset="0"/>
              </a:rPr>
              <a:t> - Slides preparation, final presentation.</a:t>
            </a:r>
            <a:endParaRPr lang="en-IN" sz="2000" dirty="0">
              <a:latin typeface="Times New Roman" panose="02020603050405020304" pitchFamily="18" charset="0"/>
              <a:ea typeface="Calibri"/>
              <a:cs typeface="Times New Roman" panose="02020603050405020304" pitchFamily="18" charset="0"/>
            </a:endParaRPr>
          </a:p>
          <a:p>
            <a:pPr algn="just">
              <a:buFont typeface="Arial"/>
              <a:buChar char="•"/>
              <a:defRPr/>
            </a:pPr>
            <a:r>
              <a:rPr lang="en-IN" sz="2000" b="1" dirty="0">
                <a:latin typeface="Times New Roman" panose="02020603050405020304" pitchFamily="18" charset="0"/>
                <a:ea typeface="+mn-lt"/>
                <a:cs typeface="Times New Roman" panose="02020603050405020304" pitchFamily="18" charset="0"/>
              </a:rPr>
              <a:t>Project Closure</a:t>
            </a:r>
            <a:r>
              <a:rPr lang="en-IN" sz="2000" dirty="0">
                <a:latin typeface="Times New Roman" panose="02020603050405020304" pitchFamily="18" charset="0"/>
                <a:ea typeface="+mn-lt"/>
                <a:cs typeface="Times New Roman" panose="02020603050405020304" pitchFamily="18" charset="0"/>
              </a:rPr>
              <a:t> - Complete integration, share knowledge.</a:t>
            </a:r>
            <a:endParaRPr lang="en-IN" sz="20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defRPr/>
            </a:pPr>
            <a:endParaRPr lang="en-IN"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4A3E47D3-EB22-AD66-F3B1-10CE4C738FCD}"/>
              </a:ext>
            </a:extLst>
          </p:cNvPr>
          <p:cNvSpPr>
            <a:spLocks noGrp="1"/>
          </p:cNvSpPr>
          <p:nvPr>
            <p:ph type="sldNum" sz="quarter" idx="12"/>
          </p:nvPr>
        </p:nvSpPr>
        <p:spPr/>
        <p:txBody>
          <a:bodyPr/>
          <a:lstStyle/>
          <a:p>
            <a:pPr>
              <a:defRPr/>
            </a:pPr>
            <a:fld id="{15E9D1B8-7EF6-4D9C-8694-90B5BDA32D3D}" type="slidenum">
              <a:rPr lang="en-IN" altLang="en-US" smtClean="0"/>
              <a:pPr>
                <a:defRPr/>
              </a:pPr>
              <a:t>21</a:t>
            </a:fld>
            <a:endParaRPr lang="en-I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D:\GITAM-GST-CSE\2024-25\Capstone-Project\GITAM-newlogo.jpeg">
            <a:extLst>
              <a:ext uri="{FF2B5EF4-FFF2-40B4-BE49-F238E27FC236}">
                <a16:creationId xmlns:a16="http://schemas.microsoft.com/office/drawing/2014/main" id="{74B3B7C2-4387-7FB7-9817-A9C5ED1D1E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8097" y="-15113"/>
            <a:ext cx="1965903" cy="79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itle 1">
            <a:extLst>
              <a:ext uri="{FF2B5EF4-FFF2-40B4-BE49-F238E27FC236}">
                <a16:creationId xmlns:a16="http://schemas.microsoft.com/office/drawing/2014/main" id="{A95FDD31-680D-750E-1DA6-97FE0B81A370}"/>
              </a:ext>
            </a:extLst>
          </p:cNvPr>
          <p:cNvSpPr>
            <a:spLocks noGrp="1"/>
          </p:cNvSpPr>
          <p:nvPr>
            <p:ph type="title"/>
          </p:nvPr>
        </p:nvSpPr>
        <p:spPr>
          <a:xfrm>
            <a:off x="439738" y="422275"/>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B5E37F-1297-D312-3C88-4A322D7FEBC2}"/>
              </a:ext>
            </a:extLst>
          </p:cNvPr>
          <p:cNvSpPr>
            <a:spLocks noGrp="1"/>
          </p:cNvSpPr>
          <p:nvPr>
            <p:ph idx="1"/>
          </p:nvPr>
        </p:nvSpPr>
        <p:spPr>
          <a:xfrm>
            <a:off x="457200" y="1341438"/>
            <a:ext cx="8229600" cy="4784725"/>
          </a:xfrm>
        </p:spPr>
        <p:txBody>
          <a:bodyPr/>
          <a:lstStyle/>
          <a:p>
            <a:pPr marL="0" indent="0" algn="just">
              <a:buNone/>
              <a:defRPr/>
            </a:pPr>
            <a:r>
              <a:rPr lang="en-US" b="1" dirty="0">
                <a:latin typeface="Times New Roman"/>
                <a:cs typeface="Times New Roman"/>
              </a:rPr>
              <a:t>TM3 – </a:t>
            </a:r>
            <a:r>
              <a:rPr lang="en-US" sz="2800" dirty="0">
                <a:latin typeface="Times New Roman"/>
                <a:cs typeface="Times New Roman"/>
              </a:rPr>
              <a:t>G Rohith</a:t>
            </a:r>
          </a:p>
          <a:p>
            <a:pPr marL="0" indent="0" algn="just">
              <a:buNone/>
              <a:defRPr/>
            </a:pPr>
            <a:r>
              <a:rPr lang="en-US" sz="2800" b="1" dirty="0">
                <a:latin typeface="Times New Roman"/>
                <a:cs typeface="Times New Roman"/>
              </a:rPr>
              <a:t>Module - 3</a:t>
            </a:r>
            <a:endParaRPr lang="en-US" sz="2800" dirty="0">
              <a:latin typeface="Times New Roman"/>
              <a:cs typeface="Times New Roman"/>
            </a:endParaRPr>
          </a:p>
          <a:p>
            <a:pPr marL="0" indent="0" algn="just">
              <a:buNone/>
              <a:defRPr/>
            </a:pPr>
            <a:r>
              <a:rPr lang="en-US" sz="2000" b="1" dirty="0">
                <a:latin typeface="Times New Roman" panose="02020603050405020304" pitchFamily="18" charset="0"/>
                <a:cs typeface="Times New Roman" panose="02020603050405020304" pitchFamily="18" charset="0"/>
              </a:rPr>
              <a:t>Working on </a:t>
            </a:r>
            <a:r>
              <a:rPr lang="en-IN" sz="2000" b="1" dirty="0">
                <a:latin typeface="Times New Roman" panose="02020603050405020304" pitchFamily="18" charset="0"/>
                <a:cs typeface="Times New Roman" panose="02020603050405020304" pitchFamily="18" charset="0"/>
              </a:rPr>
              <a:t>Deep Learning Models</a:t>
            </a:r>
          </a:p>
          <a:p>
            <a:pPr>
              <a:spcBef>
                <a:spcPct val="0"/>
              </a:spcBef>
            </a:pPr>
            <a:r>
              <a:rPr lang="en-IN" sz="2000" dirty="0">
                <a:latin typeface="Times New Roman" panose="02020603050405020304" pitchFamily="18" charset="0"/>
                <a:cs typeface="Times New Roman" panose="02020603050405020304" pitchFamily="18" charset="0"/>
              </a:rPr>
              <a:t>YOLOv8 – It is used for </a:t>
            </a:r>
            <a:r>
              <a:rPr lang="en-US" sz="2000" dirty="0">
                <a:latin typeface="Times New Roman" panose="02020603050405020304" pitchFamily="18" charset="0"/>
                <a:cs typeface="Times New Roman" panose="02020603050405020304" pitchFamily="18" charset="0"/>
              </a:rPr>
              <a:t>object and </a:t>
            </a:r>
            <a:r>
              <a:rPr lang="en-US" altLang="en-US" sz="2000" dirty="0">
                <a:latin typeface="Times New Roman" panose="02020603050405020304" pitchFamily="18" charset="0"/>
                <a:cs typeface="Times New Roman" panose="02020603050405020304" pitchFamily="18" charset="0"/>
              </a:rPr>
              <a:t>face detection.</a:t>
            </a:r>
          </a:p>
          <a:p>
            <a:pPr>
              <a:spcBef>
                <a:spcPct val="0"/>
              </a:spcBef>
            </a:pPr>
            <a:r>
              <a:rPr lang="en-US" altLang="en-US" sz="2000" dirty="0">
                <a:latin typeface="Times New Roman" panose="02020603050405020304" pitchFamily="18" charset="0"/>
                <a:cs typeface="Times New Roman" panose="02020603050405020304" pitchFamily="18" charset="0"/>
              </a:rPr>
              <a:t>ResNet (Backbone) – It is used to extract features (eye state, posture).</a:t>
            </a:r>
          </a:p>
          <a:p>
            <a:pPr>
              <a:spcBef>
                <a:spcPct val="0"/>
              </a:spcBef>
            </a:pPr>
            <a:r>
              <a:rPr lang="en-US" altLang="en-US" sz="2000" dirty="0" err="1">
                <a:latin typeface="Times New Roman" panose="02020603050405020304" pitchFamily="18" charset="0"/>
                <a:cs typeface="Times New Roman" panose="02020603050405020304" pitchFamily="18" charset="0"/>
              </a:rPr>
              <a:t>PoseNet</a:t>
            </a:r>
            <a:r>
              <a:rPr lang="en-US" altLang="en-US" sz="2000" dirty="0">
                <a:latin typeface="Times New Roman" panose="02020603050405020304" pitchFamily="18" charset="0"/>
                <a:cs typeface="Times New Roman" panose="02020603050405020304" pitchFamily="18" charset="0"/>
              </a:rPr>
              <a:t> – It uses ResNet features to map body joints and posture.</a:t>
            </a:r>
          </a:p>
          <a:p>
            <a:pPr>
              <a:spcBef>
                <a:spcPct val="0"/>
              </a:spcBef>
            </a:pPr>
            <a:r>
              <a:rPr lang="en-US" altLang="en-US" sz="2000" dirty="0">
                <a:latin typeface="Times New Roman" panose="02020603050405020304" pitchFamily="18" charset="0"/>
                <a:cs typeface="Times New Roman" panose="02020603050405020304" pitchFamily="18" charset="0"/>
              </a:rPr>
              <a:t>GazeNet – It uses ResNet features to track eye direction and blinking.</a:t>
            </a:r>
          </a:p>
          <a:p>
            <a:pPr marL="0" indent="0">
              <a:buNone/>
            </a:pPr>
            <a:endParaRPr lang="en-US" sz="2000" dirty="0">
              <a:latin typeface="Times New Roman" panose="02020603050405020304" pitchFamily="18" charset="0"/>
              <a:cs typeface="Times New Roman" panose="02020603050405020304" pitchFamily="18" charset="0"/>
            </a:endParaRPr>
          </a:p>
          <a:p>
            <a:pPr marL="0" indent="0" algn="just">
              <a:buNone/>
              <a:defRPr/>
            </a:pPr>
            <a:r>
              <a:rPr lang="en-IN" sz="2000" b="1" dirty="0">
                <a:latin typeface="Times New Roman"/>
                <a:cs typeface="Times New Roman"/>
              </a:rPr>
              <a:t>Group Responsibilities (with All Members)</a:t>
            </a:r>
          </a:p>
          <a:p>
            <a:pPr algn="just">
              <a:buFont typeface="Arial"/>
              <a:buChar char="•"/>
              <a:defRPr/>
            </a:pPr>
            <a:r>
              <a:rPr lang="en-IN" sz="2000" b="1" dirty="0">
                <a:latin typeface="Times New Roman"/>
                <a:ea typeface="+mn-lt"/>
                <a:cs typeface="+mn-lt"/>
              </a:rPr>
              <a:t>Documentation</a:t>
            </a:r>
            <a:r>
              <a:rPr lang="en-IN" sz="2000" dirty="0">
                <a:latin typeface="Times New Roman"/>
                <a:ea typeface="+mn-lt"/>
                <a:cs typeface="+mn-lt"/>
              </a:rPr>
              <a:t> - Project report, user manual, final submission.</a:t>
            </a:r>
            <a:endParaRPr lang="en-IN" sz="2000" dirty="0">
              <a:latin typeface="Times New Roman"/>
              <a:cs typeface="Times New Roman"/>
            </a:endParaRPr>
          </a:p>
          <a:p>
            <a:pPr algn="just">
              <a:buFont typeface="Arial"/>
              <a:buChar char="•"/>
              <a:defRPr/>
            </a:pPr>
            <a:r>
              <a:rPr lang="en-IN" sz="2000" b="1" dirty="0">
                <a:latin typeface="Times New Roman"/>
                <a:ea typeface="+mn-lt"/>
                <a:cs typeface="+mn-lt"/>
              </a:rPr>
              <a:t>Presentation &amp; Evaluation</a:t>
            </a:r>
            <a:r>
              <a:rPr lang="en-IN" sz="2000" dirty="0">
                <a:latin typeface="Times New Roman"/>
                <a:ea typeface="+mn-lt"/>
                <a:cs typeface="+mn-lt"/>
              </a:rPr>
              <a:t> - Slides preparation, final presentation.</a:t>
            </a:r>
            <a:endParaRPr lang="en-IN" sz="2000" dirty="0">
              <a:latin typeface="Times New Roman"/>
              <a:ea typeface="Calibri"/>
              <a:cs typeface="Calibri"/>
            </a:endParaRPr>
          </a:p>
          <a:p>
            <a:pPr algn="just">
              <a:buFont typeface="Arial"/>
              <a:buChar char="•"/>
              <a:defRPr/>
            </a:pPr>
            <a:r>
              <a:rPr lang="en-IN" sz="2000" b="1" dirty="0">
                <a:latin typeface="Times New Roman"/>
                <a:ea typeface="+mn-lt"/>
                <a:cs typeface="+mn-lt"/>
              </a:rPr>
              <a:t>Project Closure</a:t>
            </a:r>
            <a:r>
              <a:rPr lang="en-IN" sz="2000" dirty="0">
                <a:latin typeface="Times New Roman"/>
                <a:ea typeface="+mn-lt"/>
                <a:cs typeface="+mn-lt"/>
              </a:rPr>
              <a:t> - Complete integration, share knowledge.</a:t>
            </a:r>
            <a:endParaRPr lang="en-IN" sz="2000" dirty="0">
              <a:latin typeface="Times New Roman"/>
            </a:endParaRPr>
          </a:p>
          <a:p>
            <a:pPr marL="0" indent="0" algn="just">
              <a:buFont typeface="Arial" panose="020B0604020202020204" pitchFamily="34" charset="0"/>
              <a:buNone/>
              <a:defRPr/>
            </a:pPr>
            <a:endParaRPr lang="en-IN"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EE06F12-7AFA-F243-CBBD-0C1D7697A060}"/>
              </a:ext>
            </a:extLst>
          </p:cNvPr>
          <p:cNvSpPr>
            <a:spLocks noGrp="1"/>
          </p:cNvSpPr>
          <p:nvPr>
            <p:ph type="sldNum" sz="quarter" idx="12"/>
          </p:nvPr>
        </p:nvSpPr>
        <p:spPr/>
        <p:txBody>
          <a:bodyPr/>
          <a:lstStyle/>
          <a:p>
            <a:pPr>
              <a:defRPr/>
            </a:pPr>
            <a:fld id="{15E9D1B8-7EF6-4D9C-8694-90B5BDA32D3D}" type="slidenum">
              <a:rPr lang="en-IN" altLang="en-US" smtClean="0"/>
              <a:pPr>
                <a:defRPr/>
              </a:pPr>
              <a:t>22</a:t>
            </a:fld>
            <a:endParaRPr lang="en-I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D:\GITAM-GST-CSE\2024-25\Capstone-Project\GITAM-newlogo.jpeg">
            <a:extLst>
              <a:ext uri="{FF2B5EF4-FFF2-40B4-BE49-F238E27FC236}">
                <a16:creationId xmlns:a16="http://schemas.microsoft.com/office/drawing/2014/main" id="{00148FA9-9050-1B36-B1E8-CE9B87872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783" y="-15113"/>
            <a:ext cx="2031217" cy="825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itle 1">
            <a:extLst>
              <a:ext uri="{FF2B5EF4-FFF2-40B4-BE49-F238E27FC236}">
                <a16:creationId xmlns:a16="http://schemas.microsoft.com/office/drawing/2014/main" id="{18D7DA78-FA62-F46D-4FDB-886F7628C4DA}"/>
              </a:ext>
            </a:extLst>
          </p:cNvPr>
          <p:cNvSpPr>
            <a:spLocks noGrp="1"/>
          </p:cNvSpPr>
          <p:nvPr>
            <p:ph type="title"/>
          </p:nvPr>
        </p:nvSpPr>
        <p:spPr>
          <a:xfrm>
            <a:off x="449263" y="488950"/>
            <a:ext cx="8229600" cy="1143000"/>
          </a:xfrm>
        </p:spPr>
        <p:txBody>
          <a:bodyPr/>
          <a:lstStyle/>
          <a:p>
            <a:r>
              <a:rPr lang="en-US" altLang="en-US" sz="2800" b="1">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507ED5-67D6-8D06-896B-6D8749191F6E}"/>
              </a:ext>
            </a:extLst>
          </p:cNvPr>
          <p:cNvSpPr>
            <a:spLocks noGrp="1"/>
          </p:cNvSpPr>
          <p:nvPr>
            <p:ph idx="1"/>
          </p:nvPr>
        </p:nvSpPr>
        <p:spPr>
          <a:xfrm>
            <a:off x="457200" y="1370013"/>
            <a:ext cx="8229600" cy="4784725"/>
          </a:xfrm>
        </p:spPr>
        <p:txBody>
          <a:bodyPr/>
          <a:lstStyle/>
          <a:p>
            <a:pPr marL="0" indent="0" algn="just">
              <a:buNone/>
              <a:defRPr/>
            </a:pPr>
            <a:r>
              <a:rPr lang="en-US" b="1" dirty="0">
                <a:latin typeface="Times New Roman"/>
                <a:cs typeface="Times New Roman"/>
              </a:rPr>
              <a:t>TM4 – </a:t>
            </a:r>
            <a:r>
              <a:rPr lang="en-US" sz="2800" dirty="0">
                <a:latin typeface="Times New Roman"/>
                <a:cs typeface="Times New Roman"/>
              </a:rPr>
              <a:t>P Surendra</a:t>
            </a:r>
          </a:p>
          <a:p>
            <a:pPr marL="0" indent="0" algn="just">
              <a:buNone/>
              <a:defRPr/>
            </a:pPr>
            <a:r>
              <a:rPr lang="en-US" sz="2800" b="1" dirty="0">
                <a:latin typeface="Times New Roman"/>
                <a:cs typeface="Times New Roman"/>
              </a:rPr>
              <a:t>Module - 4</a:t>
            </a:r>
            <a:endParaRPr lang="en-US" sz="2800" dirty="0">
              <a:latin typeface="Times New Roman"/>
              <a:cs typeface="Times New Roman"/>
            </a:endParaRPr>
          </a:p>
          <a:p>
            <a:pPr marL="0" indent="0">
              <a:buNone/>
            </a:pPr>
            <a:r>
              <a:rPr lang="en-IN" sz="2000" b="1" dirty="0">
                <a:latin typeface="Times New Roman" panose="02020603050405020304" pitchFamily="18" charset="0"/>
                <a:cs typeface="Times New Roman" panose="02020603050405020304" pitchFamily="18" charset="0"/>
              </a:rPr>
              <a:t>Implementation on NVIDIA Jetson AGX Orin</a:t>
            </a:r>
          </a:p>
          <a:p>
            <a:r>
              <a:rPr lang="en-IN" sz="2000" dirty="0">
                <a:latin typeface="Times New Roman" panose="02020603050405020304" pitchFamily="18" charset="0"/>
                <a:cs typeface="Times New Roman" panose="02020603050405020304" pitchFamily="18" charset="0"/>
              </a:rPr>
              <a:t>Deploy trained models on Jetson AGX Orin using Jetson SDK.</a:t>
            </a:r>
          </a:p>
          <a:p>
            <a:r>
              <a:rPr lang="en-IN" sz="2000" dirty="0">
                <a:latin typeface="Times New Roman" panose="02020603050405020304" pitchFamily="18" charset="0"/>
                <a:cs typeface="Times New Roman" panose="02020603050405020304" pitchFamily="18" charset="0"/>
              </a:rPr>
              <a:t>Manage sensor fusion, which combines both camera and ECG results.</a:t>
            </a:r>
          </a:p>
          <a:p>
            <a:pPr marL="0" indent="0" algn="just">
              <a:buFont typeface="Arial" panose="020B0604020202020204" pitchFamily="34" charset="0"/>
              <a:buNone/>
              <a:defRPr/>
            </a:pPr>
            <a:endParaRPr lang="en-US" sz="20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defRPr/>
            </a:pPr>
            <a:r>
              <a:rPr lang="en-IN" sz="2000" b="1" dirty="0">
                <a:latin typeface="Times New Roman"/>
                <a:cs typeface="Times New Roman"/>
              </a:rPr>
              <a:t>Group Responsibilities (with All Members)</a:t>
            </a:r>
          </a:p>
          <a:p>
            <a:pPr algn="just">
              <a:buFont typeface="Arial"/>
              <a:buChar char="•"/>
              <a:defRPr/>
            </a:pPr>
            <a:r>
              <a:rPr lang="en-IN" sz="2000" b="1" dirty="0">
                <a:latin typeface="Times New Roman"/>
                <a:ea typeface="+mn-lt"/>
                <a:cs typeface="+mn-lt"/>
              </a:rPr>
              <a:t>Documentation</a:t>
            </a:r>
            <a:r>
              <a:rPr lang="en-IN" sz="2000" dirty="0">
                <a:latin typeface="Times New Roman"/>
                <a:ea typeface="+mn-lt"/>
                <a:cs typeface="+mn-lt"/>
              </a:rPr>
              <a:t> - Project report, user manual, final submission.</a:t>
            </a:r>
            <a:endParaRPr lang="en-IN" sz="2000" dirty="0">
              <a:latin typeface="Times New Roman"/>
              <a:cs typeface="Times New Roman"/>
            </a:endParaRPr>
          </a:p>
          <a:p>
            <a:pPr algn="just">
              <a:buFont typeface="Arial"/>
              <a:buChar char="•"/>
              <a:defRPr/>
            </a:pPr>
            <a:r>
              <a:rPr lang="en-IN" sz="2000" b="1" dirty="0">
                <a:latin typeface="Times New Roman"/>
                <a:ea typeface="+mn-lt"/>
                <a:cs typeface="+mn-lt"/>
              </a:rPr>
              <a:t>Presentation &amp; Evaluation</a:t>
            </a:r>
            <a:r>
              <a:rPr lang="en-IN" sz="2000" dirty="0">
                <a:latin typeface="Times New Roman"/>
                <a:ea typeface="+mn-lt"/>
                <a:cs typeface="+mn-lt"/>
              </a:rPr>
              <a:t> - Slides preparation, final presentation.</a:t>
            </a:r>
            <a:endParaRPr lang="en-IN" sz="2000" dirty="0">
              <a:latin typeface="Times New Roman"/>
              <a:ea typeface="Calibri"/>
              <a:cs typeface="Calibri"/>
            </a:endParaRPr>
          </a:p>
          <a:p>
            <a:pPr algn="just">
              <a:buFont typeface="Arial"/>
              <a:buChar char="•"/>
              <a:defRPr/>
            </a:pPr>
            <a:r>
              <a:rPr lang="en-IN" sz="2000" b="1" dirty="0">
                <a:latin typeface="Times New Roman"/>
                <a:ea typeface="+mn-lt"/>
                <a:cs typeface="+mn-lt"/>
              </a:rPr>
              <a:t>Project Closure</a:t>
            </a:r>
            <a:r>
              <a:rPr lang="en-IN" sz="2000" dirty="0">
                <a:latin typeface="Times New Roman"/>
                <a:ea typeface="+mn-lt"/>
                <a:cs typeface="+mn-lt"/>
              </a:rPr>
              <a:t> - Complete integration, share knowledge.</a:t>
            </a:r>
            <a:endParaRPr lang="en-IN" dirty="0">
              <a:latin typeface="Times New Roman"/>
            </a:endParaRPr>
          </a:p>
          <a:p>
            <a:pPr marL="0" indent="0" algn="just">
              <a:buNone/>
              <a:defRPr/>
            </a:pPr>
            <a:endParaRPr lang="en-IN"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89FE5F3-57BE-D0D9-263A-1BF3A4B24839}"/>
              </a:ext>
            </a:extLst>
          </p:cNvPr>
          <p:cNvSpPr>
            <a:spLocks noGrp="1"/>
          </p:cNvSpPr>
          <p:nvPr>
            <p:ph type="sldNum" sz="quarter" idx="12"/>
          </p:nvPr>
        </p:nvSpPr>
        <p:spPr/>
        <p:txBody>
          <a:bodyPr/>
          <a:lstStyle/>
          <a:p>
            <a:pPr>
              <a:defRPr/>
            </a:pPr>
            <a:fld id="{15E9D1B8-7EF6-4D9C-8694-90B5BDA32D3D}" type="slidenum">
              <a:rPr lang="en-IN" altLang="en-US" smtClean="0"/>
              <a:pPr>
                <a:defRPr/>
              </a:pPr>
              <a:t>23</a:t>
            </a:fld>
            <a:endParaRPr lang="en-I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D:\GITAM-GST-CSE\2024-25\Capstone-Project\GITAM-newlogo.jpeg">
            <a:extLst>
              <a:ext uri="{FF2B5EF4-FFF2-40B4-BE49-F238E27FC236}">
                <a16:creationId xmlns:a16="http://schemas.microsoft.com/office/drawing/2014/main" id="{DF94AC09-0E5A-0CE1-1D1C-FBCBA7984D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9661" y="-15113"/>
            <a:ext cx="1924339" cy="777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itle 1">
            <a:extLst>
              <a:ext uri="{FF2B5EF4-FFF2-40B4-BE49-F238E27FC236}">
                <a16:creationId xmlns:a16="http://schemas.microsoft.com/office/drawing/2014/main" id="{904ADDD1-7E6F-5A78-48FD-1C49605278A4}"/>
              </a:ext>
            </a:extLst>
          </p:cNvPr>
          <p:cNvSpPr>
            <a:spLocks noGrp="1"/>
          </p:cNvSpPr>
          <p:nvPr>
            <p:ph type="title"/>
          </p:nvPr>
        </p:nvSpPr>
        <p:spPr>
          <a:xfrm>
            <a:off x="439738" y="422275"/>
            <a:ext cx="8229600" cy="1143000"/>
          </a:xfrm>
        </p:spPr>
        <p:txBody>
          <a:bodyPr/>
          <a:lstStyle/>
          <a:p>
            <a:r>
              <a:rPr lang="en-US" altLang="en-US" sz="2800" b="1">
                <a:solidFill>
                  <a:srgbClr val="0070C0"/>
                </a:solidFill>
                <a:latin typeface="Times New Roman" panose="02020603050405020304" pitchFamily="18" charset="0"/>
                <a:cs typeface="Times New Roman" panose="02020603050405020304" pitchFamily="18" charset="0"/>
              </a:rPr>
              <a:t>Work Breakdown &amp; Task Allocation</a:t>
            </a:r>
            <a:endParaRPr lang="en-IN" altLang="en-US" sz="2800" b="1">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8508E0-F9BE-3CC7-0CA4-0F43407BE212}"/>
              </a:ext>
            </a:extLst>
          </p:cNvPr>
          <p:cNvSpPr>
            <a:spLocks noGrp="1"/>
          </p:cNvSpPr>
          <p:nvPr>
            <p:ph idx="1"/>
          </p:nvPr>
        </p:nvSpPr>
        <p:spPr>
          <a:xfrm>
            <a:off x="457200" y="1341438"/>
            <a:ext cx="8229600" cy="4784725"/>
          </a:xfrm>
        </p:spPr>
        <p:txBody>
          <a:bodyPr/>
          <a:lstStyle/>
          <a:p>
            <a:pPr marL="0" indent="0" algn="just">
              <a:buFont typeface="Arial" panose="020B0604020202020204" pitchFamily="34" charset="0"/>
              <a:buNone/>
              <a:defRPr/>
            </a:pPr>
            <a:r>
              <a:rPr lang="en-US" b="1" dirty="0">
                <a:latin typeface="Times New Roman"/>
                <a:cs typeface="Times New Roman"/>
              </a:rPr>
              <a:t>TM5 – </a:t>
            </a:r>
            <a:r>
              <a:rPr lang="en-US" dirty="0">
                <a:latin typeface="Times New Roman"/>
                <a:cs typeface="Times New Roman"/>
              </a:rPr>
              <a:t>S B Jeevan</a:t>
            </a:r>
            <a:endParaRPr lang="en-US" b="1" dirty="0">
              <a:latin typeface="Times New Roman"/>
              <a:cs typeface="Times New Roman"/>
            </a:endParaRPr>
          </a:p>
          <a:p>
            <a:pPr marL="0" indent="0" algn="just">
              <a:buFont typeface="Arial" panose="020B0604020202020204" pitchFamily="34" charset="0"/>
              <a:buNone/>
              <a:defRPr/>
            </a:pPr>
            <a:r>
              <a:rPr lang="en-US" sz="2800" b="1" dirty="0">
                <a:latin typeface="Times New Roman"/>
                <a:cs typeface="Times New Roman"/>
              </a:rPr>
              <a:t>Module - 5</a:t>
            </a:r>
            <a:endParaRPr lang="en-US" sz="2800" dirty="0">
              <a:latin typeface="Times New Roman"/>
              <a:cs typeface="Times New Roman"/>
            </a:endParaRPr>
          </a:p>
          <a:p>
            <a:pPr marL="0" indent="0">
              <a:buNone/>
            </a:pPr>
            <a:r>
              <a:rPr lang="en-US" sz="2000" b="1" dirty="0">
                <a:latin typeface="Times New Roman" panose="02020603050405020304" pitchFamily="18" charset="0"/>
                <a:cs typeface="Times New Roman" panose="02020603050405020304" pitchFamily="18" charset="0"/>
              </a:rPr>
              <a:t>Testing &amp; Validation</a:t>
            </a:r>
          </a:p>
          <a:p>
            <a:r>
              <a:rPr lang="en-US" sz="2000" dirty="0">
                <a:latin typeface="Times New Roman" panose="02020603050405020304" pitchFamily="18" charset="0"/>
                <a:cs typeface="Times New Roman" panose="02020603050405020304" pitchFamily="18" charset="0"/>
              </a:rPr>
              <a:t>Design test cases for normal, drowsy, abnormal, and emergency conditions.</a:t>
            </a:r>
          </a:p>
          <a:p>
            <a:r>
              <a:rPr lang="en-US" sz="2000" dirty="0">
                <a:latin typeface="Times New Roman" panose="02020603050405020304" pitchFamily="18" charset="0"/>
                <a:cs typeface="Times New Roman" panose="02020603050405020304" pitchFamily="18" charset="0"/>
              </a:rPr>
              <a:t>Validate accuracy of detection &amp; classification.</a:t>
            </a:r>
          </a:p>
          <a:p>
            <a:r>
              <a:rPr lang="en-US" sz="2000" dirty="0">
                <a:latin typeface="Times New Roman" panose="02020603050405020304" pitchFamily="18" charset="0"/>
                <a:cs typeface="Times New Roman" panose="02020603050405020304" pitchFamily="18" charset="0"/>
              </a:rPr>
              <a:t>Perform system integration testing (end-to-end).</a:t>
            </a:r>
          </a:p>
          <a:p>
            <a:pPr marL="0" indent="0" algn="just">
              <a:buFont typeface="Arial" panose="020B0604020202020204" pitchFamily="34" charset="0"/>
              <a:buNone/>
              <a:defRPr/>
            </a:pPr>
            <a:endParaRPr lang="en-US" sz="2000" dirty="0">
              <a:latin typeface="Times New Roman" panose="02020603050405020304" pitchFamily="18" charset="0"/>
              <a:cs typeface="Times New Roman" panose="02020603050405020304" pitchFamily="18" charset="0"/>
            </a:endParaRPr>
          </a:p>
          <a:p>
            <a:pPr marL="0" indent="0" algn="just">
              <a:buNone/>
              <a:defRPr/>
            </a:pPr>
            <a:r>
              <a:rPr lang="en-IN" sz="2000" b="1" dirty="0">
                <a:latin typeface="Times New Roman"/>
                <a:cs typeface="Times New Roman"/>
              </a:rPr>
              <a:t>Group Responsibilities (with All Members)</a:t>
            </a:r>
            <a:endParaRPr lang="en-US" sz="2000" dirty="0">
              <a:latin typeface="Times New Roman"/>
              <a:cs typeface="Times New Roman"/>
            </a:endParaRPr>
          </a:p>
          <a:p>
            <a:pPr algn="just">
              <a:buFont typeface="Arial,Sans-Serif"/>
              <a:defRPr/>
            </a:pPr>
            <a:r>
              <a:rPr lang="en-IN" sz="2000" b="1" dirty="0">
                <a:latin typeface="Times New Roman"/>
                <a:cs typeface="Times New Roman"/>
              </a:rPr>
              <a:t>Documentation</a:t>
            </a:r>
            <a:r>
              <a:rPr lang="en-IN" sz="2000" dirty="0">
                <a:latin typeface="Times New Roman"/>
                <a:cs typeface="Times New Roman"/>
              </a:rPr>
              <a:t> - Project report, user manual, final submission.</a:t>
            </a:r>
          </a:p>
          <a:p>
            <a:pPr algn="just">
              <a:buFont typeface="Arial,Sans-Serif"/>
              <a:defRPr/>
            </a:pPr>
            <a:r>
              <a:rPr lang="en-IN" sz="2000" b="1" dirty="0">
                <a:latin typeface="Times New Roman"/>
                <a:cs typeface="Times New Roman"/>
              </a:rPr>
              <a:t>Presentation &amp; Evaluation</a:t>
            </a:r>
            <a:r>
              <a:rPr lang="en-IN" sz="2000" dirty="0">
                <a:latin typeface="Times New Roman"/>
                <a:cs typeface="Times New Roman"/>
              </a:rPr>
              <a:t> - Slides preparation, final presentation.</a:t>
            </a:r>
          </a:p>
          <a:p>
            <a:pPr algn="just">
              <a:buFont typeface="Arial,Sans-Serif"/>
              <a:defRPr/>
            </a:pPr>
            <a:r>
              <a:rPr lang="en-IN" sz="2000" b="1" dirty="0">
                <a:latin typeface="Times New Roman"/>
                <a:cs typeface="Times New Roman"/>
              </a:rPr>
              <a:t>Project Closure</a:t>
            </a:r>
            <a:r>
              <a:rPr lang="en-IN" sz="2000" dirty="0">
                <a:latin typeface="Times New Roman"/>
                <a:cs typeface="Times New Roman"/>
              </a:rPr>
              <a:t> - Complete integration, share knowledge.</a:t>
            </a:r>
            <a:endParaRPr lang="en-IN" dirty="0">
              <a:latin typeface="Times New Roman"/>
              <a:cs typeface="Times New Roman"/>
            </a:endParaRPr>
          </a:p>
          <a:p>
            <a:pPr marL="0" indent="0" algn="just">
              <a:buFont typeface="Arial" panose="020B0604020202020204" pitchFamily="34" charset="0"/>
              <a:buNone/>
              <a:defRPr/>
            </a:pPr>
            <a:endParaRPr lang="en-IN"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060DD7EB-E6A7-EA30-A770-E52EC220C1E9}"/>
              </a:ext>
            </a:extLst>
          </p:cNvPr>
          <p:cNvSpPr>
            <a:spLocks noGrp="1"/>
          </p:cNvSpPr>
          <p:nvPr>
            <p:ph type="sldNum" sz="quarter" idx="12"/>
          </p:nvPr>
        </p:nvSpPr>
        <p:spPr/>
        <p:txBody>
          <a:bodyPr/>
          <a:lstStyle/>
          <a:p>
            <a:pPr>
              <a:defRPr/>
            </a:pPr>
            <a:fld id="{15E9D1B8-7EF6-4D9C-8694-90B5BDA32D3D}" type="slidenum">
              <a:rPr lang="en-IN" altLang="en-US" smtClean="0"/>
              <a:pPr>
                <a:defRPr/>
              </a:pPr>
              <a:t>24</a:t>
            </a:fld>
            <a:endParaRPr lang="en-I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2C8B2CCD-DC2D-7CE9-A7A0-F120B84D4855}"/>
              </a:ext>
            </a:extLst>
          </p:cNvPr>
          <p:cNvSpPr>
            <a:spLocks noGrp="1"/>
          </p:cNvSpPr>
          <p:nvPr>
            <p:ph type="title"/>
          </p:nvPr>
        </p:nvSpPr>
        <p:spPr>
          <a:xfrm>
            <a:off x="457200" y="646113"/>
            <a:ext cx="8229600" cy="706437"/>
          </a:xfrm>
        </p:spPr>
        <p:txBody>
          <a:bodyPr/>
          <a:lstStyle/>
          <a:p>
            <a:r>
              <a:rPr lang="en-IN" altLang="en-US" sz="2800" b="1">
                <a:solidFill>
                  <a:srgbClr val="0070C0"/>
                </a:solidFill>
                <a:latin typeface="Times New Roman" panose="02020603050405020304" pitchFamily="18" charset="0"/>
                <a:cs typeface="Times New Roman" panose="02020603050405020304" pitchFamily="18" charset="0"/>
              </a:rPr>
              <a:t>Timeline &amp; Milestones (Gantt Chart)</a:t>
            </a:r>
          </a:p>
        </p:txBody>
      </p:sp>
      <p:sp>
        <p:nvSpPr>
          <p:cNvPr id="40963" name="Slide Number Placeholder 3">
            <a:extLst>
              <a:ext uri="{FF2B5EF4-FFF2-40B4-BE49-F238E27FC236}">
                <a16:creationId xmlns:a16="http://schemas.microsoft.com/office/drawing/2014/main" id="{AFDAAAF7-7CDF-9ECA-0326-5FFF760020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9B8945C-96B7-4989-8D46-FA6654220CE0}" type="slidenum">
              <a:rPr lang="en-IN" altLang="en-US" sz="1200" smtClean="0">
                <a:solidFill>
                  <a:srgbClr val="898989"/>
                </a:solidFill>
              </a:rPr>
              <a:pPr>
                <a:spcBef>
                  <a:spcPct val="0"/>
                </a:spcBef>
                <a:buFontTx/>
                <a:buNone/>
              </a:pPr>
              <a:t>25</a:t>
            </a:fld>
            <a:endParaRPr lang="en-IN" altLang="en-US" sz="1200">
              <a:solidFill>
                <a:srgbClr val="898989"/>
              </a:solidFill>
            </a:endParaRPr>
          </a:p>
        </p:txBody>
      </p:sp>
      <p:pic>
        <p:nvPicPr>
          <p:cNvPr id="3" name="Picture 2">
            <a:extLst>
              <a:ext uri="{FF2B5EF4-FFF2-40B4-BE49-F238E27FC236}">
                <a16:creationId xmlns:a16="http://schemas.microsoft.com/office/drawing/2014/main" id="{31A0250A-60AB-E313-6736-89ABE33A43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016" y="1560576"/>
            <a:ext cx="8887968" cy="37368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D:\GITAM-GST-CSE\2024-25\Capstone-Project\GITAM-newlogo.jpeg">
            <a:extLst>
              <a:ext uri="{FF2B5EF4-FFF2-40B4-BE49-F238E27FC236}">
                <a16:creationId xmlns:a16="http://schemas.microsoft.com/office/drawing/2014/main" id="{DBEAB119-5A5D-6A23-03B3-98C8E5D47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itle 1">
            <a:extLst>
              <a:ext uri="{FF2B5EF4-FFF2-40B4-BE49-F238E27FC236}">
                <a16:creationId xmlns:a16="http://schemas.microsoft.com/office/drawing/2014/main" id="{14A5BB35-E78F-9E9B-5332-F3BE57DE6486}"/>
              </a:ext>
            </a:extLst>
          </p:cNvPr>
          <p:cNvSpPr>
            <a:spLocks noGrp="1"/>
          </p:cNvSpPr>
          <p:nvPr>
            <p:ph type="title"/>
          </p:nvPr>
        </p:nvSpPr>
        <p:spPr>
          <a:xfrm>
            <a:off x="457200" y="441325"/>
            <a:ext cx="8229600" cy="1143000"/>
          </a:xfrm>
        </p:spPr>
        <p:txBody>
          <a:bodyPr/>
          <a:lstStyle/>
          <a:p>
            <a:r>
              <a:rPr lang="en-US" altLang="en-US" sz="2800" b="1">
                <a:solidFill>
                  <a:srgbClr val="0070C0"/>
                </a:solidFill>
                <a:latin typeface="Times New Roman" panose="02020603050405020304" pitchFamily="18" charset="0"/>
                <a:cs typeface="Times New Roman" panose="02020603050405020304" pitchFamily="18" charset="0"/>
              </a:rPr>
              <a:t>Conclusion</a:t>
            </a:r>
            <a:endParaRPr lang="en-IN" altLang="en-US" sz="2800" b="1">
              <a:solidFill>
                <a:srgbClr val="0070C0"/>
              </a:solidFill>
              <a:latin typeface="Times New Roman" panose="02020603050405020304" pitchFamily="18" charset="0"/>
              <a:cs typeface="Times New Roman" panose="02020603050405020304" pitchFamily="18" charset="0"/>
            </a:endParaRPr>
          </a:p>
        </p:txBody>
      </p:sp>
      <p:sp>
        <p:nvSpPr>
          <p:cNvPr id="43012" name="TextBox 2">
            <a:extLst>
              <a:ext uri="{FF2B5EF4-FFF2-40B4-BE49-F238E27FC236}">
                <a16:creationId xmlns:a16="http://schemas.microsoft.com/office/drawing/2014/main" id="{2AA1936F-0CCA-5A50-CC0D-36D5CD39D70A}"/>
              </a:ext>
            </a:extLst>
          </p:cNvPr>
          <p:cNvSpPr txBox="1">
            <a:spLocks noChangeArrowheads="1"/>
          </p:cNvSpPr>
          <p:nvPr/>
        </p:nvSpPr>
        <p:spPr bwMode="auto">
          <a:xfrm>
            <a:off x="457200" y="1525946"/>
            <a:ext cx="8077200" cy="170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9pPr>
          </a:lstStyle>
          <a:p>
            <a:pPr algn="just">
              <a:lnSpc>
                <a:spcPct val="150000"/>
              </a:lnSpc>
              <a:spcBef>
                <a:spcPts val="800"/>
              </a:spcBef>
              <a:buFontTx/>
              <a:buNone/>
            </a:pPr>
            <a:r>
              <a:rPr lang="en-US" altLang="en-US" sz="1800" dirty="0">
                <a:solidFill>
                  <a:srgbClr val="000000"/>
                </a:solidFill>
                <a:latin typeface="Times New Roman" panose="02020603050405020304" pitchFamily="18" charset="0"/>
                <a:ea typeface="Arial Unicode MS"/>
                <a:cs typeface="Arial Unicode MS"/>
              </a:rPr>
              <a:t>We have identified the problem statement for our research work. The literature survey and comparison study were completed. The list of modules/work breakdown is shared with our team members. Currently, we are implementing the deep learning models in the Jetson board (HPC). </a:t>
            </a:r>
            <a:endParaRPr lang="en-IN" altLang="en-US" sz="1800" dirty="0">
              <a:solidFill>
                <a:srgbClr val="000000"/>
              </a:solidFill>
              <a:latin typeface="Helvetica Neue"/>
              <a:ea typeface="Arial Unicode MS"/>
              <a:cs typeface="Arial Unicode MS"/>
            </a:endParaRPr>
          </a:p>
        </p:txBody>
      </p:sp>
      <p:sp>
        <p:nvSpPr>
          <p:cNvPr id="2" name="Slide Number Placeholder 1">
            <a:extLst>
              <a:ext uri="{FF2B5EF4-FFF2-40B4-BE49-F238E27FC236}">
                <a16:creationId xmlns:a16="http://schemas.microsoft.com/office/drawing/2014/main" id="{0D3C0B7D-CD2D-6F63-6EBD-0894816046C1}"/>
              </a:ext>
            </a:extLst>
          </p:cNvPr>
          <p:cNvSpPr>
            <a:spLocks noGrp="1"/>
          </p:cNvSpPr>
          <p:nvPr>
            <p:ph type="sldNum" sz="quarter" idx="12"/>
          </p:nvPr>
        </p:nvSpPr>
        <p:spPr/>
        <p:txBody>
          <a:bodyPr/>
          <a:lstStyle/>
          <a:p>
            <a:pPr>
              <a:defRPr/>
            </a:pPr>
            <a:fld id="{15E9D1B8-7EF6-4D9C-8694-90B5BDA32D3D}" type="slidenum">
              <a:rPr lang="en-IN" altLang="en-US" smtClean="0"/>
              <a:pPr>
                <a:defRPr/>
              </a:pPr>
              <a:t>26</a:t>
            </a:fld>
            <a:endParaRPr lang="en-I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D:\GITAM-GST-CSE\2024-25\Capstone-Project\GITAM-newlogo.jpeg">
            <a:extLst>
              <a:ext uri="{FF2B5EF4-FFF2-40B4-BE49-F238E27FC236}">
                <a16:creationId xmlns:a16="http://schemas.microsoft.com/office/drawing/2014/main" id="{52D78E93-81BC-8859-7156-D0709E40D5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87313"/>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3">
            <a:extLst>
              <a:ext uri="{FF2B5EF4-FFF2-40B4-BE49-F238E27FC236}">
                <a16:creationId xmlns:a16="http://schemas.microsoft.com/office/drawing/2014/main" id="{00F19A5F-0D6A-56C1-FD1E-E11B1579FD20}"/>
              </a:ext>
            </a:extLst>
          </p:cNvPr>
          <p:cNvSpPr>
            <a:spLocks noChangeArrowheads="1"/>
          </p:cNvSpPr>
          <p:nvPr/>
        </p:nvSpPr>
        <p:spPr bwMode="auto">
          <a:xfrm>
            <a:off x="3647281" y="393700"/>
            <a:ext cx="1849438"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2800" b="1" dirty="0">
                <a:solidFill>
                  <a:srgbClr val="0070C0"/>
                </a:solidFill>
                <a:latin typeface="Times New Roman" panose="02020603050405020304" pitchFamily="18" charset="0"/>
                <a:ea typeface="+mj-ea"/>
                <a:cs typeface="Times New Roman" panose="02020603050405020304" pitchFamily="18" charset="0"/>
              </a:rPr>
              <a:t>References</a:t>
            </a:r>
            <a:endParaRPr lang="en-IN" altLang="en-US" sz="2800" b="1" dirty="0">
              <a:solidFill>
                <a:srgbClr val="0070C0"/>
              </a:solidFill>
              <a:latin typeface="Times New Roman" panose="02020603050405020304" pitchFamily="18" charset="0"/>
              <a:ea typeface="+mj-ea"/>
              <a:cs typeface="Times New Roman" panose="02020603050405020304" pitchFamily="18" charset="0"/>
            </a:endParaRPr>
          </a:p>
        </p:txBody>
      </p:sp>
      <p:sp>
        <p:nvSpPr>
          <p:cNvPr id="45060" name="TextBox 2">
            <a:extLst>
              <a:ext uri="{FF2B5EF4-FFF2-40B4-BE49-F238E27FC236}">
                <a16:creationId xmlns:a16="http://schemas.microsoft.com/office/drawing/2014/main" id="{31B6032E-60AA-DC64-2C68-7FDF1143CA14}"/>
              </a:ext>
            </a:extLst>
          </p:cNvPr>
          <p:cNvSpPr txBox="1">
            <a:spLocks noChangeArrowheads="1"/>
          </p:cNvSpPr>
          <p:nvPr/>
        </p:nvSpPr>
        <p:spPr bwMode="auto">
          <a:xfrm>
            <a:off x="661284" y="1323122"/>
            <a:ext cx="782143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algn="just">
              <a:spcBef>
                <a:spcPct val="0"/>
              </a:spcBef>
              <a:buNone/>
            </a:pPr>
            <a:r>
              <a:rPr lang="en-IN" altLang="en-US" sz="1800" dirty="0">
                <a:latin typeface="Times New Roman" panose="02020603050405020304" pitchFamily="18" charset="0"/>
                <a:cs typeface="Times New Roman" panose="02020603050405020304" pitchFamily="18" charset="0"/>
              </a:rPr>
              <a:t>[1]</a:t>
            </a:r>
            <a:r>
              <a:rPr lang="en-US" altLang="en-US" sz="1800" dirty="0" err="1">
                <a:latin typeface="Times New Roman" panose="02020603050405020304" pitchFamily="18" charset="0"/>
                <a:cs typeface="Times New Roman" panose="02020603050405020304" pitchFamily="18" charset="0"/>
              </a:rPr>
              <a:t>Tsiktsiris</a:t>
            </a:r>
            <a:r>
              <a:rPr lang="en-US" altLang="en-US" sz="1800" dirty="0">
                <a:latin typeface="Times New Roman" panose="02020603050405020304" pitchFamily="18" charset="0"/>
                <a:cs typeface="Times New Roman" panose="02020603050405020304" pitchFamily="18" charset="0"/>
              </a:rPr>
              <a:t>, Dimitris; Lalas, Antonios; </a:t>
            </a:r>
            <a:r>
              <a:rPr lang="en-US" altLang="en-US" sz="1800" dirty="0" err="1">
                <a:latin typeface="Times New Roman" panose="02020603050405020304" pitchFamily="18" charset="0"/>
                <a:cs typeface="Times New Roman" panose="02020603050405020304" pitchFamily="18" charset="0"/>
              </a:rPr>
              <a:t>Dasygenis</a:t>
            </a:r>
            <a:r>
              <a:rPr lang="en-US" altLang="en-US" sz="1800" dirty="0">
                <a:latin typeface="Times New Roman" panose="02020603050405020304" pitchFamily="18" charset="0"/>
                <a:cs typeface="Times New Roman" panose="02020603050405020304" pitchFamily="18" charset="0"/>
              </a:rPr>
              <a:t>, Minas; </a:t>
            </a:r>
            <a:r>
              <a:rPr lang="en-US" altLang="en-US" sz="1800" dirty="0" err="1">
                <a:latin typeface="Times New Roman" panose="02020603050405020304" pitchFamily="18" charset="0"/>
                <a:cs typeface="Times New Roman" panose="02020603050405020304" pitchFamily="18" charset="0"/>
              </a:rPr>
              <a:t>Votis</a:t>
            </a:r>
            <a:r>
              <a:rPr lang="en-US" altLang="en-US" sz="1800" dirty="0">
                <a:latin typeface="Times New Roman" panose="02020603050405020304" pitchFamily="18" charset="0"/>
                <a:cs typeface="Times New Roman" panose="02020603050405020304" pitchFamily="18" charset="0"/>
              </a:rPr>
              <a:t>, Konstantinos.</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A complete in‐cabin monitoring framework for autonomous vehicles in public transportation, IET Intelligent Transport Systems, Vol. 19, Issue 1, 2025.</a:t>
            </a:r>
            <a:br>
              <a:rPr lang="en-US" altLang="en-US" sz="1800" dirty="0">
                <a:latin typeface="Times New Roman" panose="02020603050405020304" pitchFamily="18" charset="0"/>
                <a:cs typeface="Times New Roman" panose="02020603050405020304" pitchFamily="18" charset="0"/>
              </a:rPr>
            </a:br>
            <a:endParaRPr lang="en-IN" altLang="en-US" sz="1800" dirty="0">
              <a:latin typeface="Times New Roman" panose="02020603050405020304" pitchFamily="18" charset="0"/>
              <a:cs typeface="Times New Roman" panose="02020603050405020304" pitchFamily="18" charset="0"/>
            </a:endParaRPr>
          </a:p>
          <a:p>
            <a:pPr lvl="0" algn="just">
              <a:spcBef>
                <a:spcPct val="0"/>
              </a:spcBef>
              <a:buNone/>
            </a:pPr>
            <a:r>
              <a:rPr lang="en-IN" altLang="en-US" sz="1800" dirty="0">
                <a:latin typeface="Times New Roman" panose="02020603050405020304" pitchFamily="18" charset="0"/>
                <a:cs typeface="Times New Roman" panose="02020603050405020304" pitchFamily="18" charset="0"/>
              </a:rPr>
              <a:t>[2]</a:t>
            </a:r>
            <a:r>
              <a:rPr lang="en-US" altLang="en-US" sz="1800" dirty="0">
                <a:latin typeface="Times New Roman" panose="02020603050405020304" pitchFamily="18" charset="0"/>
                <a:cs typeface="Times New Roman" panose="02020603050405020304" pitchFamily="18" charset="0"/>
              </a:rPr>
              <a:t>Othman, Walaa; </a:t>
            </a:r>
            <a:r>
              <a:rPr lang="en-US" altLang="en-US" sz="1800" dirty="0" err="1">
                <a:latin typeface="Times New Roman" panose="02020603050405020304" pitchFamily="18" charset="0"/>
                <a:cs typeface="Times New Roman" panose="02020603050405020304" pitchFamily="18" charset="0"/>
              </a:rPr>
              <a:t>Kashevnik</a:t>
            </a:r>
            <a:r>
              <a:rPr lang="en-US" altLang="en-US" sz="1800" dirty="0">
                <a:latin typeface="Times New Roman" panose="02020603050405020304" pitchFamily="18" charset="0"/>
                <a:cs typeface="Times New Roman" panose="02020603050405020304" pitchFamily="18" charset="0"/>
              </a:rPr>
              <a:t>, Alexey; Ali, Ammar; Shilov, Nikolay.</a:t>
            </a:r>
            <a:br>
              <a:rPr lang="en-US" altLang="en-US" sz="1800" dirty="0">
                <a:latin typeface="Times New Roman" panose="02020603050405020304" pitchFamily="18" charset="0"/>
                <a:cs typeface="Times New Roman" panose="02020603050405020304" pitchFamily="18" charset="0"/>
              </a:rPr>
            </a:br>
            <a:r>
              <a:rPr lang="en-US" altLang="en-US" sz="1800" dirty="0" err="1">
                <a:latin typeface="Times New Roman" panose="02020603050405020304" pitchFamily="18" charset="0"/>
                <a:ea typeface="Tahoma" panose="020B0604030504040204" pitchFamily="34" charset="0"/>
                <a:cs typeface="Times New Roman" panose="02020603050405020304" pitchFamily="18" charset="0"/>
              </a:rPr>
              <a:t>DriverMVT</a:t>
            </a:r>
            <a:r>
              <a:rPr lang="en-US" altLang="en-US" sz="1800" dirty="0">
                <a:latin typeface="Times New Roman" panose="02020603050405020304" pitchFamily="18" charset="0"/>
                <a:ea typeface="Tahoma" panose="020B0604030504040204" pitchFamily="34" charset="0"/>
                <a:cs typeface="Times New Roman" panose="02020603050405020304" pitchFamily="18" charset="0"/>
              </a:rPr>
              <a:t>: In-Cabin Dataset for Driver Monitoring Including Video and Vehicle Telemetry Information, </a:t>
            </a:r>
            <a:r>
              <a:rPr lang="en-US" altLang="en-US" sz="1800" dirty="0">
                <a:latin typeface="Times New Roman" panose="02020603050405020304" pitchFamily="18" charset="0"/>
                <a:cs typeface="Times New Roman" panose="02020603050405020304" pitchFamily="18" charset="0"/>
              </a:rPr>
              <a:t>Data, Vol. 7, No. 5, 2022.</a:t>
            </a:r>
            <a:br>
              <a:rPr lang="en-US" altLang="en-US" sz="1800" dirty="0">
                <a:latin typeface="Times New Roman" panose="02020603050405020304" pitchFamily="18" charset="0"/>
                <a:cs typeface="Times New Roman" panose="02020603050405020304" pitchFamily="18" charset="0"/>
              </a:rPr>
            </a:br>
            <a:endParaRPr lang="en-IN" altLang="en-US" sz="1800" dirty="0">
              <a:latin typeface="Times New Roman" panose="02020603050405020304" pitchFamily="18" charset="0"/>
              <a:cs typeface="Times New Roman" panose="02020603050405020304" pitchFamily="18" charset="0"/>
            </a:endParaRPr>
          </a:p>
          <a:p>
            <a:pPr algn="just">
              <a:spcBef>
                <a:spcPct val="0"/>
              </a:spcBef>
              <a:buFontTx/>
              <a:buNone/>
            </a:pPr>
            <a:r>
              <a:rPr lang="en-IN" altLang="en-US" sz="1800" dirty="0">
                <a:latin typeface="Times New Roman" panose="02020603050405020304" pitchFamily="18" charset="0"/>
                <a:cs typeface="Times New Roman" panose="02020603050405020304" pitchFamily="18" charset="0"/>
              </a:rPr>
              <a:t>[3]</a:t>
            </a:r>
            <a:r>
              <a:rPr lang="en-IN" sz="1800" dirty="0">
                <a:latin typeface="Times New Roman" panose="02020603050405020304" pitchFamily="18" charset="0"/>
                <a:cs typeface="Times New Roman" panose="02020603050405020304" pitchFamily="18" charset="0"/>
              </a:rPr>
              <a:t>Abedi, H.; Ma, M.; He, J.; Yu, J.; </a:t>
            </a:r>
            <a:r>
              <a:rPr lang="en-IN" sz="1800" dirty="0" err="1">
                <a:latin typeface="Times New Roman" panose="02020603050405020304" pitchFamily="18" charset="0"/>
                <a:cs typeface="Times New Roman" panose="02020603050405020304" pitchFamily="18" charset="0"/>
              </a:rPr>
              <a:t>Ansariyan</a:t>
            </a:r>
            <a:r>
              <a:rPr lang="en-IN" sz="1800" dirty="0">
                <a:latin typeface="Times New Roman" panose="02020603050405020304" pitchFamily="18" charset="0"/>
                <a:cs typeface="Times New Roman" panose="02020603050405020304" pitchFamily="18" charset="0"/>
              </a:rPr>
              <a:t>, A.; Shaker, G. Deep Learning-Based In-Cabin Monitoring and Vehicle Safety System Using a 4-D Imaging Radar Sensor. IEEE Sensors Journal, Vol. 23, No. 11, pp. 11296–11309, June 2023. </a:t>
            </a:r>
          </a:p>
          <a:p>
            <a:pPr algn="just">
              <a:spcBef>
                <a:spcPct val="0"/>
              </a:spcBef>
              <a:buFontTx/>
              <a:buNone/>
            </a:pPr>
            <a:endParaRPr lang="en-IN" sz="1800" dirty="0">
              <a:latin typeface="Times New Roman" panose="02020603050405020304" pitchFamily="18" charset="0"/>
              <a:cs typeface="Times New Roman" panose="02020603050405020304" pitchFamily="18" charset="0"/>
            </a:endParaRPr>
          </a:p>
          <a:p>
            <a:pPr algn="just">
              <a:spcBef>
                <a:spcPct val="0"/>
              </a:spcBef>
              <a:buNone/>
            </a:pPr>
            <a:r>
              <a:rPr lang="en-IN" altLang="en-US" sz="1800" dirty="0">
                <a:latin typeface="Times New Roman" panose="02020603050405020304" pitchFamily="18" charset="0"/>
                <a:cs typeface="Times New Roman" panose="02020603050405020304" pitchFamily="18" charset="0"/>
              </a:rPr>
              <a:t>[4]</a:t>
            </a:r>
            <a:r>
              <a:rPr lang="en-IN" sz="1800" dirty="0">
                <a:latin typeface="Times New Roman" panose="02020603050405020304" pitchFamily="18" charset="0"/>
                <a:cs typeface="Times New Roman" panose="02020603050405020304" pitchFamily="18" charset="0"/>
              </a:rPr>
              <a:t>Global Market Insights. Passenger Vehicle Cabin Monitoring System Market Report, 2025–2034. GMI14285, Automotive Technology – ADAS. June 2025. </a:t>
            </a:r>
            <a:endParaRPr lang="en-IN" altLang="en-US" sz="18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3EE37F0-8E6D-DDFE-B4B7-454A06381D9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F183-3A72-6ED6-2AFE-D706BCED20C9}"/>
            </a:ext>
          </a:extLst>
        </p:cNvPr>
        <p:cNvGrpSpPr/>
        <p:nvPr/>
      </p:nvGrpSpPr>
      <p:grpSpPr>
        <a:xfrm>
          <a:off x="0" y="0"/>
          <a:ext cx="0" cy="0"/>
          <a:chOff x="0" y="0"/>
          <a:chExt cx="0" cy="0"/>
        </a:xfrm>
      </p:grpSpPr>
      <p:pic>
        <p:nvPicPr>
          <p:cNvPr id="45058" name="Picture 2" descr="D:\GITAM-GST-CSE\2024-25\Capstone-Project\GITAM-newlogo.jpeg">
            <a:extLst>
              <a:ext uri="{FF2B5EF4-FFF2-40B4-BE49-F238E27FC236}">
                <a16:creationId xmlns:a16="http://schemas.microsoft.com/office/drawing/2014/main" id="{C0690449-2892-89C3-EF0B-D01460922D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87313"/>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3">
            <a:extLst>
              <a:ext uri="{FF2B5EF4-FFF2-40B4-BE49-F238E27FC236}">
                <a16:creationId xmlns:a16="http://schemas.microsoft.com/office/drawing/2014/main" id="{BB4068DC-FC2B-173C-1F1D-9B0EC4276AD1}"/>
              </a:ext>
            </a:extLst>
          </p:cNvPr>
          <p:cNvSpPr>
            <a:spLocks noChangeArrowheads="1"/>
          </p:cNvSpPr>
          <p:nvPr/>
        </p:nvSpPr>
        <p:spPr bwMode="auto">
          <a:xfrm>
            <a:off x="3711575" y="447554"/>
            <a:ext cx="1849438"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2800" b="1" dirty="0">
                <a:solidFill>
                  <a:srgbClr val="0070C0"/>
                </a:solidFill>
                <a:latin typeface="Times New Roman" panose="02020603050405020304" pitchFamily="18" charset="0"/>
                <a:ea typeface="+mj-ea"/>
                <a:cs typeface="Times New Roman" panose="02020603050405020304" pitchFamily="18" charset="0"/>
              </a:rPr>
              <a:t>References</a:t>
            </a:r>
            <a:endParaRPr lang="en-IN" altLang="en-US" sz="2800" b="1" dirty="0">
              <a:solidFill>
                <a:srgbClr val="0070C0"/>
              </a:solidFill>
              <a:latin typeface="Times New Roman" panose="02020603050405020304" pitchFamily="18" charset="0"/>
              <a:ea typeface="+mj-ea"/>
              <a:cs typeface="Times New Roman" panose="02020603050405020304" pitchFamily="18" charset="0"/>
            </a:endParaRPr>
          </a:p>
        </p:txBody>
      </p:sp>
      <p:sp>
        <p:nvSpPr>
          <p:cNvPr id="45060" name="TextBox 2">
            <a:extLst>
              <a:ext uri="{FF2B5EF4-FFF2-40B4-BE49-F238E27FC236}">
                <a16:creationId xmlns:a16="http://schemas.microsoft.com/office/drawing/2014/main" id="{A4C9E719-FC85-139C-B214-6759525B4344}"/>
              </a:ext>
            </a:extLst>
          </p:cNvPr>
          <p:cNvSpPr txBox="1">
            <a:spLocks noChangeArrowheads="1"/>
          </p:cNvSpPr>
          <p:nvPr/>
        </p:nvSpPr>
        <p:spPr bwMode="auto">
          <a:xfrm>
            <a:off x="566430" y="1208822"/>
            <a:ext cx="796210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IN" altLang="en-US" sz="1800" dirty="0">
                <a:latin typeface="Times New Roman" panose="02020603050405020304" pitchFamily="18" charset="0"/>
                <a:cs typeface="Times New Roman" panose="02020603050405020304" pitchFamily="18" charset="0"/>
              </a:rPr>
              <a:t>[5]</a:t>
            </a:r>
            <a:r>
              <a:rPr lang="en-IN" sz="1800" dirty="0">
                <a:latin typeface="Times New Roman" panose="02020603050405020304" pitchFamily="18" charset="0"/>
                <a:cs typeface="Times New Roman" panose="02020603050405020304" pitchFamily="18" charset="0"/>
              </a:rPr>
              <a:t>Mishra, A.; Lee, S.; Kim, D.; Kim, S. In-Cabin Monitoring System for Autonomous Vehicles. Sensors, Vol. 22, No. 12, Article 4360, 2022.</a:t>
            </a:r>
          </a:p>
          <a:p>
            <a:pPr algn="just">
              <a:spcBef>
                <a:spcPct val="0"/>
              </a:spcBef>
              <a:buFontTx/>
              <a:buNone/>
            </a:pPr>
            <a:endParaRPr lang="en-IN" altLang="en-US" sz="1800" dirty="0">
              <a:latin typeface="Times New Roman" panose="02020603050405020304" pitchFamily="18" charset="0"/>
              <a:cs typeface="Times New Roman" panose="02020603050405020304" pitchFamily="18" charset="0"/>
            </a:endParaRPr>
          </a:p>
          <a:p>
            <a:pPr algn="just">
              <a:spcBef>
                <a:spcPct val="0"/>
              </a:spcBef>
              <a:buFontTx/>
              <a:buNone/>
            </a:pPr>
            <a:r>
              <a:rPr lang="en-IN" altLang="en-US" sz="1800" dirty="0">
                <a:latin typeface="Times New Roman" panose="02020603050405020304" pitchFamily="18" charset="0"/>
                <a:cs typeface="Times New Roman" panose="02020603050405020304" pitchFamily="18" charset="0"/>
              </a:rPr>
              <a:t>[6]</a:t>
            </a:r>
            <a:r>
              <a:rPr lang="en-IN" sz="1800" dirty="0">
                <a:latin typeface="Times New Roman" panose="02020603050405020304" pitchFamily="18" charset="0"/>
                <a:cs typeface="Times New Roman" panose="02020603050405020304" pitchFamily="18" charset="0"/>
              </a:rPr>
              <a:t>Jacopo Sini, Luigi Pugliese, Sara </a:t>
            </a:r>
            <a:r>
              <a:rPr lang="en-IN" sz="1800" dirty="0" err="1">
                <a:latin typeface="Times New Roman" panose="02020603050405020304" pitchFamily="18" charset="0"/>
                <a:cs typeface="Times New Roman" panose="02020603050405020304" pitchFamily="18" charset="0"/>
              </a:rPr>
              <a:t>Groppo</a:t>
            </a:r>
            <a:r>
              <a:rPr lang="en-IN" sz="1800" dirty="0">
                <a:latin typeface="Times New Roman" panose="02020603050405020304" pitchFamily="18" charset="0"/>
                <a:cs typeface="Times New Roman" panose="02020603050405020304" pitchFamily="18" charset="0"/>
              </a:rPr>
              <a:t>, Michele </a:t>
            </a:r>
            <a:r>
              <a:rPr lang="en-IN" sz="1800" dirty="0" err="1">
                <a:latin typeface="Times New Roman" panose="02020603050405020304" pitchFamily="18" charset="0"/>
                <a:cs typeface="Times New Roman" panose="02020603050405020304" pitchFamily="18" charset="0"/>
              </a:rPr>
              <a:t>Guagnano</a:t>
            </a:r>
            <a:r>
              <a:rPr lang="en-IN" sz="1800" dirty="0">
                <a:latin typeface="Times New Roman" panose="02020603050405020304" pitchFamily="18" charset="0"/>
                <a:cs typeface="Times New Roman" panose="02020603050405020304" pitchFamily="18" charset="0"/>
              </a:rPr>
              <a:t>, Massimo Violante, Towards In-Cabin Monitoring: A Preliminary Study on Sensors Data Collection and Analysis, </a:t>
            </a:r>
            <a:r>
              <a:rPr lang="en-IN" sz="1800" dirty="0" err="1">
                <a:latin typeface="Times New Roman" panose="02020603050405020304" pitchFamily="18" charset="0"/>
                <a:cs typeface="Times New Roman" panose="02020603050405020304" pitchFamily="18" charset="0"/>
              </a:rPr>
              <a:t>arXiv</a:t>
            </a:r>
            <a:r>
              <a:rPr lang="en-IN" sz="1800" dirty="0">
                <a:latin typeface="Times New Roman" panose="02020603050405020304" pitchFamily="18" charset="0"/>
                <a:cs typeface="Times New Roman" panose="02020603050405020304" pitchFamily="18" charset="0"/>
              </a:rPr>
              <a:t> preprint arXiv:2309.11890v1, 2023. </a:t>
            </a:r>
          </a:p>
          <a:p>
            <a:pPr algn="just">
              <a:spcBef>
                <a:spcPct val="0"/>
              </a:spcBef>
              <a:buFontTx/>
              <a:buNone/>
            </a:pPr>
            <a:endParaRPr lang="en-IN" sz="1800" dirty="0">
              <a:latin typeface="Times New Roman" panose="02020603050405020304" pitchFamily="18" charset="0"/>
              <a:cs typeface="Times New Roman" panose="02020603050405020304" pitchFamily="18" charset="0"/>
            </a:endParaRPr>
          </a:p>
          <a:p>
            <a:pPr algn="just">
              <a:spcBef>
                <a:spcPct val="0"/>
              </a:spcBef>
              <a:buFontTx/>
              <a:buNone/>
            </a:pPr>
            <a:r>
              <a:rPr lang="en-IN" altLang="en-US"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Eva Sharma, CES 2025 stories: In-cabin monitoring technology innovations, M14 Intelligence, Autonomous Mobility section, Jan 16, 2025. </a:t>
            </a:r>
            <a:endParaRPr lang="en-IN" altLang="en-US" sz="18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DE66C70-17C6-4A0B-074C-C140C275B13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5312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Executive</Template>
  <TotalTime>471</TotalTime>
  <Words>2761</Words>
  <Application>Microsoft Office PowerPoint</Application>
  <PresentationFormat>On-screen Show (4:3)</PresentationFormat>
  <Paragraphs>333</Paragraphs>
  <Slides>28</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Arial</vt:lpstr>
      <vt:lpstr>Arial,Sans-Serif</vt:lpstr>
      <vt:lpstr>Calibri</vt:lpstr>
      <vt:lpstr>Helvetica Neue</vt:lpstr>
      <vt:lpstr>Times New Roman</vt:lpstr>
      <vt:lpstr>Wingdings</vt:lpstr>
      <vt:lpstr>Office Theme</vt:lpstr>
      <vt:lpstr>1_Office Theme</vt:lpstr>
      <vt:lpstr>Capstone Project – I:  Review – 1 on In-Cabin Health Monitoring System for  Passengers Safety in Semi-Autonomous Vehicles </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Statement</vt:lpstr>
      <vt:lpstr>Objective</vt:lpstr>
      <vt:lpstr>Work Breakdown &amp; Task Allocation</vt:lpstr>
      <vt:lpstr>Work Breakdown &amp; Task Allocation</vt:lpstr>
      <vt:lpstr>Work Breakdown &amp; Task Allocation</vt:lpstr>
      <vt:lpstr>Work Breakdown &amp; Task Allocation</vt:lpstr>
      <vt:lpstr>Work Breakdown &amp; Task Allocation</vt:lpstr>
      <vt:lpstr>Timeline &amp; Milestones (Gantt Chart)</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ROHITH G</cp:lastModifiedBy>
  <cp:revision>37</cp:revision>
  <dcterms:created xsi:type="dcterms:W3CDTF">2024-09-06T03:49:57Z</dcterms:created>
  <dcterms:modified xsi:type="dcterms:W3CDTF">2025-09-29T09:56:04Z</dcterms:modified>
</cp:coreProperties>
</file>